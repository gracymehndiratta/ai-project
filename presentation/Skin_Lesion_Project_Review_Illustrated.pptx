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92c37ce94164d74" /><Relationship Type="http://schemas.openxmlformats.org/officeDocument/2006/relationships/extended-properties" Target="/docProps/app.xml" Id="Rf154cf5a847241c2" /><Relationship Type="http://schemas.openxmlformats.org/officeDocument/2006/relationships/officeDocument" Target="/ppt/presentation.xml" Id="Rabfae3d9951d42f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9062451ebb945c5"/>
  </p:sldMasterIdLst>
  <p:notesMasterIdLst>
    <p:notesMasterId xmlns:r="http://schemas.openxmlformats.org/officeDocument/2006/relationships" r:id="Rfdaabeb39f06437d"/>
  </p:notesMasterIdLst>
  <p:sldIdLst>
    <p:sldId xmlns:r="http://schemas.openxmlformats.org/officeDocument/2006/relationships" id="256" r:id="R6eb1642fcb3248f2"/>
    <p:sldId xmlns:r="http://schemas.openxmlformats.org/officeDocument/2006/relationships" id="257" r:id="Re1b781aba3064a2d"/>
    <p:sldId xmlns:r="http://schemas.openxmlformats.org/officeDocument/2006/relationships" id="258" r:id="Rbec7215000aa4511"/>
    <p:sldId xmlns:r="http://schemas.openxmlformats.org/officeDocument/2006/relationships" id="259" r:id="R860fe18fc220489f"/>
    <p:sldId xmlns:r="http://schemas.openxmlformats.org/officeDocument/2006/relationships" id="260" r:id="R0aa9ba1a5b3343bf"/>
    <p:sldId xmlns:r="http://schemas.openxmlformats.org/officeDocument/2006/relationships" id="261" r:id="R85d67942e9d344eb"/>
    <p:sldId xmlns:r="http://schemas.openxmlformats.org/officeDocument/2006/relationships" id="262" r:id="Re3a66c93eaa5401f"/>
    <p:sldId xmlns:r="http://schemas.openxmlformats.org/officeDocument/2006/relationships" id="263" r:id="R7faa7a7c7acc4faf"/>
    <p:sldId xmlns:r="http://schemas.openxmlformats.org/officeDocument/2006/relationships" id="264" r:id="R9e71681d605a41e4"/>
    <p:sldId xmlns:r="http://schemas.openxmlformats.org/officeDocument/2006/relationships" id="265" r:id="Rf9539395185740ec"/>
    <p:sldId xmlns:r="http://schemas.openxmlformats.org/officeDocument/2006/relationships" id="266" r:id="R7912353d70244617"/>
    <p:sldId xmlns:r="http://schemas.openxmlformats.org/officeDocument/2006/relationships" id="267" r:id="R951480da72e34840"/>
    <p:sldId xmlns:r="http://schemas.openxmlformats.org/officeDocument/2006/relationships" id="268" r:id="R95593dc533e54928"/>
    <p:sldId xmlns:r="http://schemas.openxmlformats.org/officeDocument/2006/relationships" id="269" r:id="Rffee86c2924a4fae"/>
    <p:sldId xmlns:r="http://schemas.openxmlformats.org/officeDocument/2006/relationships" id="270" r:id="R5f30b96a277d47ad"/>
    <p:sldId xmlns:r="http://schemas.openxmlformats.org/officeDocument/2006/relationships" id="271" r:id="R306dcfcc7fb24c7a"/>
    <p:sldId xmlns:r="http://schemas.openxmlformats.org/officeDocument/2006/relationships" id="272" r:id="R694f5635e0534261"/>
    <p:sldId xmlns:r="http://schemas.openxmlformats.org/officeDocument/2006/relationships" id="273" r:id="R9cd1ac798ba8458f"/>
    <p:sldId xmlns:r="http://schemas.openxmlformats.org/officeDocument/2006/relationships" id="274" r:id="R11b076ddac594279"/>
    <p:sldId xmlns:r="http://schemas.openxmlformats.org/officeDocument/2006/relationships" id="275" r:id="R446ccf51956b4c80"/>
    <p:sldId xmlns:r="http://schemas.openxmlformats.org/officeDocument/2006/relationships" id="276" r:id="R685277f093294c16"/>
    <p:sldId xmlns:r="http://schemas.openxmlformats.org/officeDocument/2006/relationships" id="277" r:id="R3b56c71ac78a4a18"/>
    <p:sldId xmlns:r="http://schemas.openxmlformats.org/officeDocument/2006/relationships" id="278" r:id="Rcb9af874635a491f"/>
    <p:sldId xmlns:r="http://schemas.openxmlformats.org/officeDocument/2006/relationships" id="279" r:id="R912044204e97486a"/>
    <p:sldId xmlns:r="http://schemas.openxmlformats.org/officeDocument/2006/relationships" id="280" r:id="R61f2eb6cb42d45a9"/>
    <p:sldId xmlns:r="http://schemas.openxmlformats.org/officeDocument/2006/relationships" id="281" r:id="R364b71756cf744a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df829da4a644cba" /><Relationship Type="http://schemas.openxmlformats.org/officeDocument/2006/relationships/slideMaster" Target="/ppt/slideMasters/slideMaster1.xml" Id="Ra9062451ebb945c5" /><Relationship Type="http://schemas.openxmlformats.org/officeDocument/2006/relationships/notesMaster" Target="/ppt/notesMasters/notesMaster1.xml" Id="Rfdaabeb39f06437d" /><Relationship Type="http://schemas.openxmlformats.org/officeDocument/2006/relationships/presProps" Target="/ppt/presProps.xml" Id="R6548a249aaba4bef" /><Relationship Type="http://schemas.openxmlformats.org/officeDocument/2006/relationships/tableStyles" Target="/ppt/tableStyles.xml" Id="Rc9a3d5983836445c" /><Relationship Type="http://schemas.openxmlformats.org/officeDocument/2006/relationships/slide" Target="/ppt/slides/slide1.xml" Id="R6eb1642fcb3248f2" /><Relationship Type="http://schemas.openxmlformats.org/officeDocument/2006/relationships/slide" Target="/ppt/slides/slide2.xml" Id="Re1b781aba3064a2d" /><Relationship Type="http://schemas.openxmlformats.org/officeDocument/2006/relationships/slide" Target="/ppt/slides/slide3.xml" Id="Rbec7215000aa4511" /><Relationship Type="http://schemas.openxmlformats.org/officeDocument/2006/relationships/slide" Target="/ppt/slides/slide4.xml" Id="R860fe18fc220489f" /><Relationship Type="http://schemas.openxmlformats.org/officeDocument/2006/relationships/slide" Target="/ppt/slides/slide5.xml" Id="R0aa9ba1a5b3343bf" /><Relationship Type="http://schemas.openxmlformats.org/officeDocument/2006/relationships/slide" Target="/ppt/slides/slide6.xml" Id="R85d67942e9d344eb" /><Relationship Type="http://schemas.openxmlformats.org/officeDocument/2006/relationships/slide" Target="/ppt/slides/slide7.xml" Id="Re3a66c93eaa5401f" /><Relationship Type="http://schemas.openxmlformats.org/officeDocument/2006/relationships/slide" Target="/ppt/slides/slide8.xml" Id="R7faa7a7c7acc4faf" /><Relationship Type="http://schemas.openxmlformats.org/officeDocument/2006/relationships/slide" Target="/ppt/slides/slide9.xml" Id="R9e71681d605a41e4" /><Relationship Type="http://schemas.openxmlformats.org/officeDocument/2006/relationships/slide" Target="/ppt/slides/slide10.xml" Id="Rf9539395185740ec" /><Relationship Type="http://schemas.openxmlformats.org/officeDocument/2006/relationships/slide" Target="/ppt/slides/slide11.xml" Id="R7912353d70244617" /><Relationship Type="http://schemas.openxmlformats.org/officeDocument/2006/relationships/slide" Target="/ppt/slides/slide12.xml" Id="R951480da72e34840" /><Relationship Type="http://schemas.openxmlformats.org/officeDocument/2006/relationships/slide" Target="/ppt/slides/slide13.xml" Id="R95593dc533e54928" /><Relationship Type="http://schemas.openxmlformats.org/officeDocument/2006/relationships/slide" Target="/ppt/slides/slide14.xml" Id="Rffee86c2924a4fae" /><Relationship Type="http://schemas.openxmlformats.org/officeDocument/2006/relationships/slide" Target="/ppt/slides/slide15.xml" Id="R5f30b96a277d47ad" /><Relationship Type="http://schemas.openxmlformats.org/officeDocument/2006/relationships/slide" Target="/ppt/slides/slide16.xml" Id="R306dcfcc7fb24c7a" /><Relationship Type="http://schemas.openxmlformats.org/officeDocument/2006/relationships/slide" Target="/ppt/slides/slide17.xml" Id="R694f5635e0534261" /><Relationship Type="http://schemas.openxmlformats.org/officeDocument/2006/relationships/slide" Target="/ppt/slides/slide18.xml" Id="R9cd1ac798ba8458f" /><Relationship Type="http://schemas.openxmlformats.org/officeDocument/2006/relationships/slide" Target="/ppt/slides/slide19.xml" Id="R11b076ddac594279" /><Relationship Type="http://schemas.openxmlformats.org/officeDocument/2006/relationships/slide" Target="/ppt/slides/slide20.xml" Id="R446ccf51956b4c80" /><Relationship Type="http://schemas.openxmlformats.org/officeDocument/2006/relationships/slide" Target="/ppt/slides/slide21.xml" Id="R685277f093294c16" /><Relationship Type="http://schemas.openxmlformats.org/officeDocument/2006/relationships/slide" Target="/ppt/slides/slide22.xml" Id="R3b56c71ac78a4a18" /><Relationship Type="http://schemas.openxmlformats.org/officeDocument/2006/relationships/slide" Target="/ppt/slides/slide23.xml" Id="Rcb9af874635a491f" /><Relationship Type="http://schemas.openxmlformats.org/officeDocument/2006/relationships/slide" Target="/ppt/slides/slide24.xml" Id="R912044204e97486a" /><Relationship Type="http://schemas.openxmlformats.org/officeDocument/2006/relationships/slide" Target="/ppt/slides/slide25.xml" Id="R61f2eb6cb42d45a9" /><Relationship Type="http://schemas.openxmlformats.org/officeDocument/2006/relationships/slide" Target="/ppt/slides/slide26.xml" Id="R364b71756cf744a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fc20f633c77468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419fd74ba9d4d12" /><Relationship Type="http://schemas.openxmlformats.org/officeDocument/2006/relationships/notesMaster" Target="/ppt/notesMasters/notesMaster1.xml" Id="R5ab58a22eb10459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36561bd006a4bda" /><Relationship Type="http://schemas.openxmlformats.org/officeDocument/2006/relationships/notesMaster" Target="/ppt/notesMasters/notesMaster1.xml" Id="Re848fc733df8439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2a7e34e72d64476" /><Relationship Type="http://schemas.openxmlformats.org/officeDocument/2006/relationships/notesMaster" Target="/ppt/notesMasters/notesMaster1.xml" Id="R85549a7702d142e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91cb719b3fd4ac7" /><Relationship Type="http://schemas.openxmlformats.org/officeDocument/2006/relationships/notesMaster" Target="/ppt/notesMasters/notesMaster1.xml" Id="Rfb60818bdb5c4e9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312838d81f34edc" /><Relationship Type="http://schemas.openxmlformats.org/officeDocument/2006/relationships/notesMaster" Target="/ppt/notesMasters/notesMaster1.xml" Id="R362166718daa476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3b498d453f14f72" /><Relationship Type="http://schemas.openxmlformats.org/officeDocument/2006/relationships/notesMaster" Target="/ppt/notesMasters/notesMaster1.xml" Id="Ra3a572cb64134dc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82a9f6895bc4108" /><Relationship Type="http://schemas.openxmlformats.org/officeDocument/2006/relationships/notesMaster" Target="/ppt/notesMasters/notesMaster1.xml" Id="R885239bae627488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3d2d527492b4d8b" /><Relationship Type="http://schemas.openxmlformats.org/officeDocument/2006/relationships/notesMaster" Target="/ppt/notesMasters/notesMaster1.xml" Id="Rae2b981b6c4747b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270a4385d7b4ab0" /><Relationship Type="http://schemas.openxmlformats.org/officeDocument/2006/relationships/notesMaster" Target="/ppt/notesMasters/notesMaster1.xml" Id="R30cebe73692748a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e5d078cb7ee4015" /><Relationship Type="http://schemas.openxmlformats.org/officeDocument/2006/relationships/notesMaster" Target="/ppt/notesMasters/notesMaster1.xml" Id="R113bc0b3bf524cc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f249ccbf4994cc8" /><Relationship Type="http://schemas.openxmlformats.org/officeDocument/2006/relationships/notesMaster" Target="/ppt/notesMasters/notesMaster1.xml" Id="R6fe914faa551443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c916ea2f82f4b79" /><Relationship Type="http://schemas.openxmlformats.org/officeDocument/2006/relationships/notesMaster" Target="/ppt/notesMasters/notesMaster1.xml" Id="Re61a432d8d83475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09271dcaa524115" /><Relationship Type="http://schemas.openxmlformats.org/officeDocument/2006/relationships/notesMaster" Target="/ppt/notesMasters/notesMaster1.xml" Id="R306a6fb268814d3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911f2bd0921424a" /><Relationship Type="http://schemas.openxmlformats.org/officeDocument/2006/relationships/notesMaster" Target="/ppt/notesMasters/notesMaster1.xml" Id="R9ab4706a9329405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1cb86f23767464d" /><Relationship Type="http://schemas.openxmlformats.org/officeDocument/2006/relationships/notesMaster" Target="/ppt/notesMasters/notesMaster1.xml" Id="R8ba0a0965ba3468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b044f1b384e4ef5" /><Relationship Type="http://schemas.openxmlformats.org/officeDocument/2006/relationships/notesMaster" Target="/ppt/notesMasters/notesMaster1.xml" Id="Rf60cebfaede5402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63a99aa637a4289" /><Relationship Type="http://schemas.openxmlformats.org/officeDocument/2006/relationships/notesMaster" Target="/ppt/notesMasters/notesMaster1.xml" Id="Rf227399e7f2845e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2e4ed0027934c41" /><Relationship Type="http://schemas.openxmlformats.org/officeDocument/2006/relationships/notesMaster" Target="/ppt/notesMasters/notesMaster1.xml" Id="Rbd139c7c64ec4ca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bbf3db4903724ccd" /><Relationship Type="http://schemas.openxmlformats.org/officeDocument/2006/relationships/notesMaster" Target="/ppt/notesMasters/notesMaster1.xml" Id="Rdc42217efec144fe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d5a1f16b616d495e" /><Relationship Type="http://schemas.openxmlformats.org/officeDocument/2006/relationships/notesMaster" Target="/ppt/notesMasters/notesMaster1.xml" Id="Ra4a85a79f1d744b4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58b902a75e734591" /><Relationship Type="http://schemas.openxmlformats.org/officeDocument/2006/relationships/notesMaster" Target="/ppt/notesMasters/notesMaster1.xml" Id="R45218e56778042ab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3e5e9a05976f45f5" /><Relationship Type="http://schemas.openxmlformats.org/officeDocument/2006/relationships/notesMaster" Target="/ppt/notesMasters/notesMaster1.xml" Id="Re0e6d050c7684d5a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e1ac751534d94a0a" /><Relationship Type="http://schemas.openxmlformats.org/officeDocument/2006/relationships/notesMaster" Target="/ppt/notesMasters/notesMaster1.xml" Id="R375526fc0b9e41aa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bd80fe54eea24069" /><Relationship Type="http://schemas.openxmlformats.org/officeDocument/2006/relationships/notesMaster" Target="/ppt/notesMasters/notesMaster1.xml" Id="R056028f603854f20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6f2bd5dc82584b5b" /><Relationship Type="http://schemas.openxmlformats.org/officeDocument/2006/relationships/notesMaster" Target="/ppt/notesMasters/notesMaster1.xml" Id="R8b9b93cf5ce74950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f40c590c4187477c" /><Relationship Type="http://schemas.openxmlformats.org/officeDocument/2006/relationships/notesMaster" Target="/ppt/notesMasters/notesMaster1.xml" Id="R105f91cad4904cd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scope: README.md. This is a research prototype, not a clinical diagnostic system.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README.md; TRAINING.md. The federated and centralized feature experiments are separate.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Yan et al., https://www.nature.com/articles/s41591-025-03747-y; Mahbod et al., https://pubmed.ncbi.nlm.nih.gov/32268255/; data/reference/research_papers.json. PanDerm published weighted F1 is not macro F1.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TRAINING.md; outputs/feature_models/efficientnet_b0/REPORT.md. Official sets do not supply lesion IDs, so cross-set lesion separation cannot be established.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Examples from data/raw/images/ISIC_0024306.jpg, ISIC_0024307.jpg and ISIC_0024308.jpg. Images come from HAM10000; examples are illustrative and are not shown as a diagnosis. Dataset citation: https://doi.org/10.1038/sdata.2018.161.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AI-generated conceptual illustration, not a clinical image or a literal rendering of model activations. The actual encoders and classifiers are documented in TRAINING.md and src/models/panderm.py.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TRAINING.md; outputs/feature_models/panderm_large_comparison/REPORT.md. Large uses the authors’ released split, rather than the original internal split.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TRAINING.md; src/models/panderm.py; outputs/feature_models/panderm_large_comparison/REPORT.md. Feature dimensions describe the single-view encoder output. Improved EfficientNet concatenates canonical and averaged full-image views, producing 2,560 features. The bare encoder has no seven-class head.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git history; TRAINING.md; outputs/feature_models reports; outputs/cnn_baseline/efficientnet_b0_finetuned/protocol.json. This is an approximate sequence of experiment families, not a claim about exact duration. Recorded durations are incomplete and do not support a complete wall-clock timeline.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TRAINING.md; outputs/feature_models/efficientnet_b0_improved/REPORT.md; outputs/cnn_baseline/efficientnet_b0_finetuned/history.json and protocol.json. Recorded epoch durations sum to approximately 21.8 minutes, excluding setup. Fine-tuning and frozen features are separate experiments.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TRAINING.md; outputs/cnn_baseline/efficientnet_b0_finetuned/protocol.json and REPORT.md. The CNN uses ImageNet V1 weights; the fine-tuning run uses cross-entropy, class weights, augmentation, AdamW, and a 7-class linear head. Stopped after 15 epochs; best epoch selected on validation macro F1.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torchvision EfficientNet-B0 implementation used in src/models/model.py and scripts/train_cnn_baseline.py; TRAINING.md. MBConv includes depthwise convolution and squeeze-and-excitation. The feature pipeline retained the original ImageNet backbone and its standard preprocessing. The fine-tuned CNN uses a linear seven-class head. Diagram is simplified and not to scale.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outputs/feature_models/efficientnet_b0/REPORT.md; outputs/feature_models/efficientnet_b0_improved/REPORT.md; outputs/feature_models/efficientnet_b0_specialists/REPORT.md. Different test sets are labeled explicitly.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outputs/feature_models/panderm_base_comparison/REPORT.md; outputs/feature_models/panderm_large_comparison/REPORT.md; https://www.nature.com/articles/s41591-025-03747-y.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outputs/feature_models/efficientnet_b0/comparison.png and REPORT.md. Internal test macro F1: linear .5832, MLP .6156, XGBoost .5764. The chart is from the original baseline and does not include later models.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outputs/cnn_baseline/efficientnet_b0_finetuned/REPORT.md. The model uses 7,014 training images; selected checkpoint epoch 11. Official test macro F1 .7178, accuracy .8161. Official test lesion identifiers are unavailable. This comparison is exploratory.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outputs/feature_models/efficientnet_b0_improved/linear/official_test_confusion_matrix.png and REPORT.md. Counts are raw, so common classes have larger cells. Classes: akiec, bcc, bkl, df, mel, nv and vasc. The set was used repeatedly in research and is not fresh independent confirmation.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src/models/panderm.py; outputs/feature_models/panderm_base_comparison/REPORT.md; outputs/feature_models/panderm_large_comparison/REPORT.md; https://www.nature.com/articles/s41591-025-03747-y. Both use patch16 224-pixel vision transformers. The Large and Base runs use different training splits, so results do not isolate the encoder.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outputs/feature_models/panderm_base_comparison/REPORT.md; outputs/feature_models/panderm_large_comparison/REPORT.md; outputs/diagnostics/panderm_paper_reference/REPORT.md. Base trained on 7,014 images; Large used 8,207 authors’ released training images. Tests had previously been examined.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outputs/feature_models/panderm_large_refined/REPORT.md; outputs/feature_models/panderm_large_capacity/REPORT.md. Released HAM test contains 1,232 images. Reused test results are exploratory; they are not fresh independent confirmation.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README.md; config.yaml; src/client/client.py; src/server/strategy.py. Differential privacy accounting covers training-image updates, not a patient-level guarantee. Simulation is not evidence of real multi-hospital deployment.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README.md; src/client/client.py; src/server/strategy.py. This is a simulation; the feature-model results shown are centralized. FedProx optionally limits local drift. Differential privacy accounting concerns training-image updates, not patient-level privacy. The arrows summarize a repeated communication cycle; global model returns to clients each round.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artifacts/improved-app.jpg; README.md; scripts/app.py. Screenshot is an earlier state of the research prototype. Model outputs should not be used for diagnosis; some feature-model scores are not calibrated probabilities.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outputs/feature_models/efficientnet_b0_improved/REPORT.md; outputs/feature_models/panderm_large_comparison/REPORT.md; outputs/diagnostics/specialist_audit/REPORT.md; outputs/diagnostics/panderm_paper_audit/REFERENCE_CORRECTION.md.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outputs/diagnostics/panderm_test_adaptation_once/REPORT.md; outputs/diagnostics/six_model_adaptation/REPORT.md; README.md; TRAINING.md. Pretraining overlap with downstream datasets has not been independently excluded.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README.md; outputs/feature_models/panderm_large_comparison/REPORT.md. The reported official-test score is exploratory after repeated test inspection.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0d232b63104e5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7e6c3db1744ee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698b83f6d74a2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d06589cbc5475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6b48df4919480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115f21f5c1486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0462CBC-2D73-4F23-A0D7-73CD4800FBF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204C42F-AA34-46E2-BB47-E39CA055971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FA9F23D-7C1A-40FF-956B-51DC5533AE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0C238B2-78AD-4664-BEB1-DA7F5A4DA9B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8CC1072-0721-4A1C-B23E-63CD054412A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8629BF0-B04B-432F-961A-ECDBF641B2B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35D955E-E577-43D6-B166-94189AC18C3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0FA0BC22-F3A1-4346-9175-94D52CBC0C7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00CC014-5830-4432-AE58-D8145F302A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AA9A563-C8E8-4289-B84F-E5F98A5D5B9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8f035f7142042fe" /><Relationship Type="http://schemas.openxmlformats.org/officeDocument/2006/relationships/slideLayout" Target="/ppt/slideLayouts/slideLayout1.xml" Id="Rb501630adb3941a7" /><Relationship Type="http://schemas.openxmlformats.org/officeDocument/2006/relationships/slideLayout" Target="/ppt/slideLayouts/slideLayout2.xml" Id="Rb1527e347b7e4f35" /><Relationship Type="http://schemas.openxmlformats.org/officeDocument/2006/relationships/slideLayout" Target="/ppt/slideLayouts/slideLayout3.xml" Id="R2ee48c7aa3b1458f" /><Relationship Type="http://schemas.openxmlformats.org/officeDocument/2006/relationships/slideLayout" Target="/ppt/slideLayouts/slideLayout4.xml" Id="Re3876e240f4b4924" /><Relationship Type="http://schemas.openxmlformats.org/officeDocument/2006/relationships/slideLayout" Target="/ppt/slideLayouts/slideLayout5.xml" Id="Rfde0cc1e9317488c" /><Relationship Type="http://schemas.openxmlformats.org/officeDocument/2006/relationships/slideLayout" Target="/ppt/slideLayouts/slideLayout6.xml" Id="Rec1264592de64da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501630adb3941a7"/>
    <p:sldLayoutId xmlns:r="http://schemas.openxmlformats.org/officeDocument/2006/relationships" id="2147483650" r:id="Rb1527e347b7e4f35"/>
    <p:sldLayoutId xmlns:r="http://schemas.openxmlformats.org/officeDocument/2006/relationships" id="2147483651" r:id="R2ee48c7aa3b1458f"/>
    <p:sldLayoutId xmlns:r="http://schemas.openxmlformats.org/officeDocument/2006/relationships" id="2147483652" r:id="Re3876e240f4b4924"/>
    <p:sldLayoutId xmlns:r="http://schemas.openxmlformats.org/officeDocument/2006/relationships" id="2147483653" r:id="Rfde0cc1e9317488c"/>
    <p:sldLayoutId xmlns:r="http://schemas.openxmlformats.org/officeDocument/2006/relationships" id="2147483654" r:id="Rec1264592de64da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76c548bbab44ac5" /><Relationship Type="http://schemas.openxmlformats.org/officeDocument/2006/relationships/notesSlide" Target="/ppt/notesSlides/notesSlide1.xml" Id="Rde2f788b704d40e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74eeb0604f6444b" /><Relationship Type="http://schemas.openxmlformats.org/officeDocument/2006/relationships/notesSlide" Target="/ppt/notesSlides/notesSlide2.xml" Id="R1ef32012dc1c427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ec6261968cf4948" /><Relationship Type="http://schemas.openxmlformats.org/officeDocument/2006/relationships/notesSlide" Target="/ppt/notesSlides/notesSlide3.xml" Id="R7326944724c1441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d9c1ede57fc4a92" /><Relationship Type="http://schemas.openxmlformats.org/officeDocument/2006/relationships/notesSlide" Target="/ppt/notesSlides/notesSlide4.xml" Id="Rd8be923bedea497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5e27d09b4704fe5" /><Relationship Type="http://schemas.openxmlformats.org/officeDocument/2006/relationships/image" Target="/ppt/media/image.jpeg" Id="R8dd5700a2ba84750" /><Relationship Type="http://schemas.openxmlformats.org/officeDocument/2006/relationships/image" Target="/ppt/media/image2.jpeg" Id="Rb7a45602f26f4289" /><Relationship Type="http://schemas.openxmlformats.org/officeDocument/2006/relationships/image" Target="/ppt/media/image3.jpeg" Id="R9836583d10494264" /><Relationship Type="http://schemas.openxmlformats.org/officeDocument/2006/relationships/notesSlide" Target="/ppt/notesSlides/notesSlide5.xml" Id="R7d90444782014d7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5f78532668046b7" /><Relationship Type="http://schemas.openxmlformats.org/officeDocument/2006/relationships/image" Target="/ppt/media/image.png" Id="R3be1078779554454" /><Relationship Type="http://schemas.openxmlformats.org/officeDocument/2006/relationships/notesSlide" Target="/ppt/notesSlides/notesSlide6.xml" Id="R295b06eafcf648f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33798f49e0d4c6c" /><Relationship Type="http://schemas.openxmlformats.org/officeDocument/2006/relationships/notesSlide" Target="/ppt/notesSlides/notesSlide7.xml" Id="Rbde0083393844a2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084fe3750b64fb6" /><Relationship Type="http://schemas.openxmlformats.org/officeDocument/2006/relationships/notesSlide" Target="/ppt/notesSlides/notesSlide8.xml" Id="R781d9c687f1c4dc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0fb309f31004f1e" /><Relationship Type="http://schemas.openxmlformats.org/officeDocument/2006/relationships/notesSlide" Target="/ppt/notesSlides/notesSlide9.xml" Id="R70f4d1689bb34ab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9f809fbc2b948e7" /><Relationship Type="http://schemas.openxmlformats.org/officeDocument/2006/relationships/notesSlide" Target="/ppt/notesSlides/notesSlide10.xml" Id="R20b6aaf0290d4c2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bf502adb6714484" /><Relationship Type="http://schemas.openxmlformats.org/officeDocument/2006/relationships/notesSlide" Target="/ppt/notesSlides/notesSlide11.xml" Id="R2f4991a88e644ca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7f4c323c96d43d1" /><Relationship Type="http://schemas.openxmlformats.org/officeDocument/2006/relationships/notesSlide" Target="/ppt/notesSlides/notesSlide12.xml" Id="R4e7d86cf9e2b42a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1b0e3f47a1c4d1d" /><Relationship Type="http://schemas.openxmlformats.org/officeDocument/2006/relationships/notesSlide" Target="/ppt/notesSlides/notesSlide13.xml" Id="R6ca45097da22496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90745b23c274fe2" /><Relationship Type="http://schemas.openxmlformats.org/officeDocument/2006/relationships/notesSlide" Target="/ppt/notesSlides/notesSlide14.xml" Id="Rdb42cfa5252646b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0b3cd307ff34712" /><Relationship Type="http://schemas.openxmlformats.org/officeDocument/2006/relationships/image" Target="/ppt/media/image2.png" Id="R6e3076efca084850" /><Relationship Type="http://schemas.openxmlformats.org/officeDocument/2006/relationships/notesSlide" Target="/ppt/notesSlides/notesSlide15.xml" Id="R28b4a3507f64404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4f6abb62e204000" /><Relationship Type="http://schemas.openxmlformats.org/officeDocument/2006/relationships/notesSlide" Target="/ppt/notesSlides/notesSlide16.xml" Id="R4629842ce88540e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b0a96ecf70048f0" /><Relationship Type="http://schemas.openxmlformats.org/officeDocument/2006/relationships/image" Target="/ppt/media/image3.png" Id="Rad087b17f7c8410b" /><Relationship Type="http://schemas.openxmlformats.org/officeDocument/2006/relationships/notesSlide" Target="/ppt/notesSlides/notesSlide17.xml" Id="Re65ea2fdb4e0457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300b4ae6fa4480b" /><Relationship Type="http://schemas.openxmlformats.org/officeDocument/2006/relationships/notesSlide" Target="/ppt/notesSlides/notesSlide18.xml" Id="Rc8585cc4a305480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d62932bcd184961" /><Relationship Type="http://schemas.openxmlformats.org/officeDocument/2006/relationships/notesSlide" Target="/ppt/notesSlides/notesSlide19.xml" Id="R73107ed46b9b4c72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49fb25c00074398" /><Relationship Type="http://schemas.openxmlformats.org/officeDocument/2006/relationships/notesSlide" Target="/ppt/notesSlides/notesSlide20.xml" Id="Ra606e72aa5ad4884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00d505c30a0475f" /><Relationship Type="http://schemas.openxmlformats.org/officeDocument/2006/relationships/notesSlide" Target="/ppt/notesSlides/notesSlide21.xml" Id="R6aced6ee997d4f30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557f5ca6f444492" /><Relationship Type="http://schemas.openxmlformats.org/officeDocument/2006/relationships/notesSlide" Target="/ppt/notesSlides/notesSlide22.xml" Id="Rab6a1fc2a0294cda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1b46a017c2e44e7" /><Relationship Type="http://schemas.openxmlformats.org/officeDocument/2006/relationships/image" Target="/ppt/media/image4.jpeg" Id="Rdca3262028f74422" /><Relationship Type="http://schemas.openxmlformats.org/officeDocument/2006/relationships/notesSlide" Target="/ppt/notesSlides/notesSlide23.xml" Id="R60cbce5ff5314a85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1980dbf3ad24f48" /><Relationship Type="http://schemas.openxmlformats.org/officeDocument/2006/relationships/notesSlide" Target="/ppt/notesSlides/notesSlide24.xml" Id="R4587fc5024894959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979ba29eff4fa7" /><Relationship Type="http://schemas.openxmlformats.org/officeDocument/2006/relationships/notesSlide" Target="/ppt/notesSlides/notesSlide25.xml" Id="Rff46ef0eda504d19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fdcec4808a54add" /><Relationship Type="http://schemas.openxmlformats.org/officeDocument/2006/relationships/notesSlide" Target="/ppt/notesSlides/notesSlide26.xml" Id="Rb6232c96433f494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6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7EB382-32E4-444B-89F1-000885368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76375"/>
            <a:ext cx="10572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750" b="1">
                <a:solidFill>
                  <a:srgbClr val="FFFFFF"/>
                </a:solidFill>
              </a:defRPr>
            </a:defPPr>
            <a:lvl1pPr>
              <a:buNone/>
              <a:defRPr sz="3750" b="1">
                <a:solidFill>
                  <a:srgbClr val="FFFFFF"/>
                </a:solidFill>
              </a:defRPr>
            </a:lvl1pPr>
            <a:lvl2pPr>
              <a:buNone/>
              <a:defRPr sz="3750" b="1">
                <a:solidFill>
                  <a:srgbClr val="FFFFFF"/>
                </a:solidFill>
              </a:defRPr>
            </a:lvl2pPr>
            <a:lvl3pPr>
              <a:buNone/>
              <a:defRPr sz="3750" b="1">
                <a:solidFill>
                  <a:srgbClr val="FFFFFF"/>
                </a:solidFill>
              </a:defRPr>
            </a:lvl3pPr>
            <a:lvl4pPr>
              <a:buNone/>
              <a:defRPr sz="3750" b="1">
                <a:solidFill>
                  <a:srgbClr val="FFFFFF"/>
                </a:solidFill>
              </a:defRPr>
            </a:lvl4pPr>
            <a:lvl5pPr>
              <a:buNone/>
              <a:defRPr sz="3750" b="1">
                <a:solidFill>
                  <a:srgbClr val="FFFFFF"/>
                </a:solidFill>
              </a:defRPr>
            </a:lvl5pPr>
            <a:lvl6pPr>
              <a:buNone/>
              <a:defRPr sz="3750" b="1">
                <a:solidFill>
                  <a:srgbClr val="FFFFFF"/>
                </a:solidFill>
              </a:defRPr>
            </a:lvl6pPr>
            <a:lvl7pPr>
              <a:buNone/>
              <a:defRPr sz="3750" b="1">
                <a:solidFill>
                  <a:srgbClr val="FFFFFF"/>
                </a:solidFill>
              </a:defRPr>
            </a:lvl7pPr>
            <a:lvl8pPr>
              <a:buNone/>
              <a:defRPr sz="3750" b="1">
                <a:solidFill>
                  <a:srgbClr val="FFFFFF"/>
                </a:solidFill>
              </a:defRPr>
            </a:lvl8pPr>
            <a:lvl9pPr>
              <a:buNone/>
              <a:defRPr sz="37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buNone/>
              <a:defRPr sz="3750" b="1">
                <a:solidFill>
                  <a:srgbClr val="FFFFFF"/>
                </a:solidFill>
              </a:defRPr>
            </a:pPr>
            <a:r>
              <a:rPr sz="3750" b="1">
                <a:solidFill>
                  <a:srgbClr val="FFFFFF"/>
                </a:solidFill>
              </a:rPr>
              <a:t>Skin lesion classification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DA6F20-AD0C-482B-9219-22E6E3F03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9525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BDE5E4"/>
                </a:solidFill>
              </a:defRPr>
            </a:defPPr>
            <a:lvl1pPr>
              <a:buNone/>
              <a:defRPr sz="2175" b="0">
                <a:solidFill>
                  <a:srgbClr val="BDE5E4"/>
                </a:solidFill>
              </a:defRPr>
            </a:lvl1pPr>
            <a:lvl2pPr>
              <a:buNone/>
              <a:defRPr sz="2175" b="0">
                <a:solidFill>
                  <a:srgbClr val="BDE5E4"/>
                </a:solidFill>
              </a:defRPr>
            </a:lvl2pPr>
            <a:lvl3pPr>
              <a:buNone/>
              <a:defRPr sz="2175" b="0">
                <a:solidFill>
                  <a:srgbClr val="BDE5E4"/>
                </a:solidFill>
              </a:defRPr>
            </a:lvl3pPr>
            <a:lvl4pPr>
              <a:buNone/>
              <a:defRPr sz="2175" b="0">
                <a:solidFill>
                  <a:srgbClr val="BDE5E4"/>
                </a:solidFill>
              </a:defRPr>
            </a:lvl4pPr>
            <a:lvl5pPr>
              <a:buNone/>
              <a:defRPr sz="2175" b="0">
                <a:solidFill>
                  <a:srgbClr val="BDE5E4"/>
                </a:solidFill>
              </a:defRPr>
            </a:lvl5pPr>
            <a:lvl6pPr>
              <a:buNone/>
              <a:defRPr sz="2175" b="0">
                <a:solidFill>
                  <a:srgbClr val="BDE5E4"/>
                </a:solidFill>
              </a:defRPr>
            </a:lvl6pPr>
            <a:lvl7pPr>
              <a:buNone/>
              <a:defRPr sz="2175" b="0">
                <a:solidFill>
                  <a:srgbClr val="BDE5E4"/>
                </a:solidFill>
              </a:defRPr>
            </a:lvl7pPr>
            <a:lvl8pPr>
              <a:buNone/>
              <a:defRPr sz="2175" b="0">
                <a:solidFill>
                  <a:srgbClr val="BDE5E4"/>
                </a:solidFill>
              </a:defRPr>
            </a:lvl8pPr>
            <a:lvl9pPr>
              <a:buNone/>
              <a:defRPr sz="2175" b="0">
                <a:solidFill>
                  <a:srgbClr val="BDE5E4"/>
                </a:solidFill>
              </a:defRPr>
            </a:lvl9pPr>
          </a:lstStyle>
          <a:p xmlns:a="http://schemas.openxmlformats.org/drawingml/2006/main">
            <a:pPr>
              <a:buNone/>
              <a:defRPr sz="2175" b="0">
                <a:solidFill>
                  <a:srgbClr val="BDE5E4"/>
                </a:solidFill>
              </a:defRPr>
            </a:pPr>
            <a:r>
              <a:rPr sz="2175" b="0">
                <a:solidFill>
                  <a:srgbClr val="BDE5E4"/>
                </a:solidFill>
              </a:rPr>
              <a:t>Project review: models, methods and findings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90B077-8DF5-47D5-9659-E55E4A836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7620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FFFFFF"/>
                </a:solidFill>
              </a:defRPr>
            </a:defPPr>
            <a:lvl1pPr>
              <a:buNone/>
              <a:defRPr sz="1500" b="0">
                <a:solidFill>
                  <a:srgbClr val="FFFFFF"/>
                </a:solidFill>
              </a:defRPr>
            </a:lvl1pPr>
            <a:lvl2pPr>
              <a:buNone/>
              <a:defRPr sz="1500" b="0">
                <a:solidFill>
                  <a:srgbClr val="FFFFFF"/>
                </a:solidFill>
              </a:defRPr>
            </a:lvl2pPr>
            <a:lvl3pPr>
              <a:buNone/>
              <a:defRPr sz="1500" b="0">
                <a:solidFill>
                  <a:srgbClr val="FFFFFF"/>
                </a:solidFill>
              </a:defRPr>
            </a:lvl3pPr>
            <a:lvl4pPr>
              <a:buNone/>
              <a:defRPr sz="1500" b="0">
                <a:solidFill>
                  <a:srgbClr val="FFFFFF"/>
                </a:solidFill>
              </a:defRPr>
            </a:lvl4pPr>
            <a:lvl5pPr>
              <a:buNone/>
              <a:defRPr sz="1500" b="0">
                <a:solidFill>
                  <a:srgbClr val="FFFFFF"/>
                </a:solidFill>
              </a:defRPr>
            </a:lvl5pPr>
            <a:lvl6pPr>
              <a:buNone/>
              <a:defRPr sz="1500" b="0">
                <a:solidFill>
                  <a:srgbClr val="FFFFFF"/>
                </a:solidFill>
              </a:defRPr>
            </a:lvl6pPr>
            <a:lvl7pPr>
              <a:buNone/>
              <a:defRPr sz="1500" b="0">
                <a:solidFill>
                  <a:srgbClr val="FFFFFF"/>
                </a:solidFill>
              </a:defRPr>
            </a:lvl7pPr>
            <a:lvl8pPr>
              <a:buNone/>
              <a:defRPr sz="1500" b="0">
                <a:solidFill>
                  <a:srgbClr val="FFFFFF"/>
                </a:solidFill>
              </a:defRPr>
            </a:lvl8pPr>
            <a:lvl9pPr>
              <a:buNone/>
              <a:defRPr sz="1500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buNone/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Academic research prototype</a:t>
            </a:r>
          </a:p>
        </p:txBody>
      </p:sp>
    </p:spTree>
    <p:extLst>
      <p:ext uri="{BB962C8B-B14F-4D97-AF65-F5344CB8AC3E}">
        <p14:creationId xmlns:p14="http://schemas.microsoft.com/office/powerpoint/2010/main" val="41177319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6990A1-740C-4CA5-803C-0851B79BC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0263B"/>
                </a:solidFill>
              </a:defRPr>
            </a:defPPr>
            <a:lvl1pPr>
              <a:buNone/>
              <a:defRPr sz="2850" b="1">
                <a:solidFill>
                  <a:srgbClr val="10263B"/>
                </a:solidFill>
              </a:defRPr>
            </a:lvl1pPr>
            <a:lvl2pPr>
              <a:buNone/>
              <a:defRPr sz="2850" b="1">
                <a:solidFill>
                  <a:srgbClr val="10263B"/>
                </a:solidFill>
              </a:defRPr>
            </a:lvl2pPr>
            <a:lvl3pPr>
              <a:buNone/>
              <a:defRPr sz="2850" b="1">
                <a:solidFill>
                  <a:srgbClr val="10263B"/>
                </a:solidFill>
              </a:defRPr>
            </a:lvl3pPr>
            <a:lvl4pPr>
              <a:buNone/>
              <a:defRPr sz="2850" b="1">
                <a:solidFill>
                  <a:srgbClr val="10263B"/>
                </a:solidFill>
              </a:defRPr>
            </a:lvl4pPr>
            <a:lvl5pPr>
              <a:buNone/>
              <a:defRPr sz="2850" b="1">
                <a:solidFill>
                  <a:srgbClr val="10263B"/>
                </a:solidFill>
              </a:defRPr>
            </a:lvl5pPr>
            <a:lvl6pPr>
              <a:buNone/>
              <a:defRPr sz="2850" b="1">
                <a:solidFill>
                  <a:srgbClr val="10263B"/>
                </a:solidFill>
              </a:defRPr>
            </a:lvl6pPr>
            <a:lvl7pPr>
              <a:buNone/>
              <a:defRPr sz="2850" b="1">
                <a:solidFill>
                  <a:srgbClr val="10263B"/>
                </a:solidFill>
              </a:defRPr>
            </a:lvl7pPr>
            <a:lvl8pPr>
              <a:buNone/>
              <a:defRPr sz="2850" b="1">
                <a:solidFill>
                  <a:srgbClr val="10263B"/>
                </a:solidFill>
              </a:defRPr>
            </a:lvl8pPr>
            <a:lvl9pPr>
              <a:buNone/>
              <a:defRPr sz="2850" b="1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2850" b="1">
                <a:solidFill>
                  <a:srgbClr val="10263B"/>
                </a:solidFill>
              </a:defRPr>
            </a:pPr>
            <a:r>
              <a:rPr sz="2850" b="1">
                <a:solidFill>
                  <a:srgbClr val="10263B"/>
                </a:solidFill>
              </a:rPr>
              <a:t>The problem and project goal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5E5A56-0F0D-429D-BE1F-A57C4D55B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381125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0263B"/>
                </a:solidFill>
              </a:defRPr>
            </a:defPPr>
            <a:lvl1pPr>
              <a:buNone/>
              <a:defRPr sz="1875" b="0">
                <a:solidFill>
                  <a:srgbClr val="10263B"/>
                </a:solidFill>
              </a:defRPr>
            </a:lvl1pPr>
            <a:lvl2pPr>
              <a:buNone/>
              <a:defRPr sz="1875" b="0">
                <a:solidFill>
                  <a:srgbClr val="10263B"/>
                </a:solidFill>
              </a:defRPr>
            </a:lvl2pPr>
            <a:lvl3pPr>
              <a:buNone/>
              <a:defRPr sz="1875" b="0">
                <a:solidFill>
                  <a:srgbClr val="10263B"/>
                </a:solidFill>
              </a:defRPr>
            </a:lvl3pPr>
            <a:lvl4pPr>
              <a:buNone/>
              <a:defRPr sz="1875" b="0">
                <a:solidFill>
                  <a:srgbClr val="10263B"/>
                </a:solidFill>
              </a:defRPr>
            </a:lvl4pPr>
            <a:lvl5pPr>
              <a:buNone/>
              <a:defRPr sz="1875" b="0">
                <a:solidFill>
                  <a:srgbClr val="10263B"/>
                </a:solidFill>
              </a:defRPr>
            </a:lvl5pPr>
            <a:lvl6pPr>
              <a:buNone/>
              <a:defRPr sz="1875" b="0">
                <a:solidFill>
                  <a:srgbClr val="10263B"/>
                </a:solidFill>
              </a:defRPr>
            </a:lvl6pPr>
            <a:lvl7pPr>
              <a:buNone/>
              <a:defRPr sz="1875" b="0">
                <a:solidFill>
                  <a:srgbClr val="10263B"/>
                </a:solidFill>
              </a:defRPr>
            </a:lvl7pPr>
            <a:lvl8pPr>
              <a:buNone/>
              <a:defRPr sz="1875" b="0">
                <a:solidFill>
                  <a:srgbClr val="10263B"/>
                </a:solidFill>
              </a:defRPr>
            </a:lvl8pPr>
            <a:lvl9pPr>
              <a:buNone/>
              <a:defRPr sz="1875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0263B"/>
                </a:solidFill>
              </a:defRPr>
            </a:pPr>
            <a:r>
              <a:rPr sz="1875" b="0">
                <a:solidFill>
                  <a:srgbClr val="10263B"/>
                </a:solidFill>
              </a:rPr>
              <a:t>Skin images contain visual patterns that can help classify seven lesion types.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C67C48-414C-4705-909A-D36704A2A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71700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0263B"/>
                </a:solidFill>
              </a:defRPr>
            </a:defPPr>
            <a:lvl1pPr>
              <a:buNone/>
              <a:defRPr sz="1875" b="0">
                <a:solidFill>
                  <a:srgbClr val="10263B"/>
                </a:solidFill>
              </a:defRPr>
            </a:lvl1pPr>
            <a:lvl2pPr>
              <a:buNone/>
              <a:defRPr sz="1875" b="0">
                <a:solidFill>
                  <a:srgbClr val="10263B"/>
                </a:solidFill>
              </a:defRPr>
            </a:lvl2pPr>
            <a:lvl3pPr>
              <a:buNone/>
              <a:defRPr sz="1875" b="0">
                <a:solidFill>
                  <a:srgbClr val="10263B"/>
                </a:solidFill>
              </a:defRPr>
            </a:lvl3pPr>
            <a:lvl4pPr>
              <a:buNone/>
              <a:defRPr sz="1875" b="0">
                <a:solidFill>
                  <a:srgbClr val="10263B"/>
                </a:solidFill>
              </a:defRPr>
            </a:lvl4pPr>
            <a:lvl5pPr>
              <a:buNone/>
              <a:defRPr sz="1875" b="0">
                <a:solidFill>
                  <a:srgbClr val="10263B"/>
                </a:solidFill>
              </a:defRPr>
            </a:lvl5pPr>
            <a:lvl6pPr>
              <a:buNone/>
              <a:defRPr sz="1875" b="0">
                <a:solidFill>
                  <a:srgbClr val="10263B"/>
                </a:solidFill>
              </a:defRPr>
            </a:lvl6pPr>
            <a:lvl7pPr>
              <a:buNone/>
              <a:defRPr sz="1875" b="0">
                <a:solidFill>
                  <a:srgbClr val="10263B"/>
                </a:solidFill>
              </a:defRPr>
            </a:lvl7pPr>
            <a:lvl8pPr>
              <a:buNone/>
              <a:defRPr sz="1875" b="0">
                <a:solidFill>
                  <a:srgbClr val="10263B"/>
                </a:solidFill>
              </a:defRPr>
            </a:lvl8pPr>
            <a:lvl9pPr>
              <a:buNone/>
              <a:defRPr sz="1875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0263B"/>
                </a:solidFill>
              </a:defRPr>
            </a:pPr>
            <a:r>
              <a:rPr sz="1875" b="0">
                <a:solidFill>
                  <a:srgbClr val="10263B"/>
                </a:solidFill>
              </a:rPr>
              <a:t>Training data is imbalanced, and patient images raise privacy concerns.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310C3B-219F-4E1B-9170-7DD39767D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962275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0263B"/>
                </a:solidFill>
              </a:defRPr>
            </a:defPPr>
            <a:lvl1pPr>
              <a:buNone/>
              <a:defRPr sz="1875" b="0">
                <a:solidFill>
                  <a:srgbClr val="10263B"/>
                </a:solidFill>
              </a:defRPr>
            </a:lvl1pPr>
            <a:lvl2pPr>
              <a:buNone/>
              <a:defRPr sz="1875" b="0">
                <a:solidFill>
                  <a:srgbClr val="10263B"/>
                </a:solidFill>
              </a:defRPr>
            </a:lvl2pPr>
            <a:lvl3pPr>
              <a:buNone/>
              <a:defRPr sz="1875" b="0">
                <a:solidFill>
                  <a:srgbClr val="10263B"/>
                </a:solidFill>
              </a:defRPr>
            </a:lvl3pPr>
            <a:lvl4pPr>
              <a:buNone/>
              <a:defRPr sz="1875" b="0">
                <a:solidFill>
                  <a:srgbClr val="10263B"/>
                </a:solidFill>
              </a:defRPr>
            </a:lvl4pPr>
            <a:lvl5pPr>
              <a:buNone/>
              <a:defRPr sz="1875" b="0">
                <a:solidFill>
                  <a:srgbClr val="10263B"/>
                </a:solidFill>
              </a:defRPr>
            </a:lvl5pPr>
            <a:lvl6pPr>
              <a:buNone/>
              <a:defRPr sz="1875" b="0">
                <a:solidFill>
                  <a:srgbClr val="10263B"/>
                </a:solidFill>
              </a:defRPr>
            </a:lvl6pPr>
            <a:lvl7pPr>
              <a:buNone/>
              <a:defRPr sz="1875" b="0">
                <a:solidFill>
                  <a:srgbClr val="10263B"/>
                </a:solidFill>
              </a:defRPr>
            </a:lvl7pPr>
            <a:lvl8pPr>
              <a:buNone/>
              <a:defRPr sz="1875" b="0">
                <a:solidFill>
                  <a:srgbClr val="10263B"/>
                </a:solidFill>
              </a:defRPr>
            </a:lvl8pPr>
            <a:lvl9pPr>
              <a:buNone/>
              <a:defRPr sz="1875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0263B"/>
                </a:solidFill>
              </a:defRPr>
            </a:pPr>
            <a:r>
              <a:rPr sz="1875" b="0">
                <a:solidFill>
                  <a:srgbClr val="10263B"/>
                </a:solidFill>
              </a:rPr>
              <a:t>Our goal: compare image models and explore privacy-preserving training.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1C086C-1E1C-4916-B700-136F85B6B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4B6070"/>
                </a:solidFill>
              </a:defRPr>
            </a:defPPr>
            <a:lvl1pPr>
              <a:buNone/>
              <a:defRPr sz="1050" b="0">
                <a:solidFill>
                  <a:srgbClr val="4B6070"/>
                </a:solidFill>
              </a:defRPr>
            </a:lvl1pPr>
            <a:lvl2pPr>
              <a:buNone/>
              <a:defRPr sz="1050" b="0">
                <a:solidFill>
                  <a:srgbClr val="4B6070"/>
                </a:solidFill>
              </a:defRPr>
            </a:lvl2pPr>
            <a:lvl3pPr>
              <a:buNone/>
              <a:defRPr sz="1050" b="0">
                <a:solidFill>
                  <a:srgbClr val="4B6070"/>
                </a:solidFill>
              </a:defRPr>
            </a:lvl3pPr>
            <a:lvl4pPr>
              <a:buNone/>
              <a:defRPr sz="1050" b="0">
                <a:solidFill>
                  <a:srgbClr val="4B6070"/>
                </a:solidFill>
              </a:defRPr>
            </a:lvl4pPr>
            <a:lvl5pPr>
              <a:buNone/>
              <a:defRPr sz="1050" b="0">
                <a:solidFill>
                  <a:srgbClr val="4B6070"/>
                </a:solidFill>
              </a:defRPr>
            </a:lvl5pPr>
            <a:lvl6pPr>
              <a:buNone/>
              <a:defRPr sz="1050" b="0">
                <a:solidFill>
                  <a:srgbClr val="4B6070"/>
                </a:solidFill>
              </a:defRPr>
            </a:lvl6pPr>
            <a:lvl7pPr>
              <a:buNone/>
              <a:defRPr sz="1050" b="0">
                <a:solidFill>
                  <a:srgbClr val="4B6070"/>
                </a:solidFill>
              </a:defRPr>
            </a:lvl7pPr>
            <a:lvl8pPr>
              <a:buNone/>
              <a:defRPr sz="1050" b="0">
                <a:solidFill>
                  <a:srgbClr val="4B6070"/>
                </a:solidFill>
              </a:defRPr>
            </a:lvl8pPr>
            <a:lvl9pPr>
              <a:buNone/>
              <a:defRPr sz="1050" b="0">
                <a:solidFill>
                  <a:srgbClr val="4B6070"/>
                </a:solidFill>
              </a:defRPr>
            </a:lvl9pPr>
          </a:lstStyle>
          <a:p xmlns:a="http://schemas.openxmlformats.org/drawingml/2006/main">
            <a:pPr>
              <a:buNone/>
              <a:defRPr sz="1050" b="0">
                <a:solidFill>
                  <a:srgbClr val="4B6070"/>
                </a:solidFill>
              </a:defRPr>
            </a:pPr>
            <a:r>
              <a:rPr sz="1050" b="0">
                <a:solidFill>
                  <a:srgbClr val="4B6070"/>
                </a:solidFill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47512415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16D7FF-7DAC-4980-87C3-29A19B06E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0263B"/>
                </a:solidFill>
              </a:defRPr>
            </a:defPPr>
            <a:lvl1pPr>
              <a:buNone/>
              <a:defRPr sz="2850" b="1">
                <a:solidFill>
                  <a:srgbClr val="10263B"/>
                </a:solidFill>
              </a:defRPr>
            </a:lvl1pPr>
            <a:lvl2pPr>
              <a:buNone/>
              <a:defRPr sz="2850" b="1">
                <a:solidFill>
                  <a:srgbClr val="10263B"/>
                </a:solidFill>
              </a:defRPr>
            </a:lvl2pPr>
            <a:lvl3pPr>
              <a:buNone/>
              <a:defRPr sz="2850" b="1">
                <a:solidFill>
                  <a:srgbClr val="10263B"/>
                </a:solidFill>
              </a:defRPr>
            </a:lvl3pPr>
            <a:lvl4pPr>
              <a:buNone/>
              <a:defRPr sz="2850" b="1">
                <a:solidFill>
                  <a:srgbClr val="10263B"/>
                </a:solidFill>
              </a:defRPr>
            </a:lvl4pPr>
            <a:lvl5pPr>
              <a:buNone/>
              <a:defRPr sz="2850" b="1">
                <a:solidFill>
                  <a:srgbClr val="10263B"/>
                </a:solidFill>
              </a:defRPr>
            </a:lvl5pPr>
            <a:lvl6pPr>
              <a:buNone/>
              <a:defRPr sz="2850" b="1">
                <a:solidFill>
                  <a:srgbClr val="10263B"/>
                </a:solidFill>
              </a:defRPr>
            </a:lvl6pPr>
            <a:lvl7pPr>
              <a:buNone/>
              <a:defRPr sz="2850" b="1">
                <a:solidFill>
                  <a:srgbClr val="10263B"/>
                </a:solidFill>
              </a:defRPr>
            </a:lvl7pPr>
            <a:lvl8pPr>
              <a:buNone/>
              <a:defRPr sz="2850" b="1">
                <a:solidFill>
                  <a:srgbClr val="10263B"/>
                </a:solidFill>
              </a:defRPr>
            </a:lvl8pPr>
            <a:lvl9pPr>
              <a:buNone/>
              <a:defRPr sz="2850" b="1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2850" b="1">
                <a:solidFill>
                  <a:srgbClr val="10263B"/>
                </a:solidFill>
              </a:defRPr>
            </a:pPr>
            <a:r>
              <a:rPr sz="2850" b="1">
                <a:solidFill>
                  <a:srgbClr val="10263B"/>
                </a:solidFill>
              </a:rPr>
              <a:t>Research that shaped the 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983EAD-7A93-492E-9536-7AFF3E5E3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381125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0263B"/>
                </a:solidFill>
              </a:defRPr>
            </a:defPPr>
            <a:lvl1pPr>
              <a:buNone/>
              <a:defRPr sz="1875" b="0">
                <a:solidFill>
                  <a:srgbClr val="10263B"/>
                </a:solidFill>
              </a:defRPr>
            </a:lvl1pPr>
            <a:lvl2pPr>
              <a:buNone/>
              <a:defRPr sz="1875" b="0">
                <a:solidFill>
                  <a:srgbClr val="10263B"/>
                </a:solidFill>
              </a:defRPr>
            </a:lvl2pPr>
            <a:lvl3pPr>
              <a:buNone/>
              <a:defRPr sz="1875" b="0">
                <a:solidFill>
                  <a:srgbClr val="10263B"/>
                </a:solidFill>
              </a:defRPr>
            </a:lvl3pPr>
            <a:lvl4pPr>
              <a:buNone/>
              <a:defRPr sz="1875" b="0">
                <a:solidFill>
                  <a:srgbClr val="10263B"/>
                </a:solidFill>
              </a:defRPr>
            </a:lvl4pPr>
            <a:lvl5pPr>
              <a:buNone/>
              <a:defRPr sz="1875" b="0">
                <a:solidFill>
                  <a:srgbClr val="10263B"/>
                </a:solidFill>
              </a:defRPr>
            </a:lvl5pPr>
            <a:lvl6pPr>
              <a:buNone/>
              <a:defRPr sz="1875" b="0">
                <a:solidFill>
                  <a:srgbClr val="10263B"/>
                </a:solidFill>
              </a:defRPr>
            </a:lvl6pPr>
            <a:lvl7pPr>
              <a:buNone/>
              <a:defRPr sz="1875" b="0">
                <a:solidFill>
                  <a:srgbClr val="10263B"/>
                </a:solidFill>
              </a:defRPr>
            </a:lvl7pPr>
            <a:lvl8pPr>
              <a:buNone/>
              <a:defRPr sz="1875" b="0">
                <a:solidFill>
                  <a:srgbClr val="10263B"/>
                </a:solidFill>
              </a:defRPr>
            </a:lvl8pPr>
            <a:lvl9pPr>
              <a:buNone/>
              <a:defRPr sz="1875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0263B"/>
                </a:solidFill>
              </a:defRPr>
            </a:pPr>
            <a:r>
              <a:rPr sz="1875" b="0">
                <a:solidFill>
                  <a:srgbClr val="10263B"/>
                </a:solidFill>
              </a:rPr>
              <a:t>PanDerm: a dermatology foundation encoder can transfer to lesion classification with a trained head.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245763-4678-4631-9711-5D3B6BF3B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71700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0263B"/>
                </a:solidFill>
              </a:defRPr>
            </a:defPPr>
            <a:lvl1pPr>
              <a:buNone/>
              <a:defRPr sz="1875" b="0">
                <a:solidFill>
                  <a:srgbClr val="10263B"/>
                </a:solidFill>
              </a:defRPr>
            </a:lvl1pPr>
            <a:lvl2pPr>
              <a:buNone/>
              <a:defRPr sz="1875" b="0">
                <a:solidFill>
                  <a:srgbClr val="10263B"/>
                </a:solidFill>
              </a:defRPr>
            </a:lvl2pPr>
            <a:lvl3pPr>
              <a:buNone/>
              <a:defRPr sz="1875" b="0">
                <a:solidFill>
                  <a:srgbClr val="10263B"/>
                </a:solidFill>
              </a:defRPr>
            </a:lvl3pPr>
            <a:lvl4pPr>
              <a:buNone/>
              <a:defRPr sz="1875" b="0">
                <a:solidFill>
                  <a:srgbClr val="10263B"/>
                </a:solidFill>
              </a:defRPr>
            </a:lvl4pPr>
            <a:lvl5pPr>
              <a:buNone/>
              <a:defRPr sz="1875" b="0">
                <a:solidFill>
                  <a:srgbClr val="10263B"/>
                </a:solidFill>
              </a:defRPr>
            </a:lvl5pPr>
            <a:lvl6pPr>
              <a:buNone/>
              <a:defRPr sz="1875" b="0">
                <a:solidFill>
                  <a:srgbClr val="10263B"/>
                </a:solidFill>
              </a:defRPr>
            </a:lvl6pPr>
            <a:lvl7pPr>
              <a:buNone/>
              <a:defRPr sz="1875" b="0">
                <a:solidFill>
                  <a:srgbClr val="10263B"/>
                </a:solidFill>
              </a:defRPr>
            </a:lvl7pPr>
            <a:lvl8pPr>
              <a:buNone/>
              <a:defRPr sz="1875" b="0">
                <a:solidFill>
                  <a:srgbClr val="10263B"/>
                </a:solidFill>
              </a:defRPr>
            </a:lvl8pPr>
            <a:lvl9pPr>
              <a:buNone/>
              <a:defRPr sz="1875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0263B"/>
                </a:solidFill>
              </a:defRPr>
            </a:pPr>
            <a:r>
              <a:rPr sz="1875" b="0">
                <a:solidFill>
                  <a:srgbClr val="10263B"/>
                </a:solidFill>
              </a:rPr>
              <a:t>Multi-scale CNN research motivated looking at images in multiple views.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D0F15A-1BC2-4114-BD6A-E17DC5B45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962275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0263B"/>
                </a:solidFill>
              </a:defRPr>
            </a:defPPr>
            <a:lvl1pPr>
              <a:buNone/>
              <a:defRPr sz="1875" b="0">
                <a:solidFill>
                  <a:srgbClr val="10263B"/>
                </a:solidFill>
              </a:defRPr>
            </a:lvl1pPr>
            <a:lvl2pPr>
              <a:buNone/>
              <a:defRPr sz="1875" b="0">
                <a:solidFill>
                  <a:srgbClr val="10263B"/>
                </a:solidFill>
              </a:defRPr>
            </a:lvl2pPr>
            <a:lvl3pPr>
              <a:buNone/>
              <a:defRPr sz="1875" b="0">
                <a:solidFill>
                  <a:srgbClr val="10263B"/>
                </a:solidFill>
              </a:defRPr>
            </a:lvl3pPr>
            <a:lvl4pPr>
              <a:buNone/>
              <a:defRPr sz="1875" b="0">
                <a:solidFill>
                  <a:srgbClr val="10263B"/>
                </a:solidFill>
              </a:defRPr>
            </a:lvl4pPr>
            <a:lvl5pPr>
              <a:buNone/>
              <a:defRPr sz="1875" b="0">
                <a:solidFill>
                  <a:srgbClr val="10263B"/>
                </a:solidFill>
              </a:defRPr>
            </a:lvl5pPr>
            <a:lvl6pPr>
              <a:buNone/>
              <a:defRPr sz="1875" b="0">
                <a:solidFill>
                  <a:srgbClr val="10263B"/>
                </a:solidFill>
              </a:defRPr>
            </a:lvl6pPr>
            <a:lvl7pPr>
              <a:buNone/>
              <a:defRPr sz="1875" b="0">
                <a:solidFill>
                  <a:srgbClr val="10263B"/>
                </a:solidFill>
              </a:defRPr>
            </a:lvl7pPr>
            <a:lvl8pPr>
              <a:buNone/>
              <a:defRPr sz="1875" b="0">
                <a:solidFill>
                  <a:srgbClr val="10263B"/>
                </a:solidFill>
              </a:defRPr>
            </a:lvl8pPr>
            <a:lvl9pPr>
              <a:buNone/>
              <a:defRPr sz="1875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0263B"/>
                </a:solidFill>
              </a:defRPr>
            </a:pPr>
            <a:r>
              <a:rPr sz="1875" b="0">
                <a:solidFill>
                  <a:srgbClr val="10263B"/>
                </a:solidFill>
              </a:rPr>
              <a:t>Published scores use different datasets, splits and metrics, so direct rankings can mislead.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E840F0-B7E7-477F-9FBA-FB1E2FDFB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4B6070"/>
                </a:solidFill>
              </a:defRPr>
            </a:defPPr>
            <a:lvl1pPr>
              <a:buNone/>
              <a:defRPr sz="1050" b="0">
                <a:solidFill>
                  <a:srgbClr val="4B6070"/>
                </a:solidFill>
              </a:defRPr>
            </a:lvl1pPr>
            <a:lvl2pPr>
              <a:buNone/>
              <a:defRPr sz="1050" b="0">
                <a:solidFill>
                  <a:srgbClr val="4B6070"/>
                </a:solidFill>
              </a:defRPr>
            </a:lvl2pPr>
            <a:lvl3pPr>
              <a:buNone/>
              <a:defRPr sz="1050" b="0">
                <a:solidFill>
                  <a:srgbClr val="4B6070"/>
                </a:solidFill>
              </a:defRPr>
            </a:lvl3pPr>
            <a:lvl4pPr>
              <a:buNone/>
              <a:defRPr sz="1050" b="0">
                <a:solidFill>
                  <a:srgbClr val="4B6070"/>
                </a:solidFill>
              </a:defRPr>
            </a:lvl4pPr>
            <a:lvl5pPr>
              <a:buNone/>
              <a:defRPr sz="1050" b="0">
                <a:solidFill>
                  <a:srgbClr val="4B6070"/>
                </a:solidFill>
              </a:defRPr>
            </a:lvl5pPr>
            <a:lvl6pPr>
              <a:buNone/>
              <a:defRPr sz="1050" b="0">
                <a:solidFill>
                  <a:srgbClr val="4B6070"/>
                </a:solidFill>
              </a:defRPr>
            </a:lvl6pPr>
            <a:lvl7pPr>
              <a:buNone/>
              <a:defRPr sz="1050" b="0">
                <a:solidFill>
                  <a:srgbClr val="4B6070"/>
                </a:solidFill>
              </a:defRPr>
            </a:lvl7pPr>
            <a:lvl8pPr>
              <a:buNone/>
              <a:defRPr sz="1050" b="0">
                <a:solidFill>
                  <a:srgbClr val="4B6070"/>
                </a:solidFill>
              </a:defRPr>
            </a:lvl8pPr>
            <a:lvl9pPr>
              <a:buNone/>
              <a:defRPr sz="1050" b="0">
                <a:solidFill>
                  <a:srgbClr val="4B6070"/>
                </a:solidFill>
              </a:defRPr>
            </a:lvl9pPr>
          </a:lstStyle>
          <a:p xmlns:a="http://schemas.openxmlformats.org/drawingml/2006/main">
            <a:pPr>
              <a:buNone/>
              <a:defRPr sz="1050" b="0">
                <a:solidFill>
                  <a:srgbClr val="4B6070"/>
                </a:solidFill>
              </a:defRPr>
            </a:pPr>
            <a:r>
              <a:rPr sz="1050" b="0">
                <a:solidFill>
                  <a:srgbClr val="4B6070"/>
                </a:solidFill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52424119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FF42ED-89CD-47B8-8E81-57C845B9C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0263B"/>
                </a:solidFill>
              </a:defRPr>
            </a:defPPr>
            <a:lvl1pPr>
              <a:buNone/>
              <a:defRPr sz="2850" b="1">
                <a:solidFill>
                  <a:srgbClr val="10263B"/>
                </a:solidFill>
              </a:defRPr>
            </a:lvl1pPr>
            <a:lvl2pPr>
              <a:buNone/>
              <a:defRPr sz="2850" b="1">
                <a:solidFill>
                  <a:srgbClr val="10263B"/>
                </a:solidFill>
              </a:defRPr>
            </a:lvl2pPr>
            <a:lvl3pPr>
              <a:buNone/>
              <a:defRPr sz="2850" b="1">
                <a:solidFill>
                  <a:srgbClr val="10263B"/>
                </a:solidFill>
              </a:defRPr>
            </a:lvl3pPr>
            <a:lvl4pPr>
              <a:buNone/>
              <a:defRPr sz="2850" b="1">
                <a:solidFill>
                  <a:srgbClr val="10263B"/>
                </a:solidFill>
              </a:defRPr>
            </a:lvl4pPr>
            <a:lvl5pPr>
              <a:buNone/>
              <a:defRPr sz="2850" b="1">
                <a:solidFill>
                  <a:srgbClr val="10263B"/>
                </a:solidFill>
              </a:defRPr>
            </a:lvl5pPr>
            <a:lvl6pPr>
              <a:buNone/>
              <a:defRPr sz="2850" b="1">
                <a:solidFill>
                  <a:srgbClr val="10263B"/>
                </a:solidFill>
              </a:defRPr>
            </a:lvl6pPr>
            <a:lvl7pPr>
              <a:buNone/>
              <a:defRPr sz="2850" b="1">
                <a:solidFill>
                  <a:srgbClr val="10263B"/>
                </a:solidFill>
              </a:defRPr>
            </a:lvl7pPr>
            <a:lvl8pPr>
              <a:buNone/>
              <a:defRPr sz="2850" b="1">
                <a:solidFill>
                  <a:srgbClr val="10263B"/>
                </a:solidFill>
              </a:defRPr>
            </a:lvl8pPr>
            <a:lvl9pPr>
              <a:buNone/>
              <a:defRPr sz="2850" b="1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2850" b="1">
                <a:solidFill>
                  <a:srgbClr val="10263B"/>
                </a:solidFill>
              </a:defRPr>
            </a:pPr>
            <a:r>
              <a:rPr sz="2850" b="1">
                <a:solidFill>
                  <a:srgbClr val="10263B"/>
                </a:solidFill>
              </a:rPr>
              <a:t>Dataset and evaluation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294ECD-5DDC-4B08-89FD-24B204FFC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381125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0263B"/>
                </a:solidFill>
              </a:defRPr>
            </a:defPPr>
            <a:lvl1pPr>
              <a:buNone/>
              <a:defRPr sz="1875" b="0">
                <a:solidFill>
                  <a:srgbClr val="10263B"/>
                </a:solidFill>
              </a:defRPr>
            </a:lvl1pPr>
            <a:lvl2pPr>
              <a:buNone/>
              <a:defRPr sz="1875" b="0">
                <a:solidFill>
                  <a:srgbClr val="10263B"/>
                </a:solidFill>
              </a:defRPr>
            </a:lvl2pPr>
            <a:lvl3pPr>
              <a:buNone/>
              <a:defRPr sz="1875" b="0">
                <a:solidFill>
                  <a:srgbClr val="10263B"/>
                </a:solidFill>
              </a:defRPr>
            </a:lvl3pPr>
            <a:lvl4pPr>
              <a:buNone/>
              <a:defRPr sz="1875" b="0">
                <a:solidFill>
                  <a:srgbClr val="10263B"/>
                </a:solidFill>
              </a:defRPr>
            </a:lvl4pPr>
            <a:lvl5pPr>
              <a:buNone/>
              <a:defRPr sz="1875" b="0">
                <a:solidFill>
                  <a:srgbClr val="10263B"/>
                </a:solidFill>
              </a:defRPr>
            </a:lvl5pPr>
            <a:lvl6pPr>
              <a:buNone/>
              <a:defRPr sz="1875" b="0">
                <a:solidFill>
                  <a:srgbClr val="10263B"/>
                </a:solidFill>
              </a:defRPr>
            </a:lvl6pPr>
            <a:lvl7pPr>
              <a:buNone/>
              <a:defRPr sz="1875" b="0">
                <a:solidFill>
                  <a:srgbClr val="10263B"/>
                </a:solidFill>
              </a:defRPr>
            </a:lvl7pPr>
            <a:lvl8pPr>
              <a:buNone/>
              <a:defRPr sz="1875" b="0">
                <a:solidFill>
                  <a:srgbClr val="10263B"/>
                </a:solidFill>
              </a:defRPr>
            </a:lvl8pPr>
            <a:lvl9pPr>
              <a:buNone/>
              <a:defRPr sz="1875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0263B"/>
                </a:solidFill>
              </a:defRPr>
            </a:pPr>
            <a:r>
              <a:rPr sz="1875" b="0">
                <a:solidFill>
                  <a:srgbClr val="10263B"/>
                </a:solidFill>
              </a:rPr>
              <a:t>HAM10000: 10,015 dermoscopic images across seven diagnoses.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FB43DF-256D-4B10-A645-132DEB262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71700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0263B"/>
                </a:solidFill>
              </a:defRPr>
            </a:defPPr>
            <a:lvl1pPr>
              <a:buNone/>
              <a:defRPr sz="1875" b="0">
                <a:solidFill>
                  <a:srgbClr val="10263B"/>
                </a:solidFill>
              </a:defRPr>
            </a:lvl1pPr>
            <a:lvl2pPr>
              <a:buNone/>
              <a:defRPr sz="1875" b="0">
                <a:solidFill>
                  <a:srgbClr val="10263B"/>
                </a:solidFill>
              </a:defRPr>
            </a:lvl2pPr>
            <a:lvl3pPr>
              <a:buNone/>
              <a:defRPr sz="1875" b="0">
                <a:solidFill>
                  <a:srgbClr val="10263B"/>
                </a:solidFill>
              </a:defRPr>
            </a:lvl3pPr>
            <a:lvl4pPr>
              <a:buNone/>
              <a:defRPr sz="1875" b="0">
                <a:solidFill>
                  <a:srgbClr val="10263B"/>
                </a:solidFill>
              </a:defRPr>
            </a:lvl4pPr>
            <a:lvl5pPr>
              <a:buNone/>
              <a:defRPr sz="1875" b="0">
                <a:solidFill>
                  <a:srgbClr val="10263B"/>
                </a:solidFill>
              </a:defRPr>
            </a:lvl5pPr>
            <a:lvl6pPr>
              <a:buNone/>
              <a:defRPr sz="1875" b="0">
                <a:solidFill>
                  <a:srgbClr val="10263B"/>
                </a:solidFill>
              </a:defRPr>
            </a:lvl6pPr>
            <a:lvl7pPr>
              <a:buNone/>
              <a:defRPr sz="1875" b="0">
                <a:solidFill>
                  <a:srgbClr val="10263B"/>
                </a:solidFill>
              </a:defRPr>
            </a:lvl7pPr>
            <a:lvl8pPr>
              <a:buNone/>
              <a:defRPr sz="1875" b="0">
                <a:solidFill>
                  <a:srgbClr val="10263B"/>
                </a:solidFill>
              </a:defRPr>
            </a:lvl8pPr>
            <a:lvl9pPr>
              <a:buNone/>
              <a:defRPr sz="1875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0263B"/>
                </a:solidFill>
              </a:defRPr>
            </a:pPr>
            <a:r>
              <a:rPr sz="1875" b="0">
                <a:solidFill>
                  <a:srgbClr val="10263B"/>
                </a:solidFill>
              </a:rPr>
              <a:t>Our internal split: 7,014 training, 1,509 validation and 1,492 test images.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0293D7-142B-4DF0-8019-DA9432515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962275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0263B"/>
                </a:solidFill>
              </a:defRPr>
            </a:defPPr>
            <a:lvl1pPr>
              <a:buNone/>
              <a:defRPr sz="1875" b="0">
                <a:solidFill>
                  <a:srgbClr val="10263B"/>
                </a:solidFill>
              </a:defRPr>
            </a:lvl1pPr>
            <a:lvl2pPr>
              <a:buNone/>
              <a:defRPr sz="1875" b="0">
                <a:solidFill>
                  <a:srgbClr val="10263B"/>
                </a:solidFill>
              </a:defRPr>
            </a:lvl2pPr>
            <a:lvl3pPr>
              <a:buNone/>
              <a:defRPr sz="1875" b="0">
                <a:solidFill>
                  <a:srgbClr val="10263B"/>
                </a:solidFill>
              </a:defRPr>
            </a:lvl3pPr>
            <a:lvl4pPr>
              <a:buNone/>
              <a:defRPr sz="1875" b="0">
                <a:solidFill>
                  <a:srgbClr val="10263B"/>
                </a:solidFill>
              </a:defRPr>
            </a:lvl4pPr>
            <a:lvl5pPr>
              <a:buNone/>
              <a:defRPr sz="1875" b="0">
                <a:solidFill>
                  <a:srgbClr val="10263B"/>
                </a:solidFill>
              </a:defRPr>
            </a:lvl5pPr>
            <a:lvl6pPr>
              <a:buNone/>
              <a:defRPr sz="1875" b="0">
                <a:solidFill>
                  <a:srgbClr val="10263B"/>
                </a:solidFill>
              </a:defRPr>
            </a:lvl6pPr>
            <a:lvl7pPr>
              <a:buNone/>
              <a:defRPr sz="1875" b="0">
                <a:solidFill>
                  <a:srgbClr val="10263B"/>
                </a:solidFill>
              </a:defRPr>
            </a:lvl7pPr>
            <a:lvl8pPr>
              <a:buNone/>
              <a:defRPr sz="1875" b="0">
                <a:solidFill>
                  <a:srgbClr val="10263B"/>
                </a:solidFill>
              </a:defRPr>
            </a:lvl8pPr>
            <a:lvl9pPr>
              <a:buNone/>
              <a:defRPr sz="1875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0263B"/>
                </a:solidFill>
              </a:defRPr>
            </a:pPr>
            <a:r>
              <a:rPr sz="1875" b="0">
                <a:solidFill>
                  <a:srgbClr val="10263B"/>
                </a:solidFill>
              </a:rPr>
              <a:t>Images of the same lesion stay together within these internal splits.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26A2CD-D660-4391-BEA1-0FDCF9A2E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752850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0263B"/>
                </a:solidFill>
              </a:defRPr>
            </a:defPPr>
            <a:lvl1pPr>
              <a:buNone/>
              <a:defRPr sz="1875" b="0">
                <a:solidFill>
                  <a:srgbClr val="10263B"/>
                </a:solidFill>
              </a:defRPr>
            </a:lvl1pPr>
            <a:lvl2pPr>
              <a:buNone/>
              <a:defRPr sz="1875" b="0">
                <a:solidFill>
                  <a:srgbClr val="10263B"/>
                </a:solidFill>
              </a:defRPr>
            </a:lvl2pPr>
            <a:lvl3pPr>
              <a:buNone/>
              <a:defRPr sz="1875" b="0">
                <a:solidFill>
                  <a:srgbClr val="10263B"/>
                </a:solidFill>
              </a:defRPr>
            </a:lvl3pPr>
            <a:lvl4pPr>
              <a:buNone/>
              <a:defRPr sz="1875" b="0">
                <a:solidFill>
                  <a:srgbClr val="10263B"/>
                </a:solidFill>
              </a:defRPr>
            </a:lvl4pPr>
            <a:lvl5pPr>
              <a:buNone/>
              <a:defRPr sz="1875" b="0">
                <a:solidFill>
                  <a:srgbClr val="10263B"/>
                </a:solidFill>
              </a:defRPr>
            </a:lvl5pPr>
            <a:lvl6pPr>
              <a:buNone/>
              <a:defRPr sz="1875" b="0">
                <a:solidFill>
                  <a:srgbClr val="10263B"/>
                </a:solidFill>
              </a:defRPr>
            </a:lvl6pPr>
            <a:lvl7pPr>
              <a:buNone/>
              <a:defRPr sz="1875" b="0">
                <a:solidFill>
                  <a:srgbClr val="10263B"/>
                </a:solidFill>
              </a:defRPr>
            </a:lvl7pPr>
            <a:lvl8pPr>
              <a:buNone/>
              <a:defRPr sz="1875" b="0">
                <a:solidFill>
                  <a:srgbClr val="10263B"/>
                </a:solidFill>
              </a:defRPr>
            </a:lvl8pPr>
            <a:lvl9pPr>
              <a:buNone/>
              <a:defRPr sz="1875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0263B"/>
                </a:solidFill>
              </a:defRPr>
            </a:pPr>
            <a:r>
              <a:rPr sz="1875" b="0">
                <a:solidFill>
                  <a:srgbClr val="10263B"/>
                </a:solidFill>
              </a:rPr>
              <a:t>Separate ISIC sets: 193 validation and 1,512 test images.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BDD2C5-58D9-4B89-9A39-07A77DEF5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4B6070"/>
                </a:solidFill>
              </a:defRPr>
            </a:defPPr>
            <a:lvl1pPr>
              <a:buNone/>
              <a:defRPr sz="1050" b="0">
                <a:solidFill>
                  <a:srgbClr val="4B6070"/>
                </a:solidFill>
              </a:defRPr>
            </a:lvl1pPr>
            <a:lvl2pPr>
              <a:buNone/>
              <a:defRPr sz="1050" b="0">
                <a:solidFill>
                  <a:srgbClr val="4B6070"/>
                </a:solidFill>
              </a:defRPr>
            </a:lvl2pPr>
            <a:lvl3pPr>
              <a:buNone/>
              <a:defRPr sz="1050" b="0">
                <a:solidFill>
                  <a:srgbClr val="4B6070"/>
                </a:solidFill>
              </a:defRPr>
            </a:lvl3pPr>
            <a:lvl4pPr>
              <a:buNone/>
              <a:defRPr sz="1050" b="0">
                <a:solidFill>
                  <a:srgbClr val="4B6070"/>
                </a:solidFill>
              </a:defRPr>
            </a:lvl4pPr>
            <a:lvl5pPr>
              <a:buNone/>
              <a:defRPr sz="1050" b="0">
                <a:solidFill>
                  <a:srgbClr val="4B6070"/>
                </a:solidFill>
              </a:defRPr>
            </a:lvl5pPr>
            <a:lvl6pPr>
              <a:buNone/>
              <a:defRPr sz="1050" b="0">
                <a:solidFill>
                  <a:srgbClr val="4B6070"/>
                </a:solidFill>
              </a:defRPr>
            </a:lvl6pPr>
            <a:lvl7pPr>
              <a:buNone/>
              <a:defRPr sz="1050" b="0">
                <a:solidFill>
                  <a:srgbClr val="4B6070"/>
                </a:solidFill>
              </a:defRPr>
            </a:lvl7pPr>
            <a:lvl8pPr>
              <a:buNone/>
              <a:defRPr sz="1050" b="0">
                <a:solidFill>
                  <a:srgbClr val="4B6070"/>
                </a:solidFill>
              </a:defRPr>
            </a:lvl8pPr>
            <a:lvl9pPr>
              <a:buNone/>
              <a:defRPr sz="1050" b="0">
                <a:solidFill>
                  <a:srgbClr val="4B6070"/>
                </a:solidFill>
              </a:defRPr>
            </a:lvl9pPr>
          </a:lstStyle>
          <a:p xmlns:a="http://schemas.openxmlformats.org/drawingml/2006/main">
            <a:pPr>
              <a:buNone/>
              <a:defRPr sz="1050" b="0">
                <a:solidFill>
                  <a:srgbClr val="4B6070"/>
                </a:solidFill>
              </a:defRPr>
            </a:pPr>
            <a:r>
              <a:rPr sz="1050" b="0">
                <a:solidFill>
                  <a:srgbClr val="4B6070"/>
                </a:solidFill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55716795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3D1CCF-E0AB-49BF-A176-823BB85B2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0263B"/>
                </a:solidFill>
              </a:defRPr>
            </a:defPPr>
            <a:lvl1pPr>
              <a:buNone/>
              <a:defRPr sz="2850" b="1">
                <a:solidFill>
                  <a:srgbClr val="10263B"/>
                </a:solidFill>
              </a:defRPr>
            </a:lvl1pPr>
            <a:lvl2pPr>
              <a:buNone/>
              <a:defRPr sz="2850" b="1">
                <a:solidFill>
                  <a:srgbClr val="10263B"/>
                </a:solidFill>
              </a:defRPr>
            </a:lvl2pPr>
            <a:lvl3pPr>
              <a:buNone/>
              <a:defRPr sz="2850" b="1">
                <a:solidFill>
                  <a:srgbClr val="10263B"/>
                </a:solidFill>
              </a:defRPr>
            </a:lvl3pPr>
            <a:lvl4pPr>
              <a:buNone/>
              <a:defRPr sz="2850" b="1">
                <a:solidFill>
                  <a:srgbClr val="10263B"/>
                </a:solidFill>
              </a:defRPr>
            </a:lvl4pPr>
            <a:lvl5pPr>
              <a:buNone/>
              <a:defRPr sz="2850" b="1">
                <a:solidFill>
                  <a:srgbClr val="10263B"/>
                </a:solidFill>
              </a:defRPr>
            </a:lvl5pPr>
            <a:lvl6pPr>
              <a:buNone/>
              <a:defRPr sz="2850" b="1">
                <a:solidFill>
                  <a:srgbClr val="10263B"/>
                </a:solidFill>
              </a:defRPr>
            </a:lvl6pPr>
            <a:lvl7pPr>
              <a:buNone/>
              <a:defRPr sz="2850" b="1">
                <a:solidFill>
                  <a:srgbClr val="10263B"/>
                </a:solidFill>
              </a:defRPr>
            </a:lvl7pPr>
            <a:lvl8pPr>
              <a:buNone/>
              <a:defRPr sz="2850" b="1">
                <a:solidFill>
                  <a:srgbClr val="10263B"/>
                </a:solidFill>
              </a:defRPr>
            </a:lvl8pPr>
            <a:lvl9pPr>
              <a:buNone/>
              <a:defRPr sz="2850" b="1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2850" b="1">
                <a:solidFill>
                  <a:srgbClr val="10263B"/>
                </a:solidFill>
              </a:defRPr>
            </a:pPr>
            <a:r>
              <a:rPr sz="2850" b="1">
                <a:solidFill>
                  <a:srgbClr val="10263B"/>
                </a:solidFill>
              </a:rPr>
              <a:t>What the models see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1D69DF-E4F7-4034-A34A-DE0212539BD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d5700a2ba8475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4375" y="1524000"/>
            <a:ext cx="3238500" cy="2428875"/>
          </a:xfrm>
          <a:prstGeom xmlns:a="http://schemas.openxmlformats.org/drawingml/2006/main" prst="rect">
            <a:avLst/>
          </a:prstGeom>
        </p:spPr>
      </p:pic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DA0E98-53CD-4E93-95A7-E2BE3F599C0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a45602f26f428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29125" y="1524000"/>
            <a:ext cx="3238500" cy="2428875"/>
          </a:xfrm>
          <a:prstGeom xmlns:a="http://schemas.openxmlformats.org/drawingml/2006/main" prst="rect">
            <a:avLst/>
          </a:prstGeom>
        </p:spPr>
      </p:pic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192604-C314-4A8C-BB0B-0CF93336330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36583d1049426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43875" y="1524000"/>
            <a:ext cx="3238500" cy="24288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5B042B-AC2C-4A1F-AE6E-E906357F9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400550"/>
            <a:ext cx="1009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0263B"/>
                </a:solidFill>
              </a:defRPr>
            </a:defPPr>
            <a:lvl1pPr>
              <a:buNone/>
              <a:defRPr sz="1950" b="1">
                <a:solidFill>
                  <a:srgbClr val="10263B"/>
                </a:solidFill>
              </a:defRPr>
            </a:lvl1pPr>
            <a:lvl2pPr>
              <a:buNone/>
              <a:defRPr sz="1950" b="1">
                <a:solidFill>
                  <a:srgbClr val="10263B"/>
                </a:solidFill>
              </a:defRPr>
            </a:lvl2pPr>
            <a:lvl3pPr>
              <a:buNone/>
              <a:defRPr sz="1950" b="1">
                <a:solidFill>
                  <a:srgbClr val="10263B"/>
                </a:solidFill>
              </a:defRPr>
            </a:lvl3pPr>
            <a:lvl4pPr>
              <a:buNone/>
              <a:defRPr sz="1950" b="1">
                <a:solidFill>
                  <a:srgbClr val="10263B"/>
                </a:solidFill>
              </a:defRPr>
            </a:lvl4pPr>
            <a:lvl5pPr>
              <a:buNone/>
              <a:defRPr sz="1950" b="1">
                <a:solidFill>
                  <a:srgbClr val="10263B"/>
                </a:solidFill>
              </a:defRPr>
            </a:lvl5pPr>
            <a:lvl6pPr>
              <a:buNone/>
              <a:defRPr sz="1950" b="1">
                <a:solidFill>
                  <a:srgbClr val="10263B"/>
                </a:solidFill>
              </a:defRPr>
            </a:lvl6pPr>
            <a:lvl7pPr>
              <a:buNone/>
              <a:defRPr sz="1950" b="1">
                <a:solidFill>
                  <a:srgbClr val="10263B"/>
                </a:solidFill>
              </a:defRPr>
            </a:lvl7pPr>
            <a:lvl8pPr>
              <a:buNone/>
              <a:defRPr sz="1950" b="1">
                <a:solidFill>
                  <a:srgbClr val="10263B"/>
                </a:solidFill>
              </a:defRPr>
            </a:lvl8pPr>
            <a:lvl9pPr>
              <a:buNone/>
              <a:defRPr sz="1950" b="1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1950" b="1">
                <a:solidFill>
                  <a:srgbClr val="10263B"/>
                </a:solidFill>
              </a:defRPr>
            </a:pPr>
            <a:r>
              <a:rPr sz="1950" b="1">
                <a:solidFill>
                  <a:srgbClr val="10263B"/>
                </a:solidFill>
              </a:rPr>
              <a:t>Dermoscopic images vary in color, shape and texture.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8F3CD5-427D-418A-9874-58E8BA1FE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000625"/>
            <a:ext cx="1038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0263B"/>
                </a:solidFill>
              </a:defRPr>
            </a:defPPr>
            <a:lvl1pPr>
              <a:buNone/>
              <a:defRPr sz="1725" b="0">
                <a:solidFill>
                  <a:srgbClr val="10263B"/>
                </a:solidFill>
              </a:defRPr>
            </a:lvl1pPr>
            <a:lvl2pPr>
              <a:buNone/>
              <a:defRPr sz="1725" b="0">
                <a:solidFill>
                  <a:srgbClr val="10263B"/>
                </a:solidFill>
              </a:defRPr>
            </a:lvl2pPr>
            <a:lvl3pPr>
              <a:buNone/>
              <a:defRPr sz="1725" b="0">
                <a:solidFill>
                  <a:srgbClr val="10263B"/>
                </a:solidFill>
              </a:defRPr>
            </a:lvl3pPr>
            <a:lvl4pPr>
              <a:buNone/>
              <a:defRPr sz="1725" b="0">
                <a:solidFill>
                  <a:srgbClr val="10263B"/>
                </a:solidFill>
              </a:defRPr>
            </a:lvl4pPr>
            <a:lvl5pPr>
              <a:buNone/>
              <a:defRPr sz="1725" b="0">
                <a:solidFill>
                  <a:srgbClr val="10263B"/>
                </a:solidFill>
              </a:defRPr>
            </a:lvl5pPr>
            <a:lvl6pPr>
              <a:buNone/>
              <a:defRPr sz="1725" b="0">
                <a:solidFill>
                  <a:srgbClr val="10263B"/>
                </a:solidFill>
              </a:defRPr>
            </a:lvl6pPr>
            <a:lvl7pPr>
              <a:buNone/>
              <a:defRPr sz="1725" b="0">
                <a:solidFill>
                  <a:srgbClr val="10263B"/>
                </a:solidFill>
              </a:defRPr>
            </a:lvl7pPr>
            <a:lvl8pPr>
              <a:buNone/>
              <a:defRPr sz="1725" b="0">
                <a:solidFill>
                  <a:srgbClr val="10263B"/>
                </a:solidFill>
              </a:defRPr>
            </a:lvl8pPr>
            <a:lvl9pPr>
              <a:buNone/>
              <a:defRPr sz="1725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10263B"/>
                </a:solidFill>
              </a:defRPr>
            </a:pPr>
            <a:r>
              <a:rPr sz="1725" b="0">
                <a:solidFill>
                  <a:srgbClr val="10263B"/>
                </a:solidFill>
              </a:rPr>
              <a:t>The model learns visual features from images, then predicts one of seven classes.</a:t>
            </a:r>
          </a:p>
        </p:txBody>
      </p:sp>
    </p:spTree>
    <p:extLst>
      <p:ext uri="{BB962C8B-B14F-4D97-AF65-F5344CB8AC3E}">
        <p14:creationId xmlns:p14="http://schemas.microsoft.com/office/powerpoint/2010/main" val="24251658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F27D32-F4AB-496C-8526-7207D9177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0263B"/>
                </a:solidFill>
              </a:defRPr>
            </a:defPPr>
            <a:lvl1pPr>
              <a:defRPr sz="2850" b="1">
                <a:solidFill>
                  <a:srgbClr val="10263B"/>
                </a:solidFill>
              </a:defRPr>
            </a:lvl1pPr>
            <a:lvl2pPr>
              <a:defRPr sz="2850" b="1">
                <a:solidFill>
                  <a:srgbClr val="10263B"/>
                </a:solidFill>
              </a:defRPr>
            </a:lvl2pPr>
            <a:lvl3pPr>
              <a:defRPr sz="2850" b="1">
                <a:solidFill>
                  <a:srgbClr val="10263B"/>
                </a:solidFill>
              </a:defRPr>
            </a:lvl3pPr>
            <a:lvl4pPr>
              <a:defRPr sz="2850" b="1">
                <a:solidFill>
                  <a:srgbClr val="10263B"/>
                </a:solidFill>
              </a:defRPr>
            </a:lvl4pPr>
            <a:lvl5pPr>
              <a:defRPr sz="2850" b="1">
                <a:solidFill>
                  <a:srgbClr val="10263B"/>
                </a:solidFill>
              </a:defRPr>
            </a:lvl5pPr>
            <a:lvl6pPr>
              <a:defRPr sz="2850" b="1">
                <a:solidFill>
                  <a:srgbClr val="10263B"/>
                </a:solidFill>
              </a:defRPr>
            </a:lvl6pPr>
            <a:lvl7pPr>
              <a:defRPr sz="2850" b="1">
                <a:solidFill>
                  <a:srgbClr val="10263B"/>
                </a:solidFill>
              </a:defRPr>
            </a:lvl7pPr>
            <a:lvl8pPr>
              <a:defRPr sz="2850" b="1">
                <a:solidFill>
                  <a:srgbClr val="10263B"/>
                </a:solidFill>
              </a:defRPr>
            </a:lvl8pPr>
            <a:lvl9pPr>
              <a:defRPr sz="2850" b="1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0263B"/>
                </a:solidFill>
              </a:defRPr>
            </a:pPr>
            <a:r>
              <a:rPr sz="2850" b="1">
                <a:solidFill>
                  <a:srgbClr val="10263B"/>
                </a:solidFill>
              </a:rPr>
              <a:t>How images become model features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B1F2E3-4BC6-49B0-BB49-BE03415E429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e1078779554454"/>
          <a:stretch xmlns:a="http://schemas.openxmlformats.org/drawingml/2006/main"/>
        </p:blipFill>
        <p:spPr>
          <a:xfrm xmlns:a="http://schemas.openxmlformats.org/drawingml/2006/main">
            <a:off x="2238375" y="1257300"/>
            <a:ext cx="7715250" cy="3857625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4723EF-2D6F-4DD6-8777-D397F6F8E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28637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0263B"/>
                </a:solidFill>
              </a:defRPr>
            </a:defPPr>
            <a:lvl1pPr>
              <a:defRPr sz="1875" b="1">
                <a:solidFill>
                  <a:srgbClr val="10263B"/>
                </a:solidFill>
              </a:defRPr>
            </a:lvl1pPr>
            <a:lvl2pPr>
              <a:defRPr sz="1875" b="1">
                <a:solidFill>
                  <a:srgbClr val="10263B"/>
                </a:solidFill>
              </a:defRPr>
            </a:lvl2pPr>
            <a:lvl3pPr>
              <a:defRPr sz="1875" b="1">
                <a:solidFill>
                  <a:srgbClr val="10263B"/>
                </a:solidFill>
              </a:defRPr>
            </a:lvl3pPr>
            <a:lvl4pPr>
              <a:defRPr sz="1875" b="1">
                <a:solidFill>
                  <a:srgbClr val="10263B"/>
                </a:solidFill>
              </a:defRPr>
            </a:lvl4pPr>
            <a:lvl5pPr>
              <a:defRPr sz="1875" b="1">
                <a:solidFill>
                  <a:srgbClr val="10263B"/>
                </a:solidFill>
              </a:defRPr>
            </a:lvl5pPr>
            <a:lvl6pPr>
              <a:defRPr sz="1875" b="1">
                <a:solidFill>
                  <a:srgbClr val="10263B"/>
                </a:solidFill>
              </a:defRPr>
            </a:lvl6pPr>
            <a:lvl7pPr>
              <a:defRPr sz="1875" b="1">
                <a:solidFill>
                  <a:srgbClr val="10263B"/>
                </a:solidFill>
              </a:defRPr>
            </a:lvl7pPr>
            <a:lvl8pPr>
              <a:defRPr sz="1875" b="1">
                <a:solidFill>
                  <a:srgbClr val="10263B"/>
                </a:solidFill>
              </a:defRPr>
            </a:lvl8pPr>
            <a:lvl9pPr>
              <a:defRPr sz="1875" b="1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0263B"/>
                </a:solidFill>
              </a:defRPr>
            </a:pPr>
            <a:r>
              <a:rPr sz="1875" b="1">
                <a:solidFill>
                  <a:srgbClr val="10263B"/>
                </a:solidFill>
              </a:rPr>
              <a:t>The encoder converts visual patterns into numerical features for a classifier.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B67DE1-2171-4BEF-A1EE-E73799C7D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0550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4B6070"/>
                </a:solidFill>
              </a:defRPr>
            </a:defPPr>
            <a:lvl1pPr>
              <a:defRPr sz="1275" b="0">
                <a:solidFill>
                  <a:srgbClr val="4B6070"/>
                </a:solidFill>
              </a:defRPr>
            </a:lvl1pPr>
            <a:lvl2pPr>
              <a:defRPr sz="1275" b="0">
                <a:solidFill>
                  <a:srgbClr val="4B6070"/>
                </a:solidFill>
              </a:defRPr>
            </a:lvl2pPr>
            <a:lvl3pPr>
              <a:defRPr sz="1275" b="0">
                <a:solidFill>
                  <a:srgbClr val="4B6070"/>
                </a:solidFill>
              </a:defRPr>
            </a:lvl3pPr>
            <a:lvl4pPr>
              <a:defRPr sz="1275" b="0">
                <a:solidFill>
                  <a:srgbClr val="4B6070"/>
                </a:solidFill>
              </a:defRPr>
            </a:lvl4pPr>
            <a:lvl5pPr>
              <a:defRPr sz="1275" b="0">
                <a:solidFill>
                  <a:srgbClr val="4B6070"/>
                </a:solidFill>
              </a:defRPr>
            </a:lvl5pPr>
            <a:lvl6pPr>
              <a:defRPr sz="1275" b="0">
                <a:solidFill>
                  <a:srgbClr val="4B6070"/>
                </a:solidFill>
              </a:defRPr>
            </a:lvl6pPr>
            <a:lvl7pPr>
              <a:defRPr sz="1275" b="0">
                <a:solidFill>
                  <a:srgbClr val="4B6070"/>
                </a:solidFill>
              </a:defRPr>
            </a:lvl7pPr>
            <a:lvl8pPr>
              <a:defRPr sz="1275" b="0">
                <a:solidFill>
                  <a:srgbClr val="4B6070"/>
                </a:solidFill>
              </a:defRPr>
            </a:lvl8pPr>
            <a:lvl9pPr>
              <a:defRPr sz="1275" b="0">
                <a:solidFill>
                  <a:srgbClr val="4B6070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4B6070"/>
                </a:solidFill>
              </a:defRPr>
            </a:pPr>
            <a:r>
              <a:rPr sz="1275" b="0">
                <a:solidFill>
                  <a:srgbClr val="4B6070"/>
                </a:solidFill>
              </a:rPr>
              <a:t>Conceptual illustration</a:t>
            </a:r>
          </a:p>
        </p:txBody>
      </p:sp>
    </p:spTree>
    <p:extLst>
      <p:ext uri="{BB962C8B-B14F-4D97-AF65-F5344CB8AC3E}">
        <p14:creationId xmlns:p14="http://schemas.microsoft.com/office/powerpoint/2010/main" val="40116730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34A9ED-6BCF-40A7-B15E-A53774EF1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0263B"/>
                </a:solidFill>
              </a:defRPr>
            </a:defPPr>
            <a:lvl1pPr>
              <a:buNone/>
              <a:defRPr sz="2850" b="1">
                <a:solidFill>
                  <a:srgbClr val="10263B"/>
                </a:solidFill>
              </a:defRPr>
            </a:lvl1pPr>
            <a:lvl2pPr>
              <a:buNone/>
              <a:defRPr sz="2850" b="1">
                <a:solidFill>
                  <a:srgbClr val="10263B"/>
                </a:solidFill>
              </a:defRPr>
            </a:lvl2pPr>
            <a:lvl3pPr>
              <a:buNone/>
              <a:defRPr sz="2850" b="1">
                <a:solidFill>
                  <a:srgbClr val="10263B"/>
                </a:solidFill>
              </a:defRPr>
            </a:lvl3pPr>
            <a:lvl4pPr>
              <a:buNone/>
              <a:defRPr sz="2850" b="1">
                <a:solidFill>
                  <a:srgbClr val="10263B"/>
                </a:solidFill>
              </a:defRPr>
            </a:lvl4pPr>
            <a:lvl5pPr>
              <a:buNone/>
              <a:defRPr sz="2850" b="1">
                <a:solidFill>
                  <a:srgbClr val="10263B"/>
                </a:solidFill>
              </a:defRPr>
            </a:lvl5pPr>
            <a:lvl6pPr>
              <a:buNone/>
              <a:defRPr sz="2850" b="1">
                <a:solidFill>
                  <a:srgbClr val="10263B"/>
                </a:solidFill>
              </a:defRPr>
            </a:lvl6pPr>
            <a:lvl7pPr>
              <a:buNone/>
              <a:defRPr sz="2850" b="1">
                <a:solidFill>
                  <a:srgbClr val="10263B"/>
                </a:solidFill>
              </a:defRPr>
            </a:lvl7pPr>
            <a:lvl8pPr>
              <a:buNone/>
              <a:defRPr sz="2850" b="1">
                <a:solidFill>
                  <a:srgbClr val="10263B"/>
                </a:solidFill>
              </a:defRPr>
            </a:lvl8pPr>
            <a:lvl9pPr>
              <a:buNone/>
              <a:defRPr sz="2850" b="1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2850" b="1">
                <a:solidFill>
                  <a:srgbClr val="10263B"/>
                </a:solidFill>
              </a:defRPr>
            </a:pPr>
            <a:r>
              <a:rPr sz="2850" b="1">
                <a:solidFill>
                  <a:srgbClr val="10263B"/>
                </a:solidFill>
              </a:rPr>
              <a:t>Our model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C6549A-1B43-4DE8-BE30-06556C29C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381125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0263B"/>
                </a:solidFill>
              </a:defRPr>
            </a:defPPr>
            <a:lvl1pPr>
              <a:buNone/>
              <a:defRPr sz="1875" b="0">
                <a:solidFill>
                  <a:srgbClr val="10263B"/>
                </a:solidFill>
              </a:defRPr>
            </a:lvl1pPr>
            <a:lvl2pPr>
              <a:buNone/>
              <a:defRPr sz="1875" b="0">
                <a:solidFill>
                  <a:srgbClr val="10263B"/>
                </a:solidFill>
              </a:defRPr>
            </a:lvl2pPr>
            <a:lvl3pPr>
              <a:buNone/>
              <a:defRPr sz="1875" b="0">
                <a:solidFill>
                  <a:srgbClr val="10263B"/>
                </a:solidFill>
              </a:defRPr>
            </a:lvl3pPr>
            <a:lvl4pPr>
              <a:buNone/>
              <a:defRPr sz="1875" b="0">
                <a:solidFill>
                  <a:srgbClr val="10263B"/>
                </a:solidFill>
              </a:defRPr>
            </a:lvl4pPr>
            <a:lvl5pPr>
              <a:buNone/>
              <a:defRPr sz="1875" b="0">
                <a:solidFill>
                  <a:srgbClr val="10263B"/>
                </a:solidFill>
              </a:defRPr>
            </a:lvl5pPr>
            <a:lvl6pPr>
              <a:buNone/>
              <a:defRPr sz="1875" b="0">
                <a:solidFill>
                  <a:srgbClr val="10263B"/>
                </a:solidFill>
              </a:defRPr>
            </a:lvl6pPr>
            <a:lvl7pPr>
              <a:buNone/>
              <a:defRPr sz="1875" b="0">
                <a:solidFill>
                  <a:srgbClr val="10263B"/>
                </a:solidFill>
              </a:defRPr>
            </a:lvl7pPr>
            <a:lvl8pPr>
              <a:buNone/>
              <a:defRPr sz="1875" b="0">
                <a:solidFill>
                  <a:srgbClr val="10263B"/>
                </a:solidFill>
              </a:defRPr>
            </a:lvl8pPr>
            <a:lvl9pPr>
              <a:buNone/>
              <a:defRPr sz="1875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0263B"/>
                </a:solidFill>
              </a:defRPr>
            </a:pPr>
            <a:r>
              <a:rPr sz="1875" b="0">
                <a:solidFill>
                  <a:srgbClr val="10263B"/>
                </a:solidFill>
              </a:rPr>
              <a:t>1   Prepare images and split by lesion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8246FD-63BA-44C3-8127-7662D6FD5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71700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0263B"/>
                </a:solidFill>
              </a:defRPr>
            </a:defPPr>
            <a:lvl1pPr>
              <a:buNone/>
              <a:defRPr sz="1875" b="0">
                <a:solidFill>
                  <a:srgbClr val="10263B"/>
                </a:solidFill>
              </a:defRPr>
            </a:lvl1pPr>
            <a:lvl2pPr>
              <a:buNone/>
              <a:defRPr sz="1875" b="0">
                <a:solidFill>
                  <a:srgbClr val="10263B"/>
                </a:solidFill>
              </a:defRPr>
            </a:lvl2pPr>
            <a:lvl3pPr>
              <a:buNone/>
              <a:defRPr sz="1875" b="0">
                <a:solidFill>
                  <a:srgbClr val="10263B"/>
                </a:solidFill>
              </a:defRPr>
            </a:lvl3pPr>
            <a:lvl4pPr>
              <a:buNone/>
              <a:defRPr sz="1875" b="0">
                <a:solidFill>
                  <a:srgbClr val="10263B"/>
                </a:solidFill>
              </a:defRPr>
            </a:lvl4pPr>
            <a:lvl5pPr>
              <a:buNone/>
              <a:defRPr sz="1875" b="0">
                <a:solidFill>
                  <a:srgbClr val="10263B"/>
                </a:solidFill>
              </a:defRPr>
            </a:lvl5pPr>
            <a:lvl6pPr>
              <a:buNone/>
              <a:defRPr sz="1875" b="0">
                <a:solidFill>
                  <a:srgbClr val="10263B"/>
                </a:solidFill>
              </a:defRPr>
            </a:lvl6pPr>
            <a:lvl7pPr>
              <a:buNone/>
              <a:defRPr sz="1875" b="0">
                <a:solidFill>
                  <a:srgbClr val="10263B"/>
                </a:solidFill>
              </a:defRPr>
            </a:lvl7pPr>
            <a:lvl8pPr>
              <a:buNone/>
              <a:defRPr sz="1875" b="0">
                <a:solidFill>
                  <a:srgbClr val="10263B"/>
                </a:solidFill>
              </a:defRPr>
            </a:lvl8pPr>
            <a:lvl9pPr>
              <a:buNone/>
              <a:defRPr sz="1875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0263B"/>
                </a:solidFill>
              </a:defRPr>
            </a:pPr>
            <a:r>
              <a:rPr sz="1875" b="0">
                <a:solidFill>
                  <a:srgbClr val="10263B"/>
                </a:solidFill>
              </a:rPr>
              <a:t>2   Extract features with a pretrained image encoder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9714AB-FD2E-4CB9-AB95-3521AEB9C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962275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0263B"/>
                </a:solidFill>
              </a:defRPr>
            </a:defPPr>
            <a:lvl1pPr>
              <a:buNone/>
              <a:defRPr sz="1875" b="0">
                <a:solidFill>
                  <a:srgbClr val="10263B"/>
                </a:solidFill>
              </a:defRPr>
            </a:lvl1pPr>
            <a:lvl2pPr>
              <a:buNone/>
              <a:defRPr sz="1875" b="0">
                <a:solidFill>
                  <a:srgbClr val="10263B"/>
                </a:solidFill>
              </a:defRPr>
            </a:lvl2pPr>
            <a:lvl3pPr>
              <a:buNone/>
              <a:defRPr sz="1875" b="0">
                <a:solidFill>
                  <a:srgbClr val="10263B"/>
                </a:solidFill>
              </a:defRPr>
            </a:lvl3pPr>
            <a:lvl4pPr>
              <a:buNone/>
              <a:defRPr sz="1875" b="0">
                <a:solidFill>
                  <a:srgbClr val="10263B"/>
                </a:solidFill>
              </a:defRPr>
            </a:lvl4pPr>
            <a:lvl5pPr>
              <a:buNone/>
              <a:defRPr sz="1875" b="0">
                <a:solidFill>
                  <a:srgbClr val="10263B"/>
                </a:solidFill>
              </a:defRPr>
            </a:lvl5pPr>
            <a:lvl6pPr>
              <a:buNone/>
              <a:defRPr sz="1875" b="0">
                <a:solidFill>
                  <a:srgbClr val="10263B"/>
                </a:solidFill>
              </a:defRPr>
            </a:lvl6pPr>
            <a:lvl7pPr>
              <a:buNone/>
              <a:defRPr sz="1875" b="0">
                <a:solidFill>
                  <a:srgbClr val="10263B"/>
                </a:solidFill>
              </a:defRPr>
            </a:lvl7pPr>
            <a:lvl8pPr>
              <a:buNone/>
              <a:defRPr sz="1875" b="0">
                <a:solidFill>
                  <a:srgbClr val="10263B"/>
                </a:solidFill>
              </a:defRPr>
            </a:lvl8pPr>
            <a:lvl9pPr>
              <a:buNone/>
              <a:defRPr sz="1875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0263B"/>
                </a:solidFill>
              </a:defRPr>
            </a:pPr>
            <a:r>
              <a:rPr sz="1875" b="0">
                <a:solidFill>
                  <a:srgbClr val="10263B"/>
                </a:solidFill>
              </a:rPr>
              <a:t>3   Train and select a classifier using training and validation data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ACFC09-39D3-496F-9BE6-298513825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752850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0263B"/>
                </a:solidFill>
              </a:defRPr>
            </a:defPPr>
            <a:lvl1pPr>
              <a:buNone/>
              <a:defRPr sz="1875" b="0">
                <a:solidFill>
                  <a:srgbClr val="10263B"/>
                </a:solidFill>
              </a:defRPr>
            </a:lvl1pPr>
            <a:lvl2pPr>
              <a:buNone/>
              <a:defRPr sz="1875" b="0">
                <a:solidFill>
                  <a:srgbClr val="10263B"/>
                </a:solidFill>
              </a:defRPr>
            </a:lvl2pPr>
            <a:lvl3pPr>
              <a:buNone/>
              <a:defRPr sz="1875" b="0">
                <a:solidFill>
                  <a:srgbClr val="10263B"/>
                </a:solidFill>
              </a:defRPr>
            </a:lvl3pPr>
            <a:lvl4pPr>
              <a:buNone/>
              <a:defRPr sz="1875" b="0">
                <a:solidFill>
                  <a:srgbClr val="10263B"/>
                </a:solidFill>
              </a:defRPr>
            </a:lvl4pPr>
            <a:lvl5pPr>
              <a:buNone/>
              <a:defRPr sz="1875" b="0">
                <a:solidFill>
                  <a:srgbClr val="10263B"/>
                </a:solidFill>
              </a:defRPr>
            </a:lvl5pPr>
            <a:lvl6pPr>
              <a:buNone/>
              <a:defRPr sz="1875" b="0">
                <a:solidFill>
                  <a:srgbClr val="10263B"/>
                </a:solidFill>
              </a:defRPr>
            </a:lvl6pPr>
            <a:lvl7pPr>
              <a:buNone/>
              <a:defRPr sz="1875" b="0">
                <a:solidFill>
                  <a:srgbClr val="10263B"/>
                </a:solidFill>
              </a:defRPr>
            </a:lvl7pPr>
            <a:lvl8pPr>
              <a:buNone/>
              <a:defRPr sz="1875" b="0">
                <a:solidFill>
                  <a:srgbClr val="10263B"/>
                </a:solidFill>
              </a:defRPr>
            </a:lvl8pPr>
            <a:lvl9pPr>
              <a:buNone/>
              <a:defRPr sz="1875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0263B"/>
                </a:solidFill>
              </a:defRPr>
            </a:pPr>
            <a:r>
              <a:rPr sz="1875" b="0">
                <a:solidFill>
                  <a:srgbClr val="10263B"/>
                </a:solidFill>
              </a:rPr>
              <a:t>4   Evaluate saved models on held-out sets and inspect class-level results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D2F11E-2184-4B20-8240-C9BB81664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4B6070"/>
                </a:solidFill>
              </a:defRPr>
            </a:defPPr>
            <a:lvl1pPr>
              <a:buNone/>
              <a:defRPr sz="1050" b="0">
                <a:solidFill>
                  <a:srgbClr val="4B6070"/>
                </a:solidFill>
              </a:defRPr>
            </a:lvl1pPr>
            <a:lvl2pPr>
              <a:buNone/>
              <a:defRPr sz="1050" b="0">
                <a:solidFill>
                  <a:srgbClr val="4B6070"/>
                </a:solidFill>
              </a:defRPr>
            </a:lvl2pPr>
            <a:lvl3pPr>
              <a:buNone/>
              <a:defRPr sz="1050" b="0">
                <a:solidFill>
                  <a:srgbClr val="4B6070"/>
                </a:solidFill>
              </a:defRPr>
            </a:lvl3pPr>
            <a:lvl4pPr>
              <a:buNone/>
              <a:defRPr sz="1050" b="0">
                <a:solidFill>
                  <a:srgbClr val="4B6070"/>
                </a:solidFill>
              </a:defRPr>
            </a:lvl4pPr>
            <a:lvl5pPr>
              <a:buNone/>
              <a:defRPr sz="1050" b="0">
                <a:solidFill>
                  <a:srgbClr val="4B6070"/>
                </a:solidFill>
              </a:defRPr>
            </a:lvl5pPr>
            <a:lvl6pPr>
              <a:buNone/>
              <a:defRPr sz="1050" b="0">
                <a:solidFill>
                  <a:srgbClr val="4B6070"/>
                </a:solidFill>
              </a:defRPr>
            </a:lvl6pPr>
            <a:lvl7pPr>
              <a:buNone/>
              <a:defRPr sz="1050" b="0">
                <a:solidFill>
                  <a:srgbClr val="4B6070"/>
                </a:solidFill>
              </a:defRPr>
            </a:lvl7pPr>
            <a:lvl8pPr>
              <a:buNone/>
              <a:defRPr sz="1050" b="0">
                <a:solidFill>
                  <a:srgbClr val="4B6070"/>
                </a:solidFill>
              </a:defRPr>
            </a:lvl8pPr>
            <a:lvl9pPr>
              <a:buNone/>
              <a:defRPr sz="1050" b="0">
                <a:solidFill>
                  <a:srgbClr val="4B6070"/>
                </a:solidFill>
              </a:defRPr>
            </a:lvl9pPr>
          </a:lstStyle>
          <a:p xmlns:a="http://schemas.openxmlformats.org/drawingml/2006/main">
            <a:pPr>
              <a:buNone/>
              <a:defRPr sz="1050" b="0">
                <a:solidFill>
                  <a:srgbClr val="4B6070"/>
                </a:solidFill>
              </a:defRPr>
            </a:pPr>
            <a:r>
              <a:rPr sz="1050" b="0">
                <a:solidFill>
                  <a:srgbClr val="4B6070"/>
                </a:solidFill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25087421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266C10-CC81-4CF7-ACFD-B0EB48CCC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0263B"/>
                </a:solidFill>
              </a:defRPr>
            </a:defPPr>
            <a:lvl1pPr>
              <a:buNone/>
              <a:defRPr sz="2850" b="1">
                <a:solidFill>
                  <a:srgbClr val="10263B"/>
                </a:solidFill>
              </a:defRPr>
            </a:lvl1pPr>
            <a:lvl2pPr>
              <a:buNone/>
              <a:defRPr sz="2850" b="1">
                <a:solidFill>
                  <a:srgbClr val="10263B"/>
                </a:solidFill>
              </a:defRPr>
            </a:lvl2pPr>
            <a:lvl3pPr>
              <a:buNone/>
              <a:defRPr sz="2850" b="1">
                <a:solidFill>
                  <a:srgbClr val="10263B"/>
                </a:solidFill>
              </a:defRPr>
            </a:lvl3pPr>
            <a:lvl4pPr>
              <a:buNone/>
              <a:defRPr sz="2850" b="1">
                <a:solidFill>
                  <a:srgbClr val="10263B"/>
                </a:solidFill>
              </a:defRPr>
            </a:lvl4pPr>
            <a:lvl5pPr>
              <a:buNone/>
              <a:defRPr sz="2850" b="1">
                <a:solidFill>
                  <a:srgbClr val="10263B"/>
                </a:solidFill>
              </a:defRPr>
            </a:lvl5pPr>
            <a:lvl6pPr>
              <a:buNone/>
              <a:defRPr sz="2850" b="1">
                <a:solidFill>
                  <a:srgbClr val="10263B"/>
                </a:solidFill>
              </a:defRPr>
            </a:lvl6pPr>
            <a:lvl7pPr>
              <a:buNone/>
              <a:defRPr sz="2850" b="1">
                <a:solidFill>
                  <a:srgbClr val="10263B"/>
                </a:solidFill>
              </a:defRPr>
            </a:lvl7pPr>
            <a:lvl8pPr>
              <a:buNone/>
              <a:defRPr sz="2850" b="1">
                <a:solidFill>
                  <a:srgbClr val="10263B"/>
                </a:solidFill>
              </a:defRPr>
            </a:lvl8pPr>
            <a:lvl9pPr>
              <a:buNone/>
              <a:defRPr sz="2850" b="1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2850" b="1">
                <a:solidFill>
                  <a:srgbClr val="10263B"/>
                </a:solidFill>
              </a:defRPr>
            </a:pPr>
            <a:r>
              <a:rPr sz="2850" b="1">
                <a:solidFill>
                  <a:srgbClr val="10263B"/>
                </a:solidFill>
              </a:rPr>
              <a:t>Architecture: frozen feature pipeline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EF1B48-F1D2-4604-9F50-A8F198793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05000"/>
            <a:ext cx="19050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E4F3F2"/>
          </a:solidFill>
          <a:ln xmlns:a="http://schemas.openxmlformats.org/drawingml/2006/main" w="19050">
            <a:solidFill>
              <a:srgbClr val="087F8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75" b="1">
                <a:solidFill>
                  <a:srgbClr val="10263B"/>
                </a:solidFill>
              </a:defRPr>
            </a:defPPr>
            <a:lvl1pPr algn="ctr">
              <a:buNone/>
              <a:defRPr sz="1575" b="1">
                <a:solidFill>
                  <a:srgbClr val="10263B"/>
                </a:solidFill>
              </a:defRPr>
            </a:lvl1pPr>
            <a:lvl2pPr algn="ctr">
              <a:buNone/>
              <a:defRPr sz="1575" b="1">
                <a:solidFill>
                  <a:srgbClr val="10263B"/>
                </a:solidFill>
              </a:defRPr>
            </a:lvl2pPr>
            <a:lvl3pPr algn="ctr">
              <a:buNone/>
              <a:defRPr sz="1575" b="1">
                <a:solidFill>
                  <a:srgbClr val="10263B"/>
                </a:solidFill>
              </a:defRPr>
            </a:lvl3pPr>
            <a:lvl4pPr algn="ctr">
              <a:buNone/>
              <a:defRPr sz="1575" b="1">
                <a:solidFill>
                  <a:srgbClr val="10263B"/>
                </a:solidFill>
              </a:defRPr>
            </a:lvl4pPr>
            <a:lvl5pPr algn="ctr">
              <a:buNone/>
              <a:defRPr sz="1575" b="1">
                <a:solidFill>
                  <a:srgbClr val="10263B"/>
                </a:solidFill>
              </a:defRPr>
            </a:lvl5pPr>
            <a:lvl6pPr algn="ctr">
              <a:buNone/>
              <a:defRPr sz="1575" b="1">
                <a:solidFill>
                  <a:srgbClr val="10263B"/>
                </a:solidFill>
              </a:defRPr>
            </a:lvl6pPr>
            <a:lvl7pPr algn="ctr">
              <a:buNone/>
              <a:defRPr sz="1575" b="1">
                <a:solidFill>
                  <a:srgbClr val="10263B"/>
                </a:solidFill>
              </a:defRPr>
            </a:lvl7pPr>
            <a:lvl8pPr algn="ctr">
              <a:buNone/>
              <a:defRPr sz="1575" b="1">
                <a:solidFill>
                  <a:srgbClr val="10263B"/>
                </a:solidFill>
              </a:defRPr>
            </a:lvl8pPr>
            <a:lvl9pPr algn="ctr">
              <a:buNone/>
              <a:defRPr sz="1575" b="1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 algn="ctr">
              <a:buNone/>
              <a:defRPr sz="1575" b="1">
                <a:solidFill>
                  <a:srgbClr val="10263B"/>
                </a:solidFill>
              </a:defRPr>
            </a:pPr>
            <a:r>
              <a:rPr sz="1575" b="1">
                <a:solidFill>
                  <a:srgbClr val="10263B"/>
                </a:solidFill>
              </a:rPr>
              <a:t>Input image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0263B"/>
                </a:solidFill>
              </a:defRPr>
            </a:pPr>
            <a:r>
              <a:rPr sz="1575" b="1">
                <a:solidFill>
                  <a:srgbClr val="10263B"/>
                </a:solidFill>
              </a:rPr>
              <a:t>224 × 224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3026B8-F7C7-48C3-AEFB-5CEC26B0C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266950"/>
            <a:ext cx="4762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solidFill>
              <a:srgbClr val="087F8C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96AD57-94EC-48F2-B3B0-7BD4B618B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1905000"/>
            <a:ext cx="19050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E4F3F2"/>
          </a:solidFill>
          <a:ln xmlns:a="http://schemas.openxmlformats.org/drawingml/2006/main" w="19050">
            <a:solidFill>
              <a:srgbClr val="087F8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75" b="1">
                <a:solidFill>
                  <a:srgbClr val="10263B"/>
                </a:solidFill>
              </a:defRPr>
            </a:defPPr>
            <a:lvl1pPr algn="ctr">
              <a:buNone/>
              <a:defRPr sz="1575" b="1">
                <a:solidFill>
                  <a:srgbClr val="10263B"/>
                </a:solidFill>
              </a:defRPr>
            </a:lvl1pPr>
            <a:lvl2pPr algn="ctr">
              <a:buNone/>
              <a:defRPr sz="1575" b="1">
                <a:solidFill>
                  <a:srgbClr val="10263B"/>
                </a:solidFill>
              </a:defRPr>
            </a:lvl2pPr>
            <a:lvl3pPr algn="ctr">
              <a:buNone/>
              <a:defRPr sz="1575" b="1">
                <a:solidFill>
                  <a:srgbClr val="10263B"/>
                </a:solidFill>
              </a:defRPr>
            </a:lvl3pPr>
            <a:lvl4pPr algn="ctr">
              <a:buNone/>
              <a:defRPr sz="1575" b="1">
                <a:solidFill>
                  <a:srgbClr val="10263B"/>
                </a:solidFill>
              </a:defRPr>
            </a:lvl4pPr>
            <a:lvl5pPr algn="ctr">
              <a:buNone/>
              <a:defRPr sz="1575" b="1">
                <a:solidFill>
                  <a:srgbClr val="10263B"/>
                </a:solidFill>
              </a:defRPr>
            </a:lvl5pPr>
            <a:lvl6pPr algn="ctr">
              <a:buNone/>
              <a:defRPr sz="1575" b="1">
                <a:solidFill>
                  <a:srgbClr val="10263B"/>
                </a:solidFill>
              </a:defRPr>
            </a:lvl6pPr>
            <a:lvl7pPr algn="ctr">
              <a:buNone/>
              <a:defRPr sz="1575" b="1">
                <a:solidFill>
                  <a:srgbClr val="10263B"/>
                </a:solidFill>
              </a:defRPr>
            </a:lvl7pPr>
            <a:lvl8pPr algn="ctr">
              <a:buNone/>
              <a:defRPr sz="1575" b="1">
                <a:solidFill>
                  <a:srgbClr val="10263B"/>
                </a:solidFill>
              </a:defRPr>
            </a:lvl8pPr>
            <a:lvl9pPr algn="ctr">
              <a:buNone/>
              <a:defRPr sz="1575" b="1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 algn="ctr">
              <a:buNone/>
              <a:defRPr sz="1575" b="1">
                <a:solidFill>
                  <a:srgbClr val="10263B"/>
                </a:solidFill>
              </a:defRPr>
            </a:pPr>
            <a:r>
              <a:rPr sz="1575" b="1">
                <a:solidFill>
                  <a:srgbClr val="10263B"/>
                </a:solidFill>
              </a:rPr>
              <a:t>Pretrained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0263B"/>
                </a:solidFill>
              </a:defRPr>
            </a:pPr>
            <a:r>
              <a:rPr sz="1575" b="1">
                <a:solidFill>
                  <a:srgbClr val="10263B"/>
                </a:solidFill>
              </a:rPr>
              <a:t>encoder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970A6F-0D06-43F9-8AEE-DA3F59D00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266950"/>
            <a:ext cx="4762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solidFill>
              <a:srgbClr val="087F8C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F35690-7073-473C-967D-CDF33AA96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1905000"/>
            <a:ext cx="19050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E4F3F2"/>
          </a:solidFill>
          <a:ln xmlns:a="http://schemas.openxmlformats.org/drawingml/2006/main" w="19050">
            <a:solidFill>
              <a:srgbClr val="087F8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75" b="1">
                <a:solidFill>
                  <a:srgbClr val="10263B"/>
                </a:solidFill>
              </a:defRPr>
            </a:defPPr>
            <a:lvl1pPr algn="ctr">
              <a:buNone/>
              <a:defRPr sz="1575" b="1">
                <a:solidFill>
                  <a:srgbClr val="10263B"/>
                </a:solidFill>
              </a:defRPr>
            </a:lvl1pPr>
            <a:lvl2pPr algn="ctr">
              <a:buNone/>
              <a:defRPr sz="1575" b="1">
                <a:solidFill>
                  <a:srgbClr val="10263B"/>
                </a:solidFill>
              </a:defRPr>
            </a:lvl2pPr>
            <a:lvl3pPr algn="ctr">
              <a:buNone/>
              <a:defRPr sz="1575" b="1">
                <a:solidFill>
                  <a:srgbClr val="10263B"/>
                </a:solidFill>
              </a:defRPr>
            </a:lvl3pPr>
            <a:lvl4pPr algn="ctr">
              <a:buNone/>
              <a:defRPr sz="1575" b="1">
                <a:solidFill>
                  <a:srgbClr val="10263B"/>
                </a:solidFill>
              </a:defRPr>
            </a:lvl4pPr>
            <a:lvl5pPr algn="ctr">
              <a:buNone/>
              <a:defRPr sz="1575" b="1">
                <a:solidFill>
                  <a:srgbClr val="10263B"/>
                </a:solidFill>
              </a:defRPr>
            </a:lvl5pPr>
            <a:lvl6pPr algn="ctr">
              <a:buNone/>
              <a:defRPr sz="1575" b="1">
                <a:solidFill>
                  <a:srgbClr val="10263B"/>
                </a:solidFill>
              </a:defRPr>
            </a:lvl6pPr>
            <a:lvl7pPr algn="ctr">
              <a:buNone/>
              <a:defRPr sz="1575" b="1">
                <a:solidFill>
                  <a:srgbClr val="10263B"/>
                </a:solidFill>
              </a:defRPr>
            </a:lvl7pPr>
            <a:lvl8pPr algn="ctr">
              <a:buNone/>
              <a:defRPr sz="1575" b="1">
                <a:solidFill>
                  <a:srgbClr val="10263B"/>
                </a:solidFill>
              </a:defRPr>
            </a:lvl8pPr>
            <a:lvl9pPr algn="ctr">
              <a:buNone/>
              <a:defRPr sz="1575" b="1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 algn="ctr">
              <a:buNone/>
              <a:defRPr sz="1575" b="1">
                <a:solidFill>
                  <a:srgbClr val="10263B"/>
                </a:solidFill>
              </a:defRPr>
            </a:pPr>
            <a:r>
              <a:rPr sz="1575" b="1">
                <a:solidFill>
                  <a:srgbClr val="10263B"/>
                </a:solidFill>
              </a:rPr>
              <a:t>Feature vector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0263B"/>
                </a:solidFill>
              </a:defRPr>
            </a:pPr>
            <a:r>
              <a:rPr sz="1575" b="1">
                <a:solidFill>
                  <a:srgbClr val="10263B"/>
                </a:solidFill>
              </a:rPr>
              <a:t>(embedding)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D58974-8A69-4BC1-98D7-4502B02C5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266950"/>
            <a:ext cx="4762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solidFill>
              <a:srgbClr val="087F8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9700E1-F66E-46ED-82CF-FD9EA81BB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905000"/>
            <a:ext cx="161925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E4F3F2"/>
          </a:solidFill>
          <a:ln xmlns:a="http://schemas.openxmlformats.org/drawingml/2006/main" w="19050">
            <a:solidFill>
              <a:srgbClr val="087F8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75" b="1">
                <a:solidFill>
                  <a:srgbClr val="10263B"/>
                </a:solidFill>
              </a:defRPr>
            </a:defPPr>
            <a:lvl1pPr algn="ctr">
              <a:buNone/>
              <a:defRPr sz="1575" b="1">
                <a:solidFill>
                  <a:srgbClr val="10263B"/>
                </a:solidFill>
              </a:defRPr>
            </a:lvl1pPr>
            <a:lvl2pPr algn="ctr">
              <a:buNone/>
              <a:defRPr sz="1575" b="1">
                <a:solidFill>
                  <a:srgbClr val="10263B"/>
                </a:solidFill>
              </a:defRPr>
            </a:lvl2pPr>
            <a:lvl3pPr algn="ctr">
              <a:buNone/>
              <a:defRPr sz="1575" b="1">
                <a:solidFill>
                  <a:srgbClr val="10263B"/>
                </a:solidFill>
              </a:defRPr>
            </a:lvl3pPr>
            <a:lvl4pPr algn="ctr">
              <a:buNone/>
              <a:defRPr sz="1575" b="1">
                <a:solidFill>
                  <a:srgbClr val="10263B"/>
                </a:solidFill>
              </a:defRPr>
            </a:lvl4pPr>
            <a:lvl5pPr algn="ctr">
              <a:buNone/>
              <a:defRPr sz="1575" b="1">
                <a:solidFill>
                  <a:srgbClr val="10263B"/>
                </a:solidFill>
              </a:defRPr>
            </a:lvl5pPr>
            <a:lvl6pPr algn="ctr">
              <a:buNone/>
              <a:defRPr sz="1575" b="1">
                <a:solidFill>
                  <a:srgbClr val="10263B"/>
                </a:solidFill>
              </a:defRPr>
            </a:lvl6pPr>
            <a:lvl7pPr algn="ctr">
              <a:buNone/>
              <a:defRPr sz="1575" b="1">
                <a:solidFill>
                  <a:srgbClr val="10263B"/>
                </a:solidFill>
              </a:defRPr>
            </a:lvl7pPr>
            <a:lvl8pPr algn="ctr">
              <a:buNone/>
              <a:defRPr sz="1575" b="1">
                <a:solidFill>
                  <a:srgbClr val="10263B"/>
                </a:solidFill>
              </a:defRPr>
            </a:lvl8pPr>
            <a:lvl9pPr algn="ctr">
              <a:buNone/>
              <a:defRPr sz="1575" b="1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 algn="ctr">
              <a:buNone/>
              <a:defRPr sz="1575" b="1">
                <a:solidFill>
                  <a:srgbClr val="10263B"/>
                </a:solidFill>
              </a:defRPr>
            </a:pPr>
            <a:r>
              <a:rPr sz="1575" b="1">
                <a:solidFill>
                  <a:srgbClr val="10263B"/>
                </a:solidFill>
              </a:rPr>
              <a:t>Classifier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0263B"/>
                </a:solidFill>
              </a:defRPr>
            </a:pPr>
            <a:r>
              <a:rPr sz="1575" b="1">
                <a:solidFill>
                  <a:srgbClr val="10263B"/>
                </a:solidFill>
              </a:rPr>
              <a:t>head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52DEDF-ADA6-4DCF-9E0C-8DC3655CD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266950"/>
            <a:ext cx="4762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solidFill>
              <a:srgbClr val="087F8C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C41C1F-102B-4D97-B0D6-23327A7B7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1905000"/>
            <a:ext cx="1285875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E4F3F2"/>
          </a:solidFill>
          <a:ln xmlns:a="http://schemas.openxmlformats.org/drawingml/2006/main" w="19050">
            <a:solidFill>
              <a:srgbClr val="087F8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75" b="1">
                <a:solidFill>
                  <a:srgbClr val="10263B"/>
                </a:solidFill>
              </a:defRPr>
            </a:defPPr>
            <a:lvl1pPr algn="ctr">
              <a:buNone/>
              <a:defRPr sz="1575" b="1">
                <a:solidFill>
                  <a:srgbClr val="10263B"/>
                </a:solidFill>
              </a:defRPr>
            </a:lvl1pPr>
            <a:lvl2pPr algn="ctr">
              <a:buNone/>
              <a:defRPr sz="1575" b="1">
                <a:solidFill>
                  <a:srgbClr val="10263B"/>
                </a:solidFill>
              </a:defRPr>
            </a:lvl2pPr>
            <a:lvl3pPr algn="ctr">
              <a:buNone/>
              <a:defRPr sz="1575" b="1">
                <a:solidFill>
                  <a:srgbClr val="10263B"/>
                </a:solidFill>
              </a:defRPr>
            </a:lvl3pPr>
            <a:lvl4pPr algn="ctr">
              <a:buNone/>
              <a:defRPr sz="1575" b="1">
                <a:solidFill>
                  <a:srgbClr val="10263B"/>
                </a:solidFill>
              </a:defRPr>
            </a:lvl4pPr>
            <a:lvl5pPr algn="ctr">
              <a:buNone/>
              <a:defRPr sz="1575" b="1">
                <a:solidFill>
                  <a:srgbClr val="10263B"/>
                </a:solidFill>
              </a:defRPr>
            </a:lvl5pPr>
            <a:lvl6pPr algn="ctr">
              <a:buNone/>
              <a:defRPr sz="1575" b="1">
                <a:solidFill>
                  <a:srgbClr val="10263B"/>
                </a:solidFill>
              </a:defRPr>
            </a:lvl6pPr>
            <a:lvl7pPr algn="ctr">
              <a:buNone/>
              <a:defRPr sz="1575" b="1">
                <a:solidFill>
                  <a:srgbClr val="10263B"/>
                </a:solidFill>
              </a:defRPr>
            </a:lvl7pPr>
            <a:lvl8pPr algn="ctr">
              <a:buNone/>
              <a:defRPr sz="1575" b="1">
                <a:solidFill>
                  <a:srgbClr val="10263B"/>
                </a:solidFill>
              </a:defRPr>
            </a:lvl8pPr>
            <a:lvl9pPr algn="ctr">
              <a:buNone/>
              <a:defRPr sz="1575" b="1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 algn="ctr">
              <a:buNone/>
              <a:defRPr sz="1575" b="1">
                <a:solidFill>
                  <a:srgbClr val="10263B"/>
                </a:solidFill>
              </a:defRPr>
            </a:pPr>
            <a:r>
              <a:rPr sz="1575" b="1">
                <a:solidFill>
                  <a:srgbClr val="10263B"/>
                </a:solidFill>
              </a:rPr>
              <a:t>7 class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0263B"/>
                </a:solidFill>
              </a:defRPr>
            </a:pPr>
            <a:r>
              <a:rPr sz="1575" b="1">
                <a:solidFill>
                  <a:srgbClr val="10263B"/>
                </a:solidFill>
              </a:rPr>
              <a:t>scores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1F0C2F-C5F4-4CBF-96D9-16249125A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61950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0263B"/>
                </a:solidFill>
              </a:defRPr>
            </a:defPPr>
            <a:lvl1pPr>
              <a:buNone/>
              <a:defRPr sz="1875" b="1">
                <a:solidFill>
                  <a:srgbClr val="10263B"/>
                </a:solidFill>
              </a:defRPr>
            </a:lvl1pPr>
            <a:lvl2pPr>
              <a:buNone/>
              <a:defRPr sz="1875" b="1">
                <a:solidFill>
                  <a:srgbClr val="10263B"/>
                </a:solidFill>
              </a:defRPr>
            </a:lvl2pPr>
            <a:lvl3pPr>
              <a:buNone/>
              <a:defRPr sz="1875" b="1">
                <a:solidFill>
                  <a:srgbClr val="10263B"/>
                </a:solidFill>
              </a:defRPr>
            </a:lvl3pPr>
            <a:lvl4pPr>
              <a:buNone/>
              <a:defRPr sz="1875" b="1">
                <a:solidFill>
                  <a:srgbClr val="10263B"/>
                </a:solidFill>
              </a:defRPr>
            </a:lvl4pPr>
            <a:lvl5pPr>
              <a:buNone/>
              <a:defRPr sz="1875" b="1">
                <a:solidFill>
                  <a:srgbClr val="10263B"/>
                </a:solidFill>
              </a:defRPr>
            </a:lvl5pPr>
            <a:lvl6pPr>
              <a:buNone/>
              <a:defRPr sz="1875" b="1">
                <a:solidFill>
                  <a:srgbClr val="10263B"/>
                </a:solidFill>
              </a:defRPr>
            </a:lvl6pPr>
            <a:lvl7pPr>
              <a:buNone/>
              <a:defRPr sz="1875" b="1">
                <a:solidFill>
                  <a:srgbClr val="10263B"/>
                </a:solidFill>
              </a:defRPr>
            </a:lvl7pPr>
            <a:lvl8pPr>
              <a:buNone/>
              <a:defRPr sz="1875" b="1">
                <a:solidFill>
                  <a:srgbClr val="10263B"/>
                </a:solidFill>
              </a:defRPr>
            </a:lvl8pPr>
            <a:lvl9pPr>
              <a:buNone/>
              <a:defRPr sz="1875" b="1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1875" b="1">
                <a:solidFill>
                  <a:srgbClr val="10263B"/>
                </a:solidFill>
              </a:defRPr>
            </a:pPr>
            <a:r>
              <a:rPr sz="1875" b="1">
                <a:solidFill>
                  <a:srgbClr val="10263B"/>
                </a:solidFill>
              </a:rPr>
              <a:t>Frozen encoder: learn the image representation once.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496788-251B-4878-A80B-CF4825BFD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238625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0263B"/>
                </a:solidFill>
              </a:defRPr>
            </a:defPPr>
            <a:lvl1pPr>
              <a:buNone/>
              <a:defRPr sz="1800" b="0">
                <a:solidFill>
                  <a:srgbClr val="10263B"/>
                </a:solidFill>
              </a:defRPr>
            </a:lvl1pPr>
            <a:lvl2pPr>
              <a:buNone/>
              <a:defRPr sz="1800" b="0">
                <a:solidFill>
                  <a:srgbClr val="10263B"/>
                </a:solidFill>
              </a:defRPr>
            </a:lvl2pPr>
            <a:lvl3pPr>
              <a:buNone/>
              <a:defRPr sz="1800" b="0">
                <a:solidFill>
                  <a:srgbClr val="10263B"/>
                </a:solidFill>
              </a:defRPr>
            </a:lvl3pPr>
            <a:lvl4pPr>
              <a:buNone/>
              <a:defRPr sz="1800" b="0">
                <a:solidFill>
                  <a:srgbClr val="10263B"/>
                </a:solidFill>
              </a:defRPr>
            </a:lvl4pPr>
            <a:lvl5pPr>
              <a:buNone/>
              <a:defRPr sz="1800" b="0">
                <a:solidFill>
                  <a:srgbClr val="10263B"/>
                </a:solidFill>
              </a:defRPr>
            </a:lvl5pPr>
            <a:lvl6pPr>
              <a:buNone/>
              <a:defRPr sz="1800" b="0">
                <a:solidFill>
                  <a:srgbClr val="10263B"/>
                </a:solidFill>
              </a:defRPr>
            </a:lvl6pPr>
            <a:lvl7pPr>
              <a:buNone/>
              <a:defRPr sz="1800" b="0">
                <a:solidFill>
                  <a:srgbClr val="10263B"/>
                </a:solidFill>
              </a:defRPr>
            </a:lvl7pPr>
            <a:lvl8pPr>
              <a:buNone/>
              <a:defRPr sz="1800" b="0">
                <a:solidFill>
                  <a:srgbClr val="10263B"/>
                </a:solidFill>
              </a:defRPr>
            </a:lvl8pPr>
            <a:lvl9pPr>
              <a:buNone/>
              <a:defRPr sz="1800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10263B"/>
                </a:solidFill>
              </a:defRPr>
            </a:pPr>
            <a:r>
              <a:rPr sz="1800" b="0">
                <a:solidFill>
                  <a:srgbClr val="10263B"/>
                </a:solidFill>
              </a:rPr>
              <a:t>Train the head on labeled features; select settings with validation macro F1.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8D9AAB-65EE-48DF-AC58-2F2FB875F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286375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4B6070"/>
                </a:solidFill>
              </a:defRPr>
            </a:defPPr>
            <a:lvl1pPr>
              <a:buNone/>
              <a:defRPr sz="1575" b="0">
                <a:solidFill>
                  <a:srgbClr val="4B6070"/>
                </a:solidFill>
              </a:defRPr>
            </a:lvl1pPr>
            <a:lvl2pPr>
              <a:buNone/>
              <a:defRPr sz="1575" b="0">
                <a:solidFill>
                  <a:srgbClr val="4B6070"/>
                </a:solidFill>
              </a:defRPr>
            </a:lvl2pPr>
            <a:lvl3pPr>
              <a:buNone/>
              <a:defRPr sz="1575" b="0">
                <a:solidFill>
                  <a:srgbClr val="4B6070"/>
                </a:solidFill>
              </a:defRPr>
            </a:lvl3pPr>
            <a:lvl4pPr>
              <a:buNone/>
              <a:defRPr sz="1575" b="0">
                <a:solidFill>
                  <a:srgbClr val="4B6070"/>
                </a:solidFill>
              </a:defRPr>
            </a:lvl4pPr>
            <a:lvl5pPr>
              <a:buNone/>
              <a:defRPr sz="1575" b="0">
                <a:solidFill>
                  <a:srgbClr val="4B6070"/>
                </a:solidFill>
              </a:defRPr>
            </a:lvl5pPr>
            <a:lvl6pPr>
              <a:buNone/>
              <a:defRPr sz="1575" b="0">
                <a:solidFill>
                  <a:srgbClr val="4B6070"/>
                </a:solidFill>
              </a:defRPr>
            </a:lvl6pPr>
            <a:lvl7pPr>
              <a:buNone/>
              <a:defRPr sz="1575" b="0">
                <a:solidFill>
                  <a:srgbClr val="4B6070"/>
                </a:solidFill>
              </a:defRPr>
            </a:lvl7pPr>
            <a:lvl8pPr>
              <a:buNone/>
              <a:defRPr sz="1575" b="0">
                <a:solidFill>
                  <a:srgbClr val="4B6070"/>
                </a:solidFill>
              </a:defRPr>
            </a:lvl8pPr>
            <a:lvl9pPr>
              <a:buNone/>
              <a:defRPr sz="1575" b="0">
                <a:solidFill>
                  <a:srgbClr val="4B6070"/>
                </a:solidFill>
              </a:defRPr>
            </a:lvl9pPr>
          </a:lstStyle>
          <a:p xmlns:a="http://schemas.openxmlformats.org/drawingml/2006/main">
            <a:pPr>
              <a:buNone/>
              <a:defRPr sz="1575" b="0">
                <a:solidFill>
                  <a:srgbClr val="4B6070"/>
                </a:solidFill>
              </a:defRPr>
            </a:pPr>
            <a:r>
              <a:rPr sz="1575" b="0">
                <a:solidFill>
                  <a:srgbClr val="4B6070"/>
                </a:solidFill>
              </a:rPr>
              <a:t>EfficientNet: 1,280 features  |  PanDerm Base: 768  |  PanDerm Large: 1,024</a:t>
            </a:r>
          </a:p>
        </p:txBody>
      </p:sp>
    </p:spTree>
    <p:extLst>
      <p:ext uri="{BB962C8B-B14F-4D97-AF65-F5344CB8AC3E}">
        <p14:creationId xmlns:p14="http://schemas.microsoft.com/office/powerpoint/2010/main" val="118274260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F81264-DFE5-4557-B3BE-4C08878E5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0263B"/>
                </a:solidFill>
              </a:defRPr>
            </a:defPPr>
            <a:lvl1pPr>
              <a:buNone/>
              <a:defRPr sz="2850" b="1">
                <a:solidFill>
                  <a:srgbClr val="10263B"/>
                </a:solidFill>
              </a:defRPr>
            </a:lvl1pPr>
            <a:lvl2pPr>
              <a:buNone/>
              <a:defRPr sz="2850" b="1">
                <a:solidFill>
                  <a:srgbClr val="10263B"/>
                </a:solidFill>
              </a:defRPr>
            </a:lvl2pPr>
            <a:lvl3pPr>
              <a:buNone/>
              <a:defRPr sz="2850" b="1">
                <a:solidFill>
                  <a:srgbClr val="10263B"/>
                </a:solidFill>
              </a:defRPr>
            </a:lvl3pPr>
            <a:lvl4pPr>
              <a:buNone/>
              <a:defRPr sz="2850" b="1">
                <a:solidFill>
                  <a:srgbClr val="10263B"/>
                </a:solidFill>
              </a:defRPr>
            </a:lvl4pPr>
            <a:lvl5pPr>
              <a:buNone/>
              <a:defRPr sz="2850" b="1">
                <a:solidFill>
                  <a:srgbClr val="10263B"/>
                </a:solidFill>
              </a:defRPr>
            </a:lvl5pPr>
            <a:lvl6pPr>
              <a:buNone/>
              <a:defRPr sz="2850" b="1">
                <a:solidFill>
                  <a:srgbClr val="10263B"/>
                </a:solidFill>
              </a:defRPr>
            </a:lvl6pPr>
            <a:lvl7pPr>
              <a:buNone/>
              <a:defRPr sz="2850" b="1">
                <a:solidFill>
                  <a:srgbClr val="10263B"/>
                </a:solidFill>
              </a:defRPr>
            </a:lvl7pPr>
            <a:lvl8pPr>
              <a:buNone/>
              <a:defRPr sz="2850" b="1">
                <a:solidFill>
                  <a:srgbClr val="10263B"/>
                </a:solidFill>
              </a:defRPr>
            </a:lvl8pPr>
            <a:lvl9pPr>
              <a:buNone/>
              <a:defRPr sz="2850" b="1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2850" b="1">
                <a:solidFill>
                  <a:srgbClr val="10263B"/>
                </a:solidFill>
              </a:defRPr>
            </a:pPr>
            <a:r>
              <a:rPr sz="2850" b="1">
                <a:solidFill>
                  <a:srgbClr val="10263B"/>
                </a:solidFill>
              </a:rPr>
              <a:t>Relative training sequence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54F417-3253-45D6-A15F-1F2C6F784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381125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0263B"/>
                </a:solidFill>
              </a:defRPr>
            </a:defPPr>
            <a:lvl1pPr>
              <a:buNone/>
              <a:defRPr sz="1800" b="0">
                <a:solidFill>
                  <a:srgbClr val="10263B"/>
                </a:solidFill>
              </a:defRPr>
            </a:lvl1pPr>
            <a:lvl2pPr>
              <a:buNone/>
              <a:defRPr sz="1800" b="0">
                <a:solidFill>
                  <a:srgbClr val="10263B"/>
                </a:solidFill>
              </a:defRPr>
            </a:lvl2pPr>
            <a:lvl3pPr>
              <a:buNone/>
              <a:defRPr sz="1800" b="0">
                <a:solidFill>
                  <a:srgbClr val="10263B"/>
                </a:solidFill>
              </a:defRPr>
            </a:lvl3pPr>
            <a:lvl4pPr>
              <a:buNone/>
              <a:defRPr sz="1800" b="0">
                <a:solidFill>
                  <a:srgbClr val="10263B"/>
                </a:solidFill>
              </a:defRPr>
            </a:lvl4pPr>
            <a:lvl5pPr>
              <a:buNone/>
              <a:defRPr sz="1800" b="0">
                <a:solidFill>
                  <a:srgbClr val="10263B"/>
                </a:solidFill>
              </a:defRPr>
            </a:lvl5pPr>
            <a:lvl6pPr>
              <a:buNone/>
              <a:defRPr sz="1800" b="0">
                <a:solidFill>
                  <a:srgbClr val="10263B"/>
                </a:solidFill>
              </a:defRPr>
            </a:lvl6pPr>
            <a:lvl7pPr>
              <a:buNone/>
              <a:defRPr sz="1800" b="0">
                <a:solidFill>
                  <a:srgbClr val="10263B"/>
                </a:solidFill>
              </a:defRPr>
            </a:lvl7pPr>
            <a:lvl8pPr>
              <a:buNone/>
              <a:defRPr sz="1800" b="0">
                <a:solidFill>
                  <a:srgbClr val="10263B"/>
                </a:solidFill>
              </a:defRPr>
            </a:lvl8pPr>
            <a:lvl9pPr>
              <a:buNone/>
              <a:defRPr sz="1800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10263B"/>
                </a:solidFill>
              </a:defRPr>
            </a:pPr>
            <a:r>
              <a:rPr sz="1800" b="0">
                <a:solidFill>
                  <a:srgbClr val="10263B"/>
                </a:solidFill>
              </a:rPr>
              <a:t>Early   Centralized and federated CNN prototype; EfficientNet feature baselines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F7CD11-EF29-4C37-B9DA-867C3590B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05025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0263B"/>
                </a:solidFill>
              </a:defRPr>
            </a:defPPr>
            <a:lvl1pPr>
              <a:buNone/>
              <a:defRPr sz="1800" b="0">
                <a:solidFill>
                  <a:srgbClr val="10263B"/>
                </a:solidFill>
              </a:defRPr>
            </a:lvl1pPr>
            <a:lvl2pPr>
              <a:buNone/>
              <a:defRPr sz="1800" b="0">
                <a:solidFill>
                  <a:srgbClr val="10263B"/>
                </a:solidFill>
              </a:defRPr>
            </a:lvl2pPr>
            <a:lvl3pPr>
              <a:buNone/>
              <a:defRPr sz="1800" b="0">
                <a:solidFill>
                  <a:srgbClr val="10263B"/>
                </a:solidFill>
              </a:defRPr>
            </a:lvl3pPr>
            <a:lvl4pPr>
              <a:buNone/>
              <a:defRPr sz="1800" b="0">
                <a:solidFill>
                  <a:srgbClr val="10263B"/>
                </a:solidFill>
              </a:defRPr>
            </a:lvl4pPr>
            <a:lvl5pPr>
              <a:buNone/>
              <a:defRPr sz="1800" b="0">
                <a:solidFill>
                  <a:srgbClr val="10263B"/>
                </a:solidFill>
              </a:defRPr>
            </a:lvl5pPr>
            <a:lvl6pPr>
              <a:buNone/>
              <a:defRPr sz="1800" b="0">
                <a:solidFill>
                  <a:srgbClr val="10263B"/>
                </a:solidFill>
              </a:defRPr>
            </a:lvl6pPr>
            <a:lvl7pPr>
              <a:buNone/>
              <a:defRPr sz="1800" b="0">
                <a:solidFill>
                  <a:srgbClr val="10263B"/>
                </a:solidFill>
              </a:defRPr>
            </a:lvl7pPr>
            <a:lvl8pPr>
              <a:buNone/>
              <a:defRPr sz="1800" b="0">
                <a:solidFill>
                  <a:srgbClr val="10263B"/>
                </a:solidFill>
              </a:defRPr>
            </a:lvl8pPr>
            <a:lvl9pPr>
              <a:buNone/>
              <a:defRPr sz="1800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10263B"/>
                </a:solidFill>
              </a:defRPr>
            </a:pPr>
            <a:r>
              <a:rPr sz="1800" b="0">
                <a:solidFill>
                  <a:srgbClr val="10263B"/>
                </a:solidFill>
              </a:rPr>
              <a:t>Next   Class balancing, multiple views and lesion-specific classifiers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0B1676-7E6E-4EBE-8DBE-A4BC94059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828925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0263B"/>
                </a:solidFill>
              </a:defRPr>
            </a:defPPr>
            <a:lvl1pPr>
              <a:buNone/>
              <a:defRPr sz="1800" b="0">
                <a:solidFill>
                  <a:srgbClr val="10263B"/>
                </a:solidFill>
              </a:defRPr>
            </a:lvl1pPr>
            <a:lvl2pPr>
              <a:buNone/>
              <a:defRPr sz="1800" b="0">
                <a:solidFill>
                  <a:srgbClr val="10263B"/>
                </a:solidFill>
              </a:defRPr>
            </a:lvl2pPr>
            <a:lvl3pPr>
              <a:buNone/>
              <a:defRPr sz="1800" b="0">
                <a:solidFill>
                  <a:srgbClr val="10263B"/>
                </a:solidFill>
              </a:defRPr>
            </a:lvl3pPr>
            <a:lvl4pPr>
              <a:buNone/>
              <a:defRPr sz="1800" b="0">
                <a:solidFill>
                  <a:srgbClr val="10263B"/>
                </a:solidFill>
              </a:defRPr>
            </a:lvl4pPr>
            <a:lvl5pPr>
              <a:buNone/>
              <a:defRPr sz="1800" b="0">
                <a:solidFill>
                  <a:srgbClr val="10263B"/>
                </a:solidFill>
              </a:defRPr>
            </a:lvl5pPr>
            <a:lvl6pPr>
              <a:buNone/>
              <a:defRPr sz="1800" b="0">
                <a:solidFill>
                  <a:srgbClr val="10263B"/>
                </a:solidFill>
              </a:defRPr>
            </a:lvl6pPr>
            <a:lvl7pPr>
              <a:buNone/>
              <a:defRPr sz="1800" b="0">
                <a:solidFill>
                  <a:srgbClr val="10263B"/>
                </a:solidFill>
              </a:defRPr>
            </a:lvl7pPr>
            <a:lvl8pPr>
              <a:buNone/>
              <a:defRPr sz="1800" b="0">
                <a:solidFill>
                  <a:srgbClr val="10263B"/>
                </a:solidFill>
              </a:defRPr>
            </a:lvl8pPr>
            <a:lvl9pPr>
              <a:buNone/>
              <a:defRPr sz="1800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10263B"/>
                </a:solidFill>
              </a:defRPr>
            </a:pPr>
            <a:r>
              <a:rPr sz="1800" b="0">
                <a:solidFill>
                  <a:srgbClr val="10263B"/>
                </a:solidFill>
              </a:rPr>
              <a:t>Then   Frozen PanDerm Base with linear, neural and XGBoost heads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7BBA48-8BFC-4041-A97D-765BF8157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552825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0263B"/>
                </a:solidFill>
              </a:defRPr>
            </a:defPPr>
            <a:lvl1pPr>
              <a:buNone/>
              <a:defRPr sz="1800" b="0">
                <a:solidFill>
                  <a:srgbClr val="10263B"/>
                </a:solidFill>
              </a:defRPr>
            </a:lvl1pPr>
            <a:lvl2pPr>
              <a:buNone/>
              <a:defRPr sz="1800" b="0">
                <a:solidFill>
                  <a:srgbClr val="10263B"/>
                </a:solidFill>
              </a:defRPr>
            </a:lvl2pPr>
            <a:lvl3pPr>
              <a:buNone/>
              <a:defRPr sz="1800" b="0">
                <a:solidFill>
                  <a:srgbClr val="10263B"/>
                </a:solidFill>
              </a:defRPr>
            </a:lvl3pPr>
            <a:lvl4pPr>
              <a:buNone/>
              <a:defRPr sz="1800" b="0">
                <a:solidFill>
                  <a:srgbClr val="10263B"/>
                </a:solidFill>
              </a:defRPr>
            </a:lvl4pPr>
            <a:lvl5pPr>
              <a:buNone/>
              <a:defRPr sz="1800" b="0">
                <a:solidFill>
                  <a:srgbClr val="10263B"/>
                </a:solidFill>
              </a:defRPr>
            </a:lvl5pPr>
            <a:lvl6pPr>
              <a:buNone/>
              <a:defRPr sz="1800" b="0">
                <a:solidFill>
                  <a:srgbClr val="10263B"/>
                </a:solidFill>
              </a:defRPr>
            </a:lvl6pPr>
            <a:lvl7pPr>
              <a:buNone/>
              <a:defRPr sz="1800" b="0">
                <a:solidFill>
                  <a:srgbClr val="10263B"/>
                </a:solidFill>
              </a:defRPr>
            </a:lvl7pPr>
            <a:lvl8pPr>
              <a:buNone/>
              <a:defRPr sz="1800" b="0">
                <a:solidFill>
                  <a:srgbClr val="10263B"/>
                </a:solidFill>
              </a:defRPr>
            </a:lvl8pPr>
            <a:lvl9pPr>
              <a:buNone/>
              <a:defRPr sz="1800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10263B"/>
                </a:solidFill>
              </a:defRPr>
            </a:pPr>
            <a:r>
              <a:rPr sz="1800" b="0">
                <a:solidFill>
                  <a:srgbClr val="10263B"/>
                </a:solidFill>
              </a:rPr>
              <a:t>Later   PanDerm Large author probe, tuned heads and capacity searches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6CA636-80B6-4D0D-B20C-6CA6BAECB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276725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0263B"/>
                </a:solidFill>
              </a:defRPr>
            </a:defPPr>
            <a:lvl1pPr>
              <a:buNone/>
              <a:defRPr sz="1800" b="0">
                <a:solidFill>
                  <a:srgbClr val="10263B"/>
                </a:solidFill>
              </a:defRPr>
            </a:lvl1pPr>
            <a:lvl2pPr>
              <a:buNone/>
              <a:defRPr sz="1800" b="0">
                <a:solidFill>
                  <a:srgbClr val="10263B"/>
                </a:solidFill>
              </a:defRPr>
            </a:lvl2pPr>
            <a:lvl3pPr>
              <a:buNone/>
              <a:defRPr sz="1800" b="0">
                <a:solidFill>
                  <a:srgbClr val="10263B"/>
                </a:solidFill>
              </a:defRPr>
            </a:lvl3pPr>
            <a:lvl4pPr>
              <a:buNone/>
              <a:defRPr sz="1800" b="0">
                <a:solidFill>
                  <a:srgbClr val="10263B"/>
                </a:solidFill>
              </a:defRPr>
            </a:lvl4pPr>
            <a:lvl5pPr>
              <a:buNone/>
              <a:defRPr sz="1800" b="0">
                <a:solidFill>
                  <a:srgbClr val="10263B"/>
                </a:solidFill>
              </a:defRPr>
            </a:lvl5pPr>
            <a:lvl6pPr>
              <a:buNone/>
              <a:defRPr sz="1800" b="0">
                <a:solidFill>
                  <a:srgbClr val="10263B"/>
                </a:solidFill>
              </a:defRPr>
            </a:lvl6pPr>
            <a:lvl7pPr>
              <a:buNone/>
              <a:defRPr sz="1800" b="0">
                <a:solidFill>
                  <a:srgbClr val="10263B"/>
                </a:solidFill>
              </a:defRPr>
            </a:lvl7pPr>
            <a:lvl8pPr>
              <a:buNone/>
              <a:defRPr sz="1800" b="0">
                <a:solidFill>
                  <a:srgbClr val="10263B"/>
                </a:solidFill>
              </a:defRPr>
            </a:lvl8pPr>
            <a:lvl9pPr>
              <a:buNone/>
              <a:defRPr sz="1800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10263B"/>
                </a:solidFill>
              </a:defRPr>
            </a:pPr>
            <a:r>
              <a:rPr sz="1800" b="0">
                <a:solidFill>
                  <a:srgbClr val="10263B"/>
                </a:solidFill>
              </a:rPr>
              <a:t>Recent   Fine-tuned EfficientNet and diagnostic adaptation experiments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BCF71C-D0EF-41A0-87A5-732D121C3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4B6070"/>
                </a:solidFill>
              </a:defRPr>
            </a:defPPr>
            <a:lvl1pPr>
              <a:buNone/>
              <a:defRPr sz="1050" b="0">
                <a:solidFill>
                  <a:srgbClr val="4B6070"/>
                </a:solidFill>
              </a:defRPr>
            </a:lvl1pPr>
            <a:lvl2pPr>
              <a:buNone/>
              <a:defRPr sz="1050" b="0">
                <a:solidFill>
                  <a:srgbClr val="4B6070"/>
                </a:solidFill>
              </a:defRPr>
            </a:lvl2pPr>
            <a:lvl3pPr>
              <a:buNone/>
              <a:defRPr sz="1050" b="0">
                <a:solidFill>
                  <a:srgbClr val="4B6070"/>
                </a:solidFill>
              </a:defRPr>
            </a:lvl3pPr>
            <a:lvl4pPr>
              <a:buNone/>
              <a:defRPr sz="1050" b="0">
                <a:solidFill>
                  <a:srgbClr val="4B6070"/>
                </a:solidFill>
              </a:defRPr>
            </a:lvl4pPr>
            <a:lvl5pPr>
              <a:buNone/>
              <a:defRPr sz="1050" b="0">
                <a:solidFill>
                  <a:srgbClr val="4B6070"/>
                </a:solidFill>
              </a:defRPr>
            </a:lvl5pPr>
            <a:lvl6pPr>
              <a:buNone/>
              <a:defRPr sz="1050" b="0">
                <a:solidFill>
                  <a:srgbClr val="4B6070"/>
                </a:solidFill>
              </a:defRPr>
            </a:lvl6pPr>
            <a:lvl7pPr>
              <a:buNone/>
              <a:defRPr sz="1050" b="0">
                <a:solidFill>
                  <a:srgbClr val="4B6070"/>
                </a:solidFill>
              </a:defRPr>
            </a:lvl7pPr>
            <a:lvl8pPr>
              <a:buNone/>
              <a:defRPr sz="1050" b="0">
                <a:solidFill>
                  <a:srgbClr val="4B6070"/>
                </a:solidFill>
              </a:defRPr>
            </a:lvl8pPr>
            <a:lvl9pPr>
              <a:buNone/>
              <a:defRPr sz="1050" b="0">
                <a:solidFill>
                  <a:srgbClr val="4B6070"/>
                </a:solidFill>
              </a:defRPr>
            </a:lvl9pPr>
          </a:lstStyle>
          <a:p xmlns:a="http://schemas.openxmlformats.org/drawingml/2006/main">
            <a:pPr>
              <a:buNone/>
              <a:defRPr sz="1050" b="0">
                <a:solidFill>
                  <a:srgbClr val="4B6070"/>
                </a:solidFill>
              </a:defRPr>
            </a:pPr>
            <a:r>
              <a:rPr sz="1050" b="0">
                <a:solidFill>
                  <a:srgbClr val="4B6070"/>
                </a:solidFill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21974150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8D5CC3-6AB6-4728-B354-7928A511A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0263B"/>
                </a:solidFill>
              </a:defRPr>
            </a:defPPr>
            <a:lvl1pPr>
              <a:buNone/>
              <a:defRPr sz="2850" b="1">
                <a:solidFill>
                  <a:srgbClr val="10263B"/>
                </a:solidFill>
              </a:defRPr>
            </a:lvl1pPr>
            <a:lvl2pPr>
              <a:buNone/>
              <a:defRPr sz="2850" b="1">
                <a:solidFill>
                  <a:srgbClr val="10263B"/>
                </a:solidFill>
              </a:defRPr>
            </a:lvl2pPr>
            <a:lvl3pPr>
              <a:buNone/>
              <a:defRPr sz="2850" b="1">
                <a:solidFill>
                  <a:srgbClr val="10263B"/>
                </a:solidFill>
              </a:defRPr>
            </a:lvl3pPr>
            <a:lvl4pPr>
              <a:buNone/>
              <a:defRPr sz="2850" b="1">
                <a:solidFill>
                  <a:srgbClr val="10263B"/>
                </a:solidFill>
              </a:defRPr>
            </a:lvl4pPr>
            <a:lvl5pPr>
              <a:buNone/>
              <a:defRPr sz="2850" b="1">
                <a:solidFill>
                  <a:srgbClr val="10263B"/>
                </a:solidFill>
              </a:defRPr>
            </a:lvl5pPr>
            <a:lvl6pPr>
              <a:buNone/>
              <a:defRPr sz="2850" b="1">
                <a:solidFill>
                  <a:srgbClr val="10263B"/>
                </a:solidFill>
              </a:defRPr>
            </a:lvl6pPr>
            <a:lvl7pPr>
              <a:buNone/>
              <a:defRPr sz="2850" b="1">
                <a:solidFill>
                  <a:srgbClr val="10263B"/>
                </a:solidFill>
              </a:defRPr>
            </a:lvl7pPr>
            <a:lvl8pPr>
              <a:buNone/>
              <a:defRPr sz="2850" b="1">
                <a:solidFill>
                  <a:srgbClr val="10263B"/>
                </a:solidFill>
              </a:defRPr>
            </a:lvl8pPr>
            <a:lvl9pPr>
              <a:buNone/>
              <a:defRPr sz="2850" b="1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2850" b="1">
                <a:solidFill>
                  <a:srgbClr val="10263B"/>
                </a:solidFill>
              </a:defRPr>
            </a:pPr>
            <a:r>
              <a:rPr sz="2850" b="1">
                <a:solidFill>
                  <a:srgbClr val="10263B"/>
                </a:solidFill>
              </a:rPr>
              <a:t>EfficientNet-B0 experiments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A7217C-BDAC-4A89-A90A-90A23975C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381125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0263B"/>
                </a:solidFill>
              </a:defRPr>
            </a:defPPr>
            <a:lvl1pPr>
              <a:buNone/>
              <a:defRPr sz="1875" b="0">
                <a:solidFill>
                  <a:srgbClr val="10263B"/>
                </a:solidFill>
              </a:defRPr>
            </a:lvl1pPr>
            <a:lvl2pPr>
              <a:buNone/>
              <a:defRPr sz="1875" b="0">
                <a:solidFill>
                  <a:srgbClr val="10263B"/>
                </a:solidFill>
              </a:defRPr>
            </a:lvl2pPr>
            <a:lvl3pPr>
              <a:buNone/>
              <a:defRPr sz="1875" b="0">
                <a:solidFill>
                  <a:srgbClr val="10263B"/>
                </a:solidFill>
              </a:defRPr>
            </a:lvl3pPr>
            <a:lvl4pPr>
              <a:buNone/>
              <a:defRPr sz="1875" b="0">
                <a:solidFill>
                  <a:srgbClr val="10263B"/>
                </a:solidFill>
              </a:defRPr>
            </a:lvl4pPr>
            <a:lvl5pPr>
              <a:buNone/>
              <a:defRPr sz="1875" b="0">
                <a:solidFill>
                  <a:srgbClr val="10263B"/>
                </a:solidFill>
              </a:defRPr>
            </a:lvl5pPr>
            <a:lvl6pPr>
              <a:buNone/>
              <a:defRPr sz="1875" b="0">
                <a:solidFill>
                  <a:srgbClr val="10263B"/>
                </a:solidFill>
              </a:defRPr>
            </a:lvl6pPr>
            <a:lvl7pPr>
              <a:buNone/>
              <a:defRPr sz="1875" b="0">
                <a:solidFill>
                  <a:srgbClr val="10263B"/>
                </a:solidFill>
              </a:defRPr>
            </a:lvl7pPr>
            <a:lvl8pPr>
              <a:buNone/>
              <a:defRPr sz="1875" b="0">
                <a:solidFill>
                  <a:srgbClr val="10263B"/>
                </a:solidFill>
              </a:defRPr>
            </a:lvl8pPr>
            <a:lvl9pPr>
              <a:buNone/>
              <a:defRPr sz="1875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0263B"/>
                </a:solidFill>
              </a:defRPr>
            </a:pPr>
            <a:r>
              <a:rPr sz="1875" b="0">
                <a:solidFill>
                  <a:srgbClr val="10263B"/>
                </a:solidFill>
              </a:rPr>
              <a:t>A pretrained ImageNet encoder converts each image into reusable features.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7DD3EC-E331-45D9-A86A-B46617141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71700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0263B"/>
                </a:solidFill>
              </a:defRPr>
            </a:defPPr>
            <a:lvl1pPr>
              <a:buNone/>
              <a:defRPr sz="1875" b="0">
                <a:solidFill>
                  <a:srgbClr val="10263B"/>
                </a:solidFill>
              </a:defRPr>
            </a:lvl1pPr>
            <a:lvl2pPr>
              <a:buNone/>
              <a:defRPr sz="1875" b="0">
                <a:solidFill>
                  <a:srgbClr val="10263B"/>
                </a:solidFill>
              </a:defRPr>
            </a:lvl2pPr>
            <a:lvl3pPr>
              <a:buNone/>
              <a:defRPr sz="1875" b="0">
                <a:solidFill>
                  <a:srgbClr val="10263B"/>
                </a:solidFill>
              </a:defRPr>
            </a:lvl3pPr>
            <a:lvl4pPr>
              <a:buNone/>
              <a:defRPr sz="1875" b="0">
                <a:solidFill>
                  <a:srgbClr val="10263B"/>
                </a:solidFill>
              </a:defRPr>
            </a:lvl4pPr>
            <a:lvl5pPr>
              <a:buNone/>
              <a:defRPr sz="1875" b="0">
                <a:solidFill>
                  <a:srgbClr val="10263B"/>
                </a:solidFill>
              </a:defRPr>
            </a:lvl5pPr>
            <a:lvl6pPr>
              <a:buNone/>
              <a:defRPr sz="1875" b="0">
                <a:solidFill>
                  <a:srgbClr val="10263B"/>
                </a:solidFill>
              </a:defRPr>
            </a:lvl6pPr>
            <a:lvl7pPr>
              <a:buNone/>
              <a:defRPr sz="1875" b="0">
                <a:solidFill>
                  <a:srgbClr val="10263B"/>
                </a:solidFill>
              </a:defRPr>
            </a:lvl7pPr>
            <a:lvl8pPr>
              <a:buNone/>
              <a:defRPr sz="1875" b="0">
                <a:solidFill>
                  <a:srgbClr val="10263B"/>
                </a:solidFill>
              </a:defRPr>
            </a:lvl8pPr>
            <a:lvl9pPr>
              <a:buNone/>
              <a:defRPr sz="1875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0263B"/>
                </a:solidFill>
              </a:defRPr>
            </a:pPr>
            <a:r>
              <a:rPr sz="1875" b="0">
                <a:solidFill>
                  <a:srgbClr val="10263B"/>
                </a:solidFill>
              </a:rPr>
              <a:t>Compared logistic regression, a neural network and XGBoost.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3A3D13-7BF5-4D7A-8DE1-50E734B6B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962275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0263B"/>
                </a:solidFill>
              </a:defRPr>
            </a:defPPr>
            <a:lvl1pPr>
              <a:buNone/>
              <a:defRPr sz="1875" b="0">
                <a:solidFill>
                  <a:srgbClr val="10263B"/>
                </a:solidFill>
              </a:defRPr>
            </a:lvl1pPr>
            <a:lvl2pPr>
              <a:buNone/>
              <a:defRPr sz="1875" b="0">
                <a:solidFill>
                  <a:srgbClr val="10263B"/>
                </a:solidFill>
              </a:defRPr>
            </a:lvl2pPr>
            <a:lvl3pPr>
              <a:buNone/>
              <a:defRPr sz="1875" b="0">
                <a:solidFill>
                  <a:srgbClr val="10263B"/>
                </a:solidFill>
              </a:defRPr>
            </a:lvl3pPr>
            <a:lvl4pPr>
              <a:buNone/>
              <a:defRPr sz="1875" b="0">
                <a:solidFill>
                  <a:srgbClr val="10263B"/>
                </a:solidFill>
              </a:defRPr>
            </a:lvl4pPr>
            <a:lvl5pPr>
              <a:buNone/>
              <a:defRPr sz="1875" b="0">
                <a:solidFill>
                  <a:srgbClr val="10263B"/>
                </a:solidFill>
              </a:defRPr>
            </a:lvl5pPr>
            <a:lvl6pPr>
              <a:buNone/>
              <a:defRPr sz="1875" b="0">
                <a:solidFill>
                  <a:srgbClr val="10263B"/>
                </a:solidFill>
              </a:defRPr>
            </a:lvl6pPr>
            <a:lvl7pPr>
              <a:buNone/>
              <a:defRPr sz="1875" b="0">
                <a:solidFill>
                  <a:srgbClr val="10263B"/>
                </a:solidFill>
              </a:defRPr>
            </a:lvl7pPr>
            <a:lvl8pPr>
              <a:buNone/>
              <a:defRPr sz="1875" b="0">
                <a:solidFill>
                  <a:srgbClr val="10263B"/>
                </a:solidFill>
              </a:defRPr>
            </a:lvl8pPr>
            <a:lvl9pPr>
              <a:buNone/>
              <a:defRPr sz="1875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0263B"/>
                </a:solidFill>
              </a:defRPr>
            </a:pPr>
            <a:r>
              <a:rPr sz="1875" b="0">
                <a:solidFill>
                  <a:srgbClr val="10263B"/>
                </a:solidFill>
              </a:rPr>
              <a:t>Tested class weighting, SMOTE and multi-view image features.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05C48C-C35A-4022-85D3-69ACDF19C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752850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0263B"/>
                </a:solidFill>
              </a:defRPr>
            </a:defPPr>
            <a:lvl1pPr>
              <a:buNone/>
              <a:defRPr sz="1875" b="0">
                <a:solidFill>
                  <a:srgbClr val="10263B"/>
                </a:solidFill>
              </a:defRPr>
            </a:lvl1pPr>
            <a:lvl2pPr>
              <a:buNone/>
              <a:defRPr sz="1875" b="0">
                <a:solidFill>
                  <a:srgbClr val="10263B"/>
                </a:solidFill>
              </a:defRPr>
            </a:lvl2pPr>
            <a:lvl3pPr>
              <a:buNone/>
              <a:defRPr sz="1875" b="0">
                <a:solidFill>
                  <a:srgbClr val="10263B"/>
                </a:solidFill>
              </a:defRPr>
            </a:lvl3pPr>
            <a:lvl4pPr>
              <a:buNone/>
              <a:defRPr sz="1875" b="0">
                <a:solidFill>
                  <a:srgbClr val="10263B"/>
                </a:solidFill>
              </a:defRPr>
            </a:lvl4pPr>
            <a:lvl5pPr>
              <a:buNone/>
              <a:defRPr sz="1875" b="0">
                <a:solidFill>
                  <a:srgbClr val="10263B"/>
                </a:solidFill>
              </a:defRPr>
            </a:lvl5pPr>
            <a:lvl6pPr>
              <a:buNone/>
              <a:defRPr sz="1875" b="0">
                <a:solidFill>
                  <a:srgbClr val="10263B"/>
                </a:solidFill>
              </a:defRPr>
            </a:lvl6pPr>
            <a:lvl7pPr>
              <a:buNone/>
              <a:defRPr sz="1875" b="0">
                <a:solidFill>
                  <a:srgbClr val="10263B"/>
                </a:solidFill>
              </a:defRPr>
            </a:lvl7pPr>
            <a:lvl8pPr>
              <a:buNone/>
              <a:defRPr sz="1875" b="0">
                <a:solidFill>
                  <a:srgbClr val="10263B"/>
                </a:solidFill>
              </a:defRPr>
            </a:lvl8pPr>
            <a:lvl9pPr>
              <a:buNone/>
              <a:defRPr sz="1875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0263B"/>
                </a:solidFill>
              </a:defRPr>
            </a:pPr>
            <a:r>
              <a:rPr sz="1875" b="0">
                <a:solidFill>
                  <a:srgbClr val="10263B"/>
                </a:solidFill>
              </a:rPr>
              <a:t>Also trained a separate fine-tuned EfficientNet CNN; its recorded run lasted 15 epochs.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3E80F4-CAF9-412F-BB35-E644F2661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4B6070"/>
                </a:solidFill>
              </a:defRPr>
            </a:defPPr>
            <a:lvl1pPr>
              <a:buNone/>
              <a:defRPr sz="1050" b="0">
                <a:solidFill>
                  <a:srgbClr val="4B6070"/>
                </a:solidFill>
              </a:defRPr>
            </a:lvl1pPr>
            <a:lvl2pPr>
              <a:buNone/>
              <a:defRPr sz="1050" b="0">
                <a:solidFill>
                  <a:srgbClr val="4B6070"/>
                </a:solidFill>
              </a:defRPr>
            </a:lvl2pPr>
            <a:lvl3pPr>
              <a:buNone/>
              <a:defRPr sz="1050" b="0">
                <a:solidFill>
                  <a:srgbClr val="4B6070"/>
                </a:solidFill>
              </a:defRPr>
            </a:lvl3pPr>
            <a:lvl4pPr>
              <a:buNone/>
              <a:defRPr sz="1050" b="0">
                <a:solidFill>
                  <a:srgbClr val="4B6070"/>
                </a:solidFill>
              </a:defRPr>
            </a:lvl4pPr>
            <a:lvl5pPr>
              <a:buNone/>
              <a:defRPr sz="1050" b="0">
                <a:solidFill>
                  <a:srgbClr val="4B6070"/>
                </a:solidFill>
              </a:defRPr>
            </a:lvl5pPr>
            <a:lvl6pPr>
              <a:buNone/>
              <a:defRPr sz="1050" b="0">
                <a:solidFill>
                  <a:srgbClr val="4B6070"/>
                </a:solidFill>
              </a:defRPr>
            </a:lvl6pPr>
            <a:lvl7pPr>
              <a:buNone/>
              <a:defRPr sz="1050" b="0">
                <a:solidFill>
                  <a:srgbClr val="4B6070"/>
                </a:solidFill>
              </a:defRPr>
            </a:lvl7pPr>
            <a:lvl8pPr>
              <a:buNone/>
              <a:defRPr sz="1050" b="0">
                <a:solidFill>
                  <a:srgbClr val="4B6070"/>
                </a:solidFill>
              </a:defRPr>
            </a:lvl8pPr>
            <a:lvl9pPr>
              <a:buNone/>
              <a:defRPr sz="1050" b="0">
                <a:solidFill>
                  <a:srgbClr val="4B6070"/>
                </a:solidFill>
              </a:defRPr>
            </a:lvl9pPr>
          </a:lstStyle>
          <a:p xmlns:a="http://schemas.openxmlformats.org/drawingml/2006/main">
            <a:pPr>
              <a:buNone/>
              <a:defRPr sz="1050" b="0">
                <a:solidFill>
                  <a:srgbClr val="4B6070"/>
                </a:solidFill>
              </a:defRPr>
            </a:pPr>
            <a:r>
              <a:rPr sz="1050" b="0">
                <a:solidFill>
                  <a:srgbClr val="4B6070"/>
                </a:solidFill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11026060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08D467-EA8A-4EF8-88AE-78096AC04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0263B"/>
                </a:solidFill>
              </a:defRPr>
            </a:defPPr>
            <a:lvl1pPr>
              <a:buNone/>
              <a:defRPr sz="2850" b="1">
                <a:solidFill>
                  <a:srgbClr val="10263B"/>
                </a:solidFill>
              </a:defRPr>
            </a:lvl1pPr>
            <a:lvl2pPr>
              <a:buNone/>
              <a:defRPr sz="2850" b="1">
                <a:solidFill>
                  <a:srgbClr val="10263B"/>
                </a:solidFill>
              </a:defRPr>
            </a:lvl2pPr>
            <a:lvl3pPr>
              <a:buNone/>
              <a:defRPr sz="2850" b="1">
                <a:solidFill>
                  <a:srgbClr val="10263B"/>
                </a:solidFill>
              </a:defRPr>
            </a:lvl3pPr>
            <a:lvl4pPr>
              <a:buNone/>
              <a:defRPr sz="2850" b="1">
                <a:solidFill>
                  <a:srgbClr val="10263B"/>
                </a:solidFill>
              </a:defRPr>
            </a:lvl4pPr>
            <a:lvl5pPr>
              <a:buNone/>
              <a:defRPr sz="2850" b="1">
                <a:solidFill>
                  <a:srgbClr val="10263B"/>
                </a:solidFill>
              </a:defRPr>
            </a:lvl5pPr>
            <a:lvl6pPr>
              <a:buNone/>
              <a:defRPr sz="2850" b="1">
                <a:solidFill>
                  <a:srgbClr val="10263B"/>
                </a:solidFill>
              </a:defRPr>
            </a:lvl6pPr>
            <a:lvl7pPr>
              <a:buNone/>
              <a:defRPr sz="2850" b="1">
                <a:solidFill>
                  <a:srgbClr val="10263B"/>
                </a:solidFill>
              </a:defRPr>
            </a:lvl7pPr>
            <a:lvl8pPr>
              <a:buNone/>
              <a:defRPr sz="2850" b="1">
                <a:solidFill>
                  <a:srgbClr val="10263B"/>
                </a:solidFill>
              </a:defRPr>
            </a:lvl8pPr>
            <a:lvl9pPr>
              <a:buNone/>
              <a:defRPr sz="2850" b="1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2850" b="1">
                <a:solidFill>
                  <a:srgbClr val="10263B"/>
                </a:solidFill>
              </a:defRPr>
            </a:pPr>
            <a:r>
              <a:rPr sz="2850" b="1">
                <a:solidFill>
                  <a:srgbClr val="10263B"/>
                </a:solidFill>
              </a:rPr>
              <a:t>EfficientNet-B0 architecture and training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3031EC-38F7-4053-8567-B540A77A2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571625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E4F3F2"/>
          </a:solidFill>
          <a:ln xmlns:a="http://schemas.openxmlformats.org/drawingml/2006/main" w="19050">
            <a:solidFill>
              <a:srgbClr val="087F8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75" b="1">
                <a:solidFill>
                  <a:srgbClr val="10263B"/>
                </a:solidFill>
              </a:defRPr>
            </a:defPPr>
            <a:lvl1pPr algn="ctr">
              <a:buNone/>
              <a:defRPr sz="1575" b="1">
                <a:solidFill>
                  <a:srgbClr val="10263B"/>
                </a:solidFill>
              </a:defRPr>
            </a:lvl1pPr>
            <a:lvl2pPr algn="ctr">
              <a:buNone/>
              <a:defRPr sz="1575" b="1">
                <a:solidFill>
                  <a:srgbClr val="10263B"/>
                </a:solidFill>
              </a:defRPr>
            </a:lvl2pPr>
            <a:lvl3pPr algn="ctr">
              <a:buNone/>
              <a:defRPr sz="1575" b="1">
                <a:solidFill>
                  <a:srgbClr val="10263B"/>
                </a:solidFill>
              </a:defRPr>
            </a:lvl3pPr>
            <a:lvl4pPr algn="ctr">
              <a:buNone/>
              <a:defRPr sz="1575" b="1">
                <a:solidFill>
                  <a:srgbClr val="10263B"/>
                </a:solidFill>
              </a:defRPr>
            </a:lvl4pPr>
            <a:lvl5pPr algn="ctr">
              <a:buNone/>
              <a:defRPr sz="1575" b="1">
                <a:solidFill>
                  <a:srgbClr val="10263B"/>
                </a:solidFill>
              </a:defRPr>
            </a:lvl5pPr>
            <a:lvl6pPr algn="ctr">
              <a:buNone/>
              <a:defRPr sz="1575" b="1">
                <a:solidFill>
                  <a:srgbClr val="10263B"/>
                </a:solidFill>
              </a:defRPr>
            </a:lvl6pPr>
            <a:lvl7pPr algn="ctr">
              <a:buNone/>
              <a:defRPr sz="1575" b="1">
                <a:solidFill>
                  <a:srgbClr val="10263B"/>
                </a:solidFill>
              </a:defRPr>
            </a:lvl7pPr>
            <a:lvl8pPr algn="ctr">
              <a:buNone/>
              <a:defRPr sz="1575" b="1">
                <a:solidFill>
                  <a:srgbClr val="10263B"/>
                </a:solidFill>
              </a:defRPr>
            </a:lvl8pPr>
            <a:lvl9pPr algn="ctr">
              <a:buNone/>
              <a:defRPr sz="1575" b="1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 algn="ctr">
              <a:buNone/>
              <a:defRPr sz="1575" b="1">
                <a:solidFill>
                  <a:srgbClr val="10263B"/>
                </a:solidFill>
              </a:defRPr>
            </a:pPr>
            <a:r>
              <a:rPr sz="1575" b="1">
                <a:solidFill>
                  <a:srgbClr val="10263B"/>
                </a:solidFill>
              </a:rPr>
              <a:t>Image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43870F-4703-4E23-ACBB-D7E6AB83E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1924050"/>
            <a:ext cx="4762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solidFill>
              <a:srgbClr val="087F8C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E73BC7-E520-45B5-9187-A697AB6C1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1619250"/>
            <a:ext cx="2047875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E4F3F2"/>
          </a:solidFill>
          <a:ln xmlns:a="http://schemas.openxmlformats.org/drawingml/2006/main" w="19050">
            <a:solidFill>
              <a:srgbClr val="087F8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75" b="1">
                <a:solidFill>
                  <a:srgbClr val="10263B"/>
                </a:solidFill>
              </a:defRPr>
            </a:defPPr>
            <a:lvl1pPr algn="ctr">
              <a:buNone/>
              <a:defRPr sz="1575" b="1">
                <a:solidFill>
                  <a:srgbClr val="10263B"/>
                </a:solidFill>
              </a:defRPr>
            </a:lvl1pPr>
            <a:lvl2pPr algn="ctr">
              <a:buNone/>
              <a:defRPr sz="1575" b="1">
                <a:solidFill>
                  <a:srgbClr val="10263B"/>
                </a:solidFill>
              </a:defRPr>
            </a:lvl2pPr>
            <a:lvl3pPr algn="ctr">
              <a:buNone/>
              <a:defRPr sz="1575" b="1">
                <a:solidFill>
                  <a:srgbClr val="10263B"/>
                </a:solidFill>
              </a:defRPr>
            </a:lvl3pPr>
            <a:lvl4pPr algn="ctr">
              <a:buNone/>
              <a:defRPr sz="1575" b="1">
                <a:solidFill>
                  <a:srgbClr val="10263B"/>
                </a:solidFill>
              </a:defRPr>
            </a:lvl4pPr>
            <a:lvl5pPr algn="ctr">
              <a:buNone/>
              <a:defRPr sz="1575" b="1">
                <a:solidFill>
                  <a:srgbClr val="10263B"/>
                </a:solidFill>
              </a:defRPr>
            </a:lvl5pPr>
            <a:lvl6pPr algn="ctr">
              <a:buNone/>
              <a:defRPr sz="1575" b="1">
                <a:solidFill>
                  <a:srgbClr val="10263B"/>
                </a:solidFill>
              </a:defRPr>
            </a:lvl6pPr>
            <a:lvl7pPr algn="ctr">
              <a:buNone/>
              <a:defRPr sz="1575" b="1">
                <a:solidFill>
                  <a:srgbClr val="10263B"/>
                </a:solidFill>
              </a:defRPr>
            </a:lvl7pPr>
            <a:lvl8pPr algn="ctr">
              <a:buNone/>
              <a:defRPr sz="1575" b="1">
                <a:solidFill>
                  <a:srgbClr val="10263B"/>
                </a:solidFill>
              </a:defRPr>
            </a:lvl8pPr>
            <a:lvl9pPr algn="ctr">
              <a:buNone/>
              <a:defRPr sz="1575" b="1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 algn="ctr">
              <a:buNone/>
              <a:defRPr sz="1575" b="1">
                <a:solidFill>
                  <a:srgbClr val="10263B"/>
                </a:solidFill>
              </a:defRPr>
            </a:pPr>
            <a:r>
              <a:rPr sz="1575" b="1">
                <a:solidFill>
                  <a:srgbClr val="10263B"/>
                </a:solidFill>
              </a:rPr>
              <a:t>CNN feature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0263B"/>
                </a:solidFill>
              </a:defRPr>
            </a:pPr>
            <a:r>
              <a:rPr sz="1575" b="1">
                <a:solidFill>
                  <a:srgbClr val="10263B"/>
                </a:solidFill>
              </a:rPr>
              <a:t>blocks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B964EB-D3C5-4387-BA6C-D3CCD44EE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924050"/>
            <a:ext cx="4762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solidFill>
              <a:srgbClr val="087F8C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F13867-1CA9-4573-AC82-95C6F4C16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619250"/>
            <a:ext cx="209550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E4F3F2"/>
          </a:solidFill>
          <a:ln xmlns:a="http://schemas.openxmlformats.org/drawingml/2006/main" w="19050">
            <a:solidFill>
              <a:srgbClr val="087F8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75" b="1">
                <a:solidFill>
                  <a:srgbClr val="10263B"/>
                </a:solidFill>
              </a:defRPr>
            </a:defPPr>
            <a:lvl1pPr algn="ctr">
              <a:buNone/>
              <a:defRPr sz="1575" b="1">
                <a:solidFill>
                  <a:srgbClr val="10263B"/>
                </a:solidFill>
              </a:defRPr>
            </a:lvl1pPr>
            <a:lvl2pPr algn="ctr">
              <a:buNone/>
              <a:defRPr sz="1575" b="1">
                <a:solidFill>
                  <a:srgbClr val="10263B"/>
                </a:solidFill>
              </a:defRPr>
            </a:lvl2pPr>
            <a:lvl3pPr algn="ctr">
              <a:buNone/>
              <a:defRPr sz="1575" b="1">
                <a:solidFill>
                  <a:srgbClr val="10263B"/>
                </a:solidFill>
              </a:defRPr>
            </a:lvl3pPr>
            <a:lvl4pPr algn="ctr">
              <a:buNone/>
              <a:defRPr sz="1575" b="1">
                <a:solidFill>
                  <a:srgbClr val="10263B"/>
                </a:solidFill>
              </a:defRPr>
            </a:lvl4pPr>
            <a:lvl5pPr algn="ctr">
              <a:buNone/>
              <a:defRPr sz="1575" b="1">
                <a:solidFill>
                  <a:srgbClr val="10263B"/>
                </a:solidFill>
              </a:defRPr>
            </a:lvl5pPr>
            <a:lvl6pPr algn="ctr">
              <a:buNone/>
              <a:defRPr sz="1575" b="1">
                <a:solidFill>
                  <a:srgbClr val="10263B"/>
                </a:solidFill>
              </a:defRPr>
            </a:lvl6pPr>
            <a:lvl7pPr algn="ctr">
              <a:buNone/>
              <a:defRPr sz="1575" b="1">
                <a:solidFill>
                  <a:srgbClr val="10263B"/>
                </a:solidFill>
              </a:defRPr>
            </a:lvl7pPr>
            <a:lvl8pPr algn="ctr">
              <a:buNone/>
              <a:defRPr sz="1575" b="1">
                <a:solidFill>
                  <a:srgbClr val="10263B"/>
                </a:solidFill>
              </a:defRPr>
            </a:lvl8pPr>
            <a:lvl9pPr algn="ctr">
              <a:buNone/>
              <a:defRPr sz="1575" b="1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 algn="ctr">
              <a:buNone/>
              <a:defRPr sz="1575" b="1">
                <a:solidFill>
                  <a:srgbClr val="10263B"/>
                </a:solidFill>
              </a:defRPr>
            </a:pPr>
            <a:r>
              <a:rPr sz="1575" b="1">
                <a:solidFill>
                  <a:srgbClr val="10263B"/>
                </a:solidFill>
              </a:rPr>
              <a:t>Pooling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0263B"/>
                </a:solidFill>
              </a:defRPr>
            </a:pPr>
            <a:r>
              <a:rPr sz="1575" b="1">
                <a:solidFill>
                  <a:srgbClr val="10263B"/>
                </a:solidFill>
              </a:rPr>
              <a:t>1,280 features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A2B027-5AAB-462D-9035-99E261C76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924050"/>
            <a:ext cx="4762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solidFill>
              <a:srgbClr val="087F8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671F49-45FF-4F35-BF70-C7E25FA0C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619250"/>
            <a:ext cx="2143125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E4F3F2"/>
          </a:solidFill>
          <a:ln xmlns:a="http://schemas.openxmlformats.org/drawingml/2006/main" w="19050">
            <a:solidFill>
              <a:srgbClr val="087F8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75" b="1">
                <a:solidFill>
                  <a:srgbClr val="10263B"/>
                </a:solidFill>
              </a:defRPr>
            </a:defPPr>
            <a:lvl1pPr algn="ctr">
              <a:buNone/>
              <a:defRPr sz="1575" b="1">
                <a:solidFill>
                  <a:srgbClr val="10263B"/>
                </a:solidFill>
              </a:defRPr>
            </a:lvl1pPr>
            <a:lvl2pPr algn="ctr">
              <a:buNone/>
              <a:defRPr sz="1575" b="1">
                <a:solidFill>
                  <a:srgbClr val="10263B"/>
                </a:solidFill>
              </a:defRPr>
            </a:lvl2pPr>
            <a:lvl3pPr algn="ctr">
              <a:buNone/>
              <a:defRPr sz="1575" b="1">
                <a:solidFill>
                  <a:srgbClr val="10263B"/>
                </a:solidFill>
              </a:defRPr>
            </a:lvl3pPr>
            <a:lvl4pPr algn="ctr">
              <a:buNone/>
              <a:defRPr sz="1575" b="1">
                <a:solidFill>
                  <a:srgbClr val="10263B"/>
                </a:solidFill>
              </a:defRPr>
            </a:lvl4pPr>
            <a:lvl5pPr algn="ctr">
              <a:buNone/>
              <a:defRPr sz="1575" b="1">
                <a:solidFill>
                  <a:srgbClr val="10263B"/>
                </a:solidFill>
              </a:defRPr>
            </a:lvl5pPr>
            <a:lvl6pPr algn="ctr">
              <a:buNone/>
              <a:defRPr sz="1575" b="1">
                <a:solidFill>
                  <a:srgbClr val="10263B"/>
                </a:solidFill>
              </a:defRPr>
            </a:lvl6pPr>
            <a:lvl7pPr algn="ctr">
              <a:buNone/>
              <a:defRPr sz="1575" b="1">
                <a:solidFill>
                  <a:srgbClr val="10263B"/>
                </a:solidFill>
              </a:defRPr>
            </a:lvl7pPr>
            <a:lvl8pPr algn="ctr">
              <a:buNone/>
              <a:defRPr sz="1575" b="1">
                <a:solidFill>
                  <a:srgbClr val="10263B"/>
                </a:solidFill>
              </a:defRPr>
            </a:lvl8pPr>
            <a:lvl9pPr algn="ctr">
              <a:buNone/>
              <a:defRPr sz="1575" b="1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 algn="ctr">
              <a:buNone/>
              <a:defRPr sz="1575" b="1">
                <a:solidFill>
                  <a:srgbClr val="10263B"/>
                </a:solidFill>
              </a:defRPr>
            </a:pPr>
            <a:r>
              <a:rPr sz="1575" b="1">
                <a:solidFill>
                  <a:srgbClr val="10263B"/>
                </a:solidFill>
              </a:rPr>
              <a:t>7-class head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366C7E-80C2-4493-A86D-AB2552CF3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095625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087F8C"/>
                </a:solidFill>
              </a:defRPr>
            </a:defPPr>
            <a:lvl1pPr>
              <a:buNone/>
              <a:defRPr sz="1950" b="1">
                <a:solidFill>
                  <a:srgbClr val="087F8C"/>
                </a:solidFill>
              </a:defRPr>
            </a:lvl1pPr>
            <a:lvl2pPr>
              <a:buNone/>
              <a:defRPr sz="1950" b="1">
                <a:solidFill>
                  <a:srgbClr val="087F8C"/>
                </a:solidFill>
              </a:defRPr>
            </a:lvl2pPr>
            <a:lvl3pPr>
              <a:buNone/>
              <a:defRPr sz="1950" b="1">
                <a:solidFill>
                  <a:srgbClr val="087F8C"/>
                </a:solidFill>
              </a:defRPr>
            </a:lvl3pPr>
            <a:lvl4pPr>
              <a:buNone/>
              <a:defRPr sz="1950" b="1">
                <a:solidFill>
                  <a:srgbClr val="087F8C"/>
                </a:solidFill>
              </a:defRPr>
            </a:lvl4pPr>
            <a:lvl5pPr>
              <a:buNone/>
              <a:defRPr sz="1950" b="1">
                <a:solidFill>
                  <a:srgbClr val="087F8C"/>
                </a:solidFill>
              </a:defRPr>
            </a:lvl5pPr>
            <a:lvl6pPr>
              <a:buNone/>
              <a:defRPr sz="1950" b="1">
                <a:solidFill>
                  <a:srgbClr val="087F8C"/>
                </a:solidFill>
              </a:defRPr>
            </a:lvl6pPr>
            <a:lvl7pPr>
              <a:buNone/>
              <a:defRPr sz="1950" b="1">
                <a:solidFill>
                  <a:srgbClr val="087F8C"/>
                </a:solidFill>
              </a:defRPr>
            </a:lvl7pPr>
            <a:lvl8pPr>
              <a:buNone/>
              <a:defRPr sz="1950" b="1">
                <a:solidFill>
                  <a:srgbClr val="087F8C"/>
                </a:solidFill>
              </a:defRPr>
            </a:lvl8pPr>
            <a:lvl9pPr>
              <a:buNone/>
              <a:defRPr sz="1950" b="1">
                <a:solidFill>
                  <a:srgbClr val="087F8C"/>
                </a:solidFill>
              </a:defRPr>
            </a:lvl9pPr>
          </a:lstStyle>
          <a:p xmlns:a="http://schemas.openxmlformats.org/drawingml/2006/main">
            <a:pPr>
              <a:buNone/>
              <a:defRPr sz="1950" b="1">
                <a:solidFill>
                  <a:srgbClr val="087F8C"/>
                </a:solidFill>
              </a:defRPr>
            </a:pPr>
            <a:r>
              <a:rPr sz="1950" b="1">
                <a:solidFill>
                  <a:srgbClr val="087F8C"/>
                </a:solidFill>
              </a:rPr>
              <a:t>Frozen-feature runs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9EF5D2-B2F6-4859-A251-2BA0788EE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571875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0263B"/>
                </a:solidFill>
              </a:defRPr>
            </a:defPPr>
            <a:lvl1pPr>
              <a:buNone/>
              <a:defRPr sz="1800" b="0">
                <a:solidFill>
                  <a:srgbClr val="10263B"/>
                </a:solidFill>
              </a:defRPr>
            </a:lvl1pPr>
            <a:lvl2pPr>
              <a:buNone/>
              <a:defRPr sz="1800" b="0">
                <a:solidFill>
                  <a:srgbClr val="10263B"/>
                </a:solidFill>
              </a:defRPr>
            </a:lvl2pPr>
            <a:lvl3pPr>
              <a:buNone/>
              <a:defRPr sz="1800" b="0">
                <a:solidFill>
                  <a:srgbClr val="10263B"/>
                </a:solidFill>
              </a:defRPr>
            </a:lvl3pPr>
            <a:lvl4pPr>
              <a:buNone/>
              <a:defRPr sz="1800" b="0">
                <a:solidFill>
                  <a:srgbClr val="10263B"/>
                </a:solidFill>
              </a:defRPr>
            </a:lvl4pPr>
            <a:lvl5pPr>
              <a:buNone/>
              <a:defRPr sz="1800" b="0">
                <a:solidFill>
                  <a:srgbClr val="10263B"/>
                </a:solidFill>
              </a:defRPr>
            </a:lvl5pPr>
            <a:lvl6pPr>
              <a:buNone/>
              <a:defRPr sz="1800" b="0">
                <a:solidFill>
                  <a:srgbClr val="10263B"/>
                </a:solidFill>
              </a:defRPr>
            </a:lvl6pPr>
            <a:lvl7pPr>
              <a:buNone/>
              <a:defRPr sz="1800" b="0">
                <a:solidFill>
                  <a:srgbClr val="10263B"/>
                </a:solidFill>
              </a:defRPr>
            </a:lvl7pPr>
            <a:lvl8pPr>
              <a:buNone/>
              <a:defRPr sz="1800" b="0">
                <a:solidFill>
                  <a:srgbClr val="10263B"/>
                </a:solidFill>
              </a:defRPr>
            </a:lvl8pPr>
            <a:lvl9pPr>
              <a:buNone/>
              <a:defRPr sz="1800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10263B"/>
                </a:solidFill>
              </a:defRPr>
            </a:pPr>
            <a:r>
              <a:rPr sz="1800" b="0">
                <a:solidFill>
                  <a:srgbClr val="10263B"/>
                </a:solidFill>
              </a:rPr>
              <a:t>Trained logistic regression, MLP or XGBoost on cached features.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0C79E7-4D18-47BB-8B52-3D0B7AFD7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524375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087F8C"/>
                </a:solidFill>
              </a:defRPr>
            </a:defPPr>
            <a:lvl1pPr>
              <a:buNone/>
              <a:defRPr sz="1950" b="1">
                <a:solidFill>
                  <a:srgbClr val="087F8C"/>
                </a:solidFill>
              </a:defRPr>
            </a:lvl1pPr>
            <a:lvl2pPr>
              <a:buNone/>
              <a:defRPr sz="1950" b="1">
                <a:solidFill>
                  <a:srgbClr val="087F8C"/>
                </a:solidFill>
              </a:defRPr>
            </a:lvl2pPr>
            <a:lvl3pPr>
              <a:buNone/>
              <a:defRPr sz="1950" b="1">
                <a:solidFill>
                  <a:srgbClr val="087F8C"/>
                </a:solidFill>
              </a:defRPr>
            </a:lvl3pPr>
            <a:lvl4pPr>
              <a:buNone/>
              <a:defRPr sz="1950" b="1">
                <a:solidFill>
                  <a:srgbClr val="087F8C"/>
                </a:solidFill>
              </a:defRPr>
            </a:lvl4pPr>
            <a:lvl5pPr>
              <a:buNone/>
              <a:defRPr sz="1950" b="1">
                <a:solidFill>
                  <a:srgbClr val="087F8C"/>
                </a:solidFill>
              </a:defRPr>
            </a:lvl5pPr>
            <a:lvl6pPr>
              <a:buNone/>
              <a:defRPr sz="1950" b="1">
                <a:solidFill>
                  <a:srgbClr val="087F8C"/>
                </a:solidFill>
              </a:defRPr>
            </a:lvl6pPr>
            <a:lvl7pPr>
              <a:buNone/>
              <a:defRPr sz="1950" b="1">
                <a:solidFill>
                  <a:srgbClr val="087F8C"/>
                </a:solidFill>
              </a:defRPr>
            </a:lvl7pPr>
            <a:lvl8pPr>
              <a:buNone/>
              <a:defRPr sz="1950" b="1">
                <a:solidFill>
                  <a:srgbClr val="087F8C"/>
                </a:solidFill>
              </a:defRPr>
            </a:lvl8pPr>
            <a:lvl9pPr>
              <a:buNone/>
              <a:defRPr sz="1950" b="1">
                <a:solidFill>
                  <a:srgbClr val="087F8C"/>
                </a:solidFill>
              </a:defRPr>
            </a:lvl9pPr>
          </a:lstStyle>
          <a:p xmlns:a="http://schemas.openxmlformats.org/drawingml/2006/main">
            <a:pPr>
              <a:buNone/>
              <a:defRPr sz="1950" b="1">
                <a:solidFill>
                  <a:srgbClr val="087F8C"/>
                </a:solidFill>
              </a:defRPr>
            </a:pPr>
            <a:r>
              <a:rPr sz="1950" b="1">
                <a:solidFill>
                  <a:srgbClr val="087F8C"/>
                </a:solidFill>
              </a:rPr>
              <a:t>Fine-tuning run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B902F3-5285-4526-AD56-2D5552420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000625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0263B"/>
                </a:solidFill>
              </a:defRPr>
            </a:defPPr>
            <a:lvl1pPr>
              <a:buNone/>
              <a:defRPr sz="1800" b="0">
                <a:solidFill>
                  <a:srgbClr val="10263B"/>
                </a:solidFill>
              </a:defRPr>
            </a:lvl1pPr>
            <a:lvl2pPr>
              <a:buNone/>
              <a:defRPr sz="1800" b="0">
                <a:solidFill>
                  <a:srgbClr val="10263B"/>
                </a:solidFill>
              </a:defRPr>
            </a:lvl2pPr>
            <a:lvl3pPr>
              <a:buNone/>
              <a:defRPr sz="1800" b="0">
                <a:solidFill>
                  <a:srgbClr val="10263B"/>
                </a:solidFill>
              </a:defRPr>
            </a:lvl3pPr>
            <a:lvl4pPr>
              <a:buNone/>
              <a:defRPr sz="1800" b="0">
                <a:solidFill>
                  <a:srgbClr val="10263B"/>
                </a:solidFill>
              </a:defRPr>
            </a:lvl4pPr>
            <a:lvl5pPr>
              <a:buNone/>
              <a:defRPr sz="1800" b="0">
                <a:solidFill>
                  <a:srgbClr val="10263B"/>
                </a:solidFill>
              </a:defRPr>
            </a:lvl5pPr>
            <a:lvl6pPr>
              <a:buNone/>
              <a:defRPr sz="1800" b="0">
                <a:solidFill>
                  <a:srgbClr val="10263B"/>
                </a:solidFill>
              </a:defRPr>
            </a:lvl6pPr>
            <a:lvl7pPr>
              <a:buNone/>
              <a:defRPr sz="1800" b="0">
                <a:solidFill>
                  <a:srgbClr val="10263B"/>
                </a:solidFill>
              </a:defRPr>
            </a:lvl7pPr>
            <a:lvl8pPr>
              <a:buNone/>
              <a:defRPr sz="1800" b="0">
                <a:solidFill>
                  <a:srgbClr val="10263B"/>
                </a:solidFill>
              </a:defRPr>
            </a:lvl8pPr>
            <a:lvl9pPr>
              <a:buNone/>
              <a:defRPr sz="1800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10263B"/>
                </a:solidFill>
              </a:defRPr>
            </a:pPr>
            <a:r>
              <a:rPr sz="1800" b="0">
                <a:solidFill>
                  <a:srgbClr val="10263B"/>
                </a:solidFill>
              </a:rPr>
              <a:t>Updated the EfficientNet backbone and a linear head; best checkpoint was epoch 11.</a:t>
            </a:r>
          </a:p>
        </p:txBody>
      </p:sp>
    </p:spTree>
    <p:extLst>
      <p:ext uri="{BB962C8B-B14F-4D97-AF65-F5344CB8AC3E}">
        <p14:creationId xmlns:p14="http://schemas.microsoft.com/office/powerpoint/2010/main" val="80737943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D60C79-264C-4F70-AB27-AAE5349D5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0263B"/>
                </a:solidFill>
              </a:defRPr>
            </a:defPPr>
            <a:lvl1pPr>
              <a:defRPr sz="2850" b="1">
                <a:solidFill>
                  <a:srgbClr val="10263B"/>
                </a:solidFill>
              </a:defRPr>
            </a:lvl1pPr>
            <a:lvl2pPr>
              <a:defRPr sz="2850" b="1">
                <a:solidFill>
                  <a:srgbClr val="10263B"/>
                </a:solidFill>
              </a:defRPr>
            </a:lvl2pPr>
            <a:lvl3pPr>
              <a:defRPr sz="2850" b="1">
                <a:solidFill>
                  <a:srgbClr val="10263B"/>
                </a:solidFill>
              </a:defRPr>
            </a:lvl3pPr>
            <a:lvl4pPr>
              <a:defRPr sz="2850" b="1">
                <a:solidFill>
                  <a:srgbClr val="10263B"/>
                </a:solidFill>
              </a:defRPr>
            </a:lvl4pPr>
            <a:lvl5pPr>
              <a:defRPr sz="2850" b="1">
                <a:solidFill>
                  <a:srgbClr val="10263B"/>
                </a:solidFill>
              </a:defRPr>
            </a:lvl5pPr>
            <a:lvl6pPr>
              <a:defRPr sz="2850" b="1">
                <a:solidFill>
                  <a:srgbClr val="10263B"/>
                </a:solidFill>
              </a:defRPr>
            </a:lvl6pPr>
            <a:lvl7pPr>
              <a:defRPr sz="2850" b="1">
                <a:solidFill>
                  <a:srgbClr val="10263B"/>
                </a:solidFill>
              </a:defRPr>
            </a:lvl7pPr>
            <a:lvl8pPr>
              <a:defRPr sz="2850" b="1">
                <a:solidFill>
                  <a:srgbClr val="10263B"/>
                </a:solidFill>
              </a:defRPr>
            </a:lvl8pPr>
            <a:lvl9pPr>
              <a:defRPr sz="2850" b="1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0263B"/>
                </a:solidFill>
              </a:defRPr>
            </a:pPr>
            <a:r>
              <a:rPr sz="2850" b="1">
                <a:solidFill>
                  <a:srgbClr val="10263B"/>
                </a:solidFill>
              </a:rPr>
              <a:t>Inside EfficientNet-B0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932BBF-29C4-4E26-BA37-05261A762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66875"/>
            <a:ext cx="1714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4F3F2"/>
          </a:solidFill>
          <a:ln xmlns:a="http://schemas.openxmlformats.org/drawingml/2006/main" w="19050">
            <a:solidFill>
              <a:srgbClr val="087F8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1">
                <a:solidFill>
                  <a:srgbClr val="10263B"/>
                </a:solidFill>
              </a:defRPr>
            </a:defPPr>
            <a:lvl1pPr algn="ctr">
              <a:defRPr sz="1500" b="1">
                <a:solidFill>
                  <a:srgbClr val="10263B"/>
                </a:solidFill>
              </a:defRPr>
            </a:lvl1pPr>
            <a:lvl2pPr algn="ctr">
              <a:defRPr sz="1500" b="1">
                <a:solidFill>
                  <a:srgbClr val="10263B"/>
                </a:solidFill>
              </a:defRPr>
            </a:lvl2pPr>
            <a:lvl3pPr algn="ctr">
              <a:defRPr sz="1500" b="1">
                <a:solidFill>
                  <a:srgbClr val="10263B"/>
                </a:solidFill>
              </a:defRPr>
            </a:lvl3pPr>
            <a:lvl4pPr algn="ctr">
              <a:defRPr sz="1500" b="1">
                <a:solidFill>
                  <a:srgbClr val="10263B"/>
                </a:solidFill>
              </a:defRPr>
            </a:lvl4pPr>
            <a:lvl5pPr algn="ctr">
              <a:defRPr sz="1500" b="1">
                <a:solidFill>
                  <a:srgbClr val="10263B"/>
                </a:solidFill>
              </a:defRPr>
            </a:lvl5pPr>
            <a:lvl6pPr algn="ctr">
              <a:defRPr sz="1500" b="1">
                <a:solidFill>
                  <a:srgbClr val="10263B"/>
                </a:solidFill>
              </a:defRPr>
            </a:lvl6pPr>
            <a:lvl7pPr algn="ctr">
              <a:defRPr sz="1500" b="1">
                <a:solidFill>
                  <a:srgbClr val="10263B"/>
                </a:solidFill>
              </a:defRPr>
            </a:lvl7pPr>
            <a:lvl8pPr algn="ctr">
              <a:defRPr sz="1500" b="1">
                <a:solidFill>
                  <a:srgbClr val="10263B"/>
                </a:solidFill>
              </a:defRPr>
            </a:lvl8pPr>
            <a:lvl9pPr algn="ctr">
              <a:defRPr sz="1500" b="1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10263B"/>
                </a:solidFill>
              </a:defRPr>
            </a:pPr>
            <a:r>
              <a:rPr sz="1500" b="1">
                <a:solidFill>
                  <a:srgbClr val="10263B"/>
                </a:solidFill>
              </a:rPr>
              <a:t>Input image</a:t>
            </a:r>
          </a:p>
          <a:p xmlns:a="http://schemas.openxmlformats.org/drawingml/2006/main">
            <a:pPr algn="ctr">
              <a:defRPr sz="1500" b="1">
                <a:solidFill>
                  <a:srgbClr val="10263B"/>
                </a:solidFill>
              </a:defRPr>
            </a:pPr>
            <a:r>
              <a:rPr sz="1500" b="1">
                <a:solidFill>
                  <a:srgbClr val="10263B"/>
                </a:solidFill>
              </a:rPr>
              <a:t>224 × 224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0D3237-ACCA-465F-8A72-32F7CAC15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019300"/>
            <a:ext cx="428625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solidFill>
              <a:srgbClr val="087F8C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F6631E-C792-4577-B82F-FDCC6889C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666875"/>
            <a:ext cx="1714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4F3F2"/>
          </a:solidFill>
          <a:ln xmlns:a="http://schemas.openxmlformats.org/drawingml/2006/main" w="19050">
            <a:solidFill>
              <a:srgbClr val="087F8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1">
                <a:solidFill>
                  <a:srgbClr val="10263B"/>
                </a:solidFill>
              </a:defRPr>
            </a:defPPr>
            <a:lvl1pPr algn="ctr">
              <a:defRPr sz="1500" b="1">
                <a:solidFill>
                  <a:srgbClr val="10263B"/>
                </a:solidFill>
              </a:defRPr>
            </a:lvl1pPr>
            <a:lvl2pPr algn="ctr">
              <a:defRPr sz="1500" b="1">
                <a:solidFill>
                  <a:srgbClr val="10263B"/>
                </a:solidFill>
              </a:defRPr>
            </a:lvl2pPr>
            <a:lvl3pPr algn="ctr">
              <a:defRPr sz="1500" b="1">
                <a:solidFill>
                  <a:srgbClr val="10263B"/>
                </a:solidFill>
              </a:defRPr>
            </a:lvl3pPr>
            <a:lvl4pPr algn="ctr">
              <a:defRPr sz="1500" b="1">
                <a:solidFill>
                  <a:srgbClr val="10263B"/>
                </a:solidFill>
              </a:defRPr>
            </a:lvl4pPr>
            <a:lvl5pPr algn="ctr">
              <a:defRPr sz="1500" b="1">
                <a:solidFill>
                  <a:srgbClr val="10263B"/>
                </a:solidFill>
              </a:defRPr>
            </a:lvl5pPr>
            <a:lvl6pPr algn="ctr">
              <a:defRPr sz="1500" b="1">
                <a:solidFill>
                  <a:srgbClr val="10263B"/>
                </a:solidFill>
              </a:defRPr>
            </a:lvl6pPr>
            <a:lvl7pPr algn="ctr">
              <a:defRPr sz="1500" b="1">
                <a:solidFill>
                  <a:srgbClr val="10263B"/>
                </a:solidFill>
              </a:defRPr>
            </a:lvl7pPr>
            <a:lvl8pPr algn="ctr">
              <a:defRPr sz="1500" b="1">
                <a:solidFill>
                  <a:srgbClr val="10263B"/>
                </a:solidFill>
              </a:defRPr>
            </a:lvl8pPr>
            <a:lvl9pPr algn="ctr">
              <a:defRPr sz="1500" b="1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10263B"/>
                </a:solidFill>
              </a:defRPr>
            </a:pPr>
            <a:r>
              <a:rPr sz="1500" b="1">
                <a:solidFill>
                  <a:srgbClr val="10263B"/>
                </a:solidFill>
              </a:rPr>
              <a:t>Stem</a:t>
            </a:r>
          </a:p>
          <a:p xmlns:a="http://schemas.openxmlformats.org/drawingml/2006/main">
            <a:pPr algn="ctr">
              <a:defRPr sz="1500" b="1">
                <a:solidFill>
                  <a:srgbClr val="10263B"/>
                </a:solidFill>
              </a:defRPr>
            </a:pPr>
            <a:r>
              <a:rPr sz="1500" b="1">
                <a:solidFill>
                  <a:srgbClr val="10263B"/>
                </a:solidFill>
              </a:rPr>
              <a:t>convolution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234DFC-545F-49E2-BC8D-47B163446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019300"/>
            <a:ext cx="428625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solidFill>
              <a:srgbClr val="087F8C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117224-AFF6-4224-8591-A69F76C8F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1666875"/>
            <a:ext cx="2143125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4F3F2"/>
          </a:solidFill>
          <a:ln xmlns:a="http://schemas.openxmlformats.org/drawingml/2006/main" w="19050">
            <a:solidFill>
              <a:srgbClr val="087F8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1">
                <a:solidFill>
                  <a:srgbClr val="10263B"/>
                </a:solidFill>
              </a:defRPr>
            </a:defPPr>
            <a:lvl1pPr algn="ctr">
              <a:defRPr sz="1500" b="1">
                <a:solidFill>
                  <a:srgbClr val="10263B"/>
                </a:solidFill>
              </a:defRPr>
            </a:lvl1pPr>
            <a:lvl2pPr algn="ctr">
              <a:defRPr sz="1500" b="1">
                <a:solidFill>
                  <a:srgbClr val="10263B"/>
                </a:solidFill>
              </a:defRPr>
            </a:lvl2pPr>
            <a:lvl3pPr algn="ctr">
              <a:defRPr sz="1500" b="1">
                <a:solidFill>
                  <a:srgbClr val="10263B"/>
                </a:solidFill>
              </a:defRPr>
            </a:lvl3pPr>
            <a:lvl4pPr algn="ctr">
              <a:defRPr sz="1500" b="1">
                <a:solidFill>
                  <a:srgbClr val="10263B"/>
                </a:solidFill>
              </a:defRPr>
            </a:lvl4pPr>
            <a:lvl5pPr algn="ctr">
              <a:defRPr sz="1500" b="1">
                <a:solidFill>
                  <a:srgbClr val="10263B"/>
                </a:solidFill>
              </a:defRPr>
            </a:lvl5pPr>
            <a:lvl6pPr algn="ctr">
              <a:defRPr sz="1500" b="1">
                <a:solidFill>
                  <a:srgbClr val="10263B"/>
                </a:solidFill>
              </a:defRPr>
            </a:lvl6pPr>
            <a:lvl7pPr algn="ctr">
              <a:defRPr sz="1500" b="1">
                <a:solidFill>
                  <a:srgbClr val="10263B"/>
                </a:solidFill>
              </a:defRPr>
            </a:lvl7pPr>
            <a:lvl8pPr algn="ctr">
              <a:defRPr sz="1500" b="1">
                <a:solidFill>
                  <a:srgbClr val="10263B"/>
                </a:solidFill>
              </a:defRPr>
            </a:lvl8pPr>
            <a:lvl9pPr algn="ctr">
              <a:defRPr sz="1500" b="1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10263B"/>
                </a:solidFill>
              </a:defRPr>
            </a:pPr>
            <a:r>
              <a:rPr sz="1500" b="1">
                <a:solidFill>
                  <a:srgbClr val="10263B"/>
                </a:solidFill>
              </a:rPr>
              <a:t>Repeated</a:t>
            </a:r>
          </a:p>
          <a:p xmlns:a="http://schemas.openxmlformats.org/drawingml/2006/main">
            <a:pPr algn="ctr">
              <a:defRPr sz="1500" b="1">
                <a:solidFill>
                  <a:srgbClr val="10263B"/>
                </a:solidFill>
              </a:defRPr>
            </a:pPr>
            <a:r>
              <a:rPr sz="1500" b="1">
                <a:solidFill>
                  <a:srgbClr val="10263B"/>
                </a:solidFill>
              </a:rPr>
              <a:t>MBConv blocks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97D242-8134-4FF3-B169-ECD2829D5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019300"/>
            <a:ext cx="428625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solidFill>
              <a:srgbClr val="087F8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E7FE63-994B-4B48-8ECC-CD9EB1FC8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666875"/>
            <a:ext cx="19050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4F3F2"/>
          </a:solidFill>
          <a:ln xmlns:a="http://schemas.openxmlformats.org/drawingml/2006/main" w="19050">
            <a:solidFill>
              <a:srgbClr val="087F8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1">
                <a:solidFill>
                  <a:srgbClr val="10263B"/>
                </a:solidFill>
              </a:defRPr>
            </a:defPPr>
            <a:lvl1pPr algn="ctr">
              <a:defRPr sz="1500" b="1">
                <a:solidFill>
                  <a:srgbClr val="10263B"/>
                </a:solidFill>
              </a:defRPr>
            </a:lvl1pPr>
            <a:lvl2pPr algn="ctr">
              <a:defRPr sz="1500" b="1">
                <a:solidFill>
                  <a:srgbClr val="10263B"/>
                </a:solidFill>
              </a:defRPr>
            </a:lvl2pPr>
            <a:lvl3pPr algn="ctr">
              <a:defRPr sz="1500" b="1">
                <a:solidFill>
                  <a:srgbClr val="10263B"/>
                </a:solidFill>
              </a:defRPr>
            </a:lvl3pPr>
            <a:lvl4pPr algn="ctr">
              <a:defRPr sz="1500" b="1">
                <a:solidFill>
                  <a:srgbClr val="10263B"/>
                </a:solidFill>
              </a:defRPr>
            </a:lvl4pPr>
            <a:lvl5pPr algn="ctr">
              <a:defRPr sz="1500" b="1">
                <a:solidFill>
                  <a:srgbClr val="10263B"/>
                </a:solidFill>
              </a:defRPr>
            </a:lvl5pPr>
            <a:lvl6pPr algn="ctr">
              <a:defRPr sz="1500" b="1">
                <a:solidFill>
                  <a:srgbClr val="10263B"/>
                </a:solidFill>
              </a:defRPr>
            </a:lvl6pPr>
            <a:lvl7pPr algn="ctr">
              <a:defRPr sz="1500" b="1">
                <a:solidFill>
                  <a:srgbClr val="10263B"/>
                </a:solidFill>
              </a:defRPr>
            </a:lvl7pPr>
            <a:lvl8pPr algn="ctr">
              <a:defRPr sz="1500" b="1">
                <a:solidFill>
                  <a:srgbClr val="10263B"/>
                </a:solidFill>
              </a:defRPr>
            </a:lvl8pPr>
            <a:lvl9pPr algn="ctr">
              <a:defRPr sz="1500" b="1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10263B"/>
                </a:solidFill>
              </a:defRPr>
            </a:pPr>
            <a:r>
              <a:rPr sz="1500" b="1">
                <a:solidFill>
                  <a:srgbClr val="10263B"/>
                </a:solidFill>
              </a:rPr>
              <a:t>Pooling</a:t>
            </a:r>
          </a:p>
          <a:p xmlns:a="http://schemas.openxmlformats.org/drawingml/2006/main">
            <a:pPr algn="ctr">
              <a:defRPr sz="1500" b="1">
                <a:solidFill>
                  <a:srgbClr val="10263B"/>
                </a:solidFill>
              </a:defRPr>
            </a:pPr>
            <a:r>
              <a:rPr sz="1500" b="1">
                <a:solidFill>
                  <a:srgbClr val="10263B"/>
                </a:solidFill>
              </a:rPr>
              <a:t>1,280 features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AEEF0F-3D7F-41E2-8A19-66DEBA32E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019300"/>
            <a:ext cx="428625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solidFill>
              <a:srgbClr val="087F8C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E372A2-A359-4FF7-B54E-7368E9FBB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1666875"/>
            <a:ext cx="1285875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4F3F2"/>
          </a:solidFill>
          <a:ln xmlns:a="http://schemas.openxmlformats.org/drawingml/2006/main" w="19050">
            <a:solidFill>
              <a:srgbClr val="087F8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1">
                <a:solidFill>
                  <a:srgbClr val="10263B"/>
                </a:solidFill>
              </a:defRPr>
            </a:defPPr>
            <a:lvl1pPr algn="ctr">
              <a:defRPr sz="1500" b="1">
                <a:solidFill>
                  <a:srgbClr val="10263B"/>
                </a:solidFill>
              </a:defRPr>
            </a:lvl1pPr>
            <a:lvl2pPr algn="ctr">
              <a:defRPr sz="1500" b="1">
                <a:solidFill>
                  <a:srgbClr val="10263B"/>
                </a:solidFill>
              </a:defRPr>
            </a:lvl2pPr>
            <a:lvl3pPr algn="ctr">
              <a:defRPr sz="1500" b="1">
                <a:solidFill>
                  <a:srgbClr val="10263B"/>
                </a:solidFill>
              </a:defRPr>
            </a:lvl3pPr>
            <a:lvl4pPr algn="ctr">
              <a:defRPr sz="1500" b="1">
                <a:solidFill>
                  <a:srgbClr val="10263B"/>
                </a:solidFill>
              </a:defRPr>
            </a:lvl4pPr>
            <a:lvl5pPr algn="ctr">
              <a:defRPr sz="1500" b="1">
                <a:solidFill>
                  <a:srgbClr val="10263B"/>
                </a:solidFill>
              </a:defRPr>
            </a:lvl5pPr>
            <a:lvl6pPr algn="ctr">
              <a:defRPr sz="1500" b="1">
                <a:solidFill>
                  <a:srgbClr val="10263B"/>
                </a:solidFill>
              </a:defRPr>
            </a:lvl6pPr>
            <a:lvl7pPr algn="ctr">
              <a:defRPr sz="1500" b="1">
                <a:solidFill>
                  <a:srgbClr val="10263B"/>
                </a:solidFill>
              </a:defRPr>
            </a:lvl7pPr>
            <a:lvl8pPr algn="ctr">
              <a:defRPr sz="1500" b="1">
                <a:solidFill>
                  <a:srgbClr val="10263B"/>
                </a:solidFill>
              </a:defRPr>
            </a:lvl8pPr>
            <a:lvl9pPr algn="ctr">
              <a:defRPr sz="1500" b="1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10263B"/>
                </a:solidFill>
              </a:defRPr>
            </a:pPr>
            <a:r>
              <a:rPr sz="1500" b="1">
                <a:solidFill>
                  <a:srgbClr val="10263B"/>
                </a:solidFill>
              </a:rPr>
              <a:t>7-class</a:t>
            </a:r>
          </a:p>
          <a:p xmlns:a="http://schemas.openxmlformats.org/drawingml/2006/main">
            <a:pPr algn="ctr">
              <a:defRPr sz="1500" b="1">
                <a:solidFill>
                  <a:srgbClr val="10263B"/>
                </a:solidFill>
              </a:defRPr>
            </a:pPr>
            <a:r>
              <a:rPr sz="1500" b="1">
                <a:solidFill>
                  <a:srgbClr val="10263B"/>
                </a:solidFill>
              </a:rPr>
              <a:t>head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E170C0-7B25-41F3-A832-30F80402C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238500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0263B"/>
                </a:solidFill>
              </a:defRPr>
            </a:defPPr>
            <a:lvl1pPr>
              <a:defRPr sz="1800" b="0">
                <a:solidFill>
                  <a:srgbClr val="10263B"/>
                </a:solidFill>
              </a:defRPr>
            </a:lvl1pPr>
            <a:lvl2pPr>
              <a:defRPr sz="1800" b="0">
                <a:solidFill>
                  <a:srgbClr val="10263B"/>
                </a:solidFill>
              </a:defRPr>
            </a:lvl2pPr>
            <a:lvl3pPr>
              <a:defRPr sz="1800" b="0">
                <a:solidFill>
                  <a:srgbClr val="10263B"/>
                </a:solidFill>
              </a:defRPr>
            </a:lvl3pPr>
            <a:lvl4pPr>
              <a:defRPr sz="1800" b="0">
                <a:solidFill>
                  <a:srgbClr val="10263B"/>
                </a:solidFill>
              </a:defRPr>
            </a:lvl4pPr>
            <a:lvl5pPr>
              <a:defRPr sz="1800" b="0">
                <a:solidFill>
                  <a:srgbClr val="10263B"/>
                </a:solidFill>
              </a:defRPr>
            </a:lvl5pPr>
            <a:lvl6pPr>
              <a:defRPr sz="1800" b="0">
                <a:solidFill>
                  <a:srgbClr val="10263B"/>
                </a:solidFill>
              </a:defRPr>
            </a:lvl6pPr>
            <a:lvl7pPr>
              <a:defRPr sz="1800" b="0">
                <a:solidFill>
                  <a:srgbClr val="10263B"/>
                </a:solidFill>
              </a:defRPr>
            </a:lvl7pPr>
            <a:lvl8pPr>
              <a:defRPr sz="1800" b="0">
                <a:solidFill>
                  <a:srgbClr val="10263B"/>
                </a:solidFill>
              </a:defRPr>
            </a:lvl8pPr>
            <a:lvl9pPr>
              <a:defRPr sz="1800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0263B"/>
                </a:solidFill>
              </a:defRPr>
            </a:pPr>
            <a:r>
              <a:rPr sz="1800" b="0">
                <a:solidFill>
                  <a:srgbClr val="10263B"/>
                </a:solidFill>
              </a:rPr>
              <a:t>Convolutions detect visual patterns, from edges to more complex features.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74DA66-42A4-435A-83CA-37DA85139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905250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0263B"/>
                </a:solidFill>
              </a:defRPr>
            </a:defPPr>
            <a:lvl1pPr>
              <a:defRPr sz="1800" b="0">
                <a:solidFill>
                  <a:srgbClr val="10263B"/>
                </a:solidFill>
              </a:defRPr>
            </a:lvl1pPr>
            <a:lvl2pPr>
              <a:defRPr sz="1800" b="0">
                <a:solidFill>
                  <a:srgbClr val="10263B"/>
                </a:solidFill>
              </a:defRPr>
            </a:lvl2pPr>
            <a:lvl3pPr>
              <a:defRPr sz="1800" b="0">
                <a:solidFill>
                  <a:srgbClr val="10263B"/>
                </a:solidFill>
              </a:defRPr>
            </a:lvl3pPr>
            <a:lvl4pPr>
              <a:defRPr sz="1800" b="0">
                <a:solidFill>
                  <a:srgbClr val="10263B"/>
                </a:solidFill>
              </a:defRPr>
            </a:lvl4pPr>
            <a:lvl5pPr>
              <a:defRPr sz="1800" b="0">
                <a:solidFill>
                  <a:srgbClr val="10263B"/>
                </a:solidFill>
              </a:defRPr>
            </a:lvl5pPr>
            <a:lvl6pPr>
              <a:defRPr sz="1800" b="0">
                <a:solidFill>
                  <a:srgbClr val="10263B"/>
                </a:solidFill>
              </a:defRPr>
            </a:lvl6pPr>
            <a:lvl7pPr>
              <a:defRPr sz="1800" b="0">
                <a:solidFill>
                  <a:srgbClr val="10263B"/>
                </a:solidFill>
              </a:defRPr>
            </a:lvl7pPr>
            <a:lvl8pPr>
              <a:defRPr sz="1800" b="0">
                <a:solidFill>
                  <a:srgbClr val="10263B"/>
                </a:solidFill>
              </a:defRPr>
            </a:lvl8pPr>
            <a:lvl9pPr>
              <a:defRPr sz="1800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0263B"/>
                </a:solidFill>
              </a:defRPr>
            </a:pPr>
            <a:r>
              <a:rPr sz="1800" b="0">
                <a:solidFill>
                  <a:srgbClr val="10263B"/>
                </a:solidFill>
              </a:rPr>
              <a:t>MBConv blocks use efficient convolutions and channel attention.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768EB3-822E-4CC3-8965-44C3BDDB0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572000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0263B"/>
                </a:solidFill>
              </a:defRPr>
            </a:defPPr>
            <a:lvl1pPr>
              <a:defRPr sz="1800" b="0">
                <a:solidFill>
                  <a:srgbClr val="10263B"/>
                </a:solidFill>
              </a:defRPr>
            </a:lvl1pPr>
            <a:lvl2pPr>
              <a:defRPr sz="1800" b="0">
                <a:solidFill>
                  <a:srgbClr val="10263B"/>
                </a:solidFill>
              </a:defRPr>
            </a:lvl2pPr>
            <a:lvl3pPr>
              <a:defRPr sz="1800" b="0">
                <a:solidFill>
                  <a:srgbClr val="10263B"/>
                </a:solidFill>
              </a:defRPr>
            </a:lvl3pPr>
            <a:lvl4pPr>
              <a:defRPr sz="1800" b="0">
                <a:solidFill>
                  <a:srgbClr val="10263B"/>
                </a:solidFill>
              </a:defRPr>
            </a:lvl4pPr>
            <a:lvl5pPr>
              <a:defRPr sz="1800" b="0">
                <a:solidFill>
                  <a:srgbClr val="10263B"/>
                </a:solidFill>
              </a:defRPr>
            </a:lvl5pPr>
            <a:lvl6pPr>
              <a:defRPr sz="1800" b="0">
                <a:solidFill>
                  <a:srgbClr val="10263B"/>
                </a:solidFill>
              </a:defRPr>
            </a:lvl6pPr>
            <a:lvl7pPr>
              <a:defRPr sz="1800" b="0">
                <a:solidFill>
                  <a:srgbClr val="10263B"/>
                </a:solidFill>
              </a:defRPr>
            </a:lvl7pPr>
            <a:lvl8pPr>
              <a:defRPr sz="1800" b="0">
                <a:solidFill>
                  <a:srgbClr val="10263B"/>
                </a:solidFill>
              </a:defRPr>
            </a:lvl8pPr>
            <a:lvl9pPr>
              <a:defRPr sz="1800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0263B"/>
                </a:solidFill>
              </a:defRPr>
            </a:pPr>
            <a:r>
              <a:rPr sz="1800" b="0">
                <a:solidFill>
                  <a:srgbClr val="10263B"/>
                </a:solidFill>
              </a:rPr>
              <a:t>Our experiments either froze the backbone or fine-tuned its weights.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2AEE4D-B1D4-499B-8B0C-9EB3E848C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57212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4B6070"/>
                </a:solidFill>
              </a:defRPr>
            </a:defPPr>
            <a:lvl1pPr>
              <a:defRPr sz="1425" b="0">
                <a:solidFill>
                  <a:srgbClr val="4B6070"/>
                </a:solidFill>
              </a:defRPr>
            </a:lvl1pPr>
            <a:lvl2pPr>
              <a:defRPr sz="1425" b="0">
                <a:solidFill>
                  <a:srgbClr val="4B6070"/>
                </a:solidFill>
              </a:defRPr>
            </a:lvl2pPr>
            <a:lvl3pPr>
              <a:defRPr sz="1425" b="0">
                <a:solidFill>
                  <a:srgbClr val="4B6070"/>
                </a:solidFill>
              </a:defRPr>
            </a:lvl3pPr>
            <a:lvl4pPr>
              <a:defRPr sz="1425" b="0">
                <a:solidFill>
                  <a:srgbClr val="4B6070"/>
                </a:solidFill>
              </a:defRPr>
            </a:lvl4pPr>
            <a:lvl5pPr>
              <a:defRPr sz="1425" b="0">
                <a:solidFill>
                  <a:srgbClr val="4B6070"/>
                </a:solidFill>
              </a:defRPr>
            </a:lvl5pPr>
            <a:lvl6pPr>
              <a:defRPr sz="1425" b="0">
                <a:solidFill>
                  <a:srgbClr val="4B6070"/>
                </a:solidFill>
              </a:defRPr>
            </a:lvl6pPr>
            <a:lvl7pPr>
              <a:defRPr sz="1425" b="0">
                <a:solidFill>
                  <a:srgbClr val="4B6070"/>
                </a:solidFill>
              </a:defRPr>
            </a:lvl7pPr>
            <a:lvl8pPr>
              <a:defRPr sz="1425" b="0">
                <a:solidFill>
                  <a:srgbClr val="4B6070"/>
                </a:solidFill>
              </a:defRPr>
            </a:lvl8pPr>
            <a:lvl9pPr>
              <a:defRPr sz="1425" b="0">
                <a:solidFill>
                  <a:srgbClr val="4B6070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4B6070"/>
                </a:solidFill>
              </a:defRPr>
            </a:pPr>
            <a:r>
              <a:rPr sz="1425" b="0">
                <a:solidFill>
                  <a:srgbClr val="4B6070"/>
                </a:solidFill>
              </a:rPr>
              <a:t>Simplified architecture; block counts and training details omitted for clarity.</a:t>
            </a:r>
          </a:p>
        </p:txBody>
      </p:sp>
    </p:spTree>
    <p:extLst>
      <p:ext uri="{BB962C8B-B14F-4D97-AF65-F5344CB8AC3E}">
        <p14:creationId xmlns:p14="http://schemas.microsoft.com/office/powerpoint/2010/main" val="88350756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FC9211-08C8-4F9D-8C95-4159FCFF7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0263B"/>
                </a:solidFill>
              </a:defRPr>
            </a:defPPr>
            <a:lvl1pPr>
              <a:buNone/>
              <a:defRPr sz="2850" b="1">
                <a:solidFill>
                  <a:srgbClr val="10263B"/>
                </a:solidFill>
              </a:defRPr>
            </a:lvl1pPr>
            <a:lvl2pPr>
              <a:buNone/>
              <a:defRPr sz="2850" b="1">
                <a:solidFill>
                  <a:srgbClr val="10263B"/>
                </a:solidFill>
              </a:defRPr>
            </a:lvl2pPr>
            <a:lvl3pPr>
              <a:buNone/>
              <a:defRPr sz="2850" b="1">
                <a:solidFill>
                  <a:srgbClr val="10263B"/>
                </a:solidFill>
              </a:defRPr>
            </a:lvl3pPr>
            <a:lvl4pPr>
              <a:buNone/>
              <a:defRPr sz="2850" b="1">
                <a:solidFill>
                  <a:srgbClr val="10263B"/>
                </a:solidFill>
              </a:defRPr>
            </a:lvl4pPr>
            <a:lvl5pPr>
              <a:buNone/>
              <a:defRPr sz="2850" b="1">
                <a:solidFill>
                  <a:srgbClr val="10263B"/>
                </a:solidFill>
              </a:defRPr>
            </a:lvl5pPr>
            <a:lvl6pPr>
              <a:buNone/>
              <a:defRPr sz="2850" b="1">
                <a:solidFill>
                  <a:srgbClr val="10263B"/>
                </a:solidFill>
              </a:defRPr>
            </a:lvl6pPr>
            <a:lvl7pPr>
              <a:buNone/>
              <a:defRPr sz="2850" b="1">
                <a:solidFill>
                  <a:srgbClr val="10263B"/>
                </a:solidFill>
              </a:defRPr>
            </a:lvl7pPr>
            <a:lvl8pPr>
              <a:buNone/>
              <a:defRPr sz="2850" b="1">
                <a:solidFill>
                  <a:srgbClr val="10263B"/>
                </a:solidFill>
              </a:defRPr>
            </a:lvl8pPr>
            <a:lvl9pPr>
              <a:buNone/>
              <a:defRPr sz="2850" b="1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2850" b="1">
                <a:solidFill>
                  <a:srgbClr val="10263B"/>
                </a:solidFill>
              </a:defRPr>
            </a:pPr>
            <a:r>
              <a:rPr sz="2850" b="1">
                <a:solidFill>
                  <a:srgbClr val="10263B"/>
                </a:solidFill>
              </a:rPr>
              <a:t>What the EfficientNet experiments showed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EA6B82-6EC6-4CB7-8270-69DFE817D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381125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0263B"/>
                </a:solidFill>
              </a:defRPr>
            </a:defPPr>
            <a:lvl1pPr>
              <a:buNone/>
              <a:defRPr sz="1875" b="0">
                <a:solidFill>
                  <a:srgbClr val="10263B"/>
                </a:solidFill>
              </a:defRPr>
            </a:lvl1pPr>
            <a:lvl2pPr>
              <a:buNone/>
              <a:defRPr sz="1875" b="0">
                <a:solidFill>
                  <a:srgbClr val="10263B"/>
                </a:solidFill>
              </a:defRPr>
            </a:lvl2pPr>
            <a:lvl3pPr>
              <a:buNone/>
              <a:defRPr sz="1875" b="0">
                <a:solidFill>
                  <a:srgbClr val="10263B"/>
                </a:solidFill>
              </a:defRPr>
            </a:lvl3pPr>
            <a:lvl4pPr>
              <a:buNone/>
              <a:defRPr sz="1875" b="0">
                <a:solidFill>
                  <a:srgbClr val="10263B"/>
                </a:solidFill>
              </a:defRPr>
            </a:lvl4pPr>
            <a:lvl5pPr>
              <a:buNone/>
              <a:defRPr sz="1875" b="0">
                <a:solidFill>
                  <a:srgbClr val="10263B"/>
                </a:solidFill>
              </a:defRPr>
            </a:lvl5pPr>
            <a:lvl6pPr>
              <a:buNone/>
              <a:defRPr sz="1875" b="0">
                <a:solidFill>
                  <a:srgbClr val="10263B"/>
                </a:solidFill>
              </a:defRPr>
            </a:lvl6pPr>
            <a:lvl7pPr>
              <a:buNone/>
              <a:defRPr sz="1875" b="0">
                <a:solidFill>
                  <a:srgbClr val="10263B"/>
                </a:solidFill>
              </a:defRPr>
            </a:lvl7pPr>
            <a:lvl8pPr>
              <a:buNone/>
              <a:defRPr sz="1875" b="0">
                <a:solidFill>
                  <a:srgbClr val="10263B"/>
                </a:solidFill>
              </a:defRPr>
            </a:lvl8pPr>
            <a:lvl9pPr>
              <a:buNone/>
              <a:defRPr sz="1875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0263B"/>
                </a:solidFill>
              </a:defRPr>
            </a:pPr>
            <a:r>
              <a:rPr sz="1875" b="0">
                <a:solidFill>
                  <a:srgbClr val="10263B"/>
                </a:solidFill>
              </a:rPr>
              <a:t>Original neural head: 61.6% internal test macro F1.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B2576E-1B3F-4D27-A082-E10E65790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71700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0263B"/>
                </a:solidFill>
              </a:defRPr>
            </a:defPPr>
            <a:lvl1pPr>
              <a:buNone/>
              <a:defRPr sz="1875" b="0">
                <a:solidFill>
                  <a:srgbClr val="10263B"/>
                </a:solidFill>
              </a:defRPr>
            </a:lvl1pPr>
            <a:lvl2pPr>
              <a:buNone/>
              <a:defRPr sz="1875" b="0">
                <a:solidFill>
                  <a:srgbClr val="10263B"/>
                </a:solidFill>
              </a:defRPr>
            </a:lvl2pPr>
            <a:lvl3pPr>
              <a:buNone/>
              <a:defRPr sz="1875" b="0">
                <a:solidFill>
                  <a:srgbClr val="10263B"/>
                </a:solidFill>
              </a:defRPr>
            </a:lvl3pPr>
            <a:lvl4pPr>
              <a:buNone/>
              <a:defRPr sz="1875" b="0">
                <a:solidFill>
                  <a:srgbClr val="10263B"/>
                </a:solidFill>
              </a:defRPr>
            </a:lvl4pPr>
            <a:lvl5pPr>
              <a:buNone/>
              <a:defRPr sz="1875" b="0">
                <a:solidFill>
                  <a:srgbClr val="10263B"/>
                </a:solidFill>
              </a:defRPr>
            </a:lvl5pPr>
            <a:lvl6pPr>
              <a:buNone/>
              <a:defRPr sz="1875" b="0">
                <a:solidFill>
                  <a:srgbClr val="10263B"/>
                </a:solidFill>
              </a:defRPr>
            </a:lvl6pPr>
            <a:lvl7pPr>
              <a:buNone/>
              <a:defRPr sz="1875" b="0">
                <a:solidFill>
                  <a:srgbClr val="10263B"/>
                </a:solidFill>
              </a:defRPr>
            </a:lvl7pPr>
            <a:lvl8pPr>
              <a:buNone/>
              <a:defRPr sz="1875" b="0">
                <a:solidFill>
                  <a:srgbClr val="10263B"/>
                </a:solidFill>
              </a:defRPr>
            </a:lvl8pPr>
            <a:lvl9pPr>
              <a:buNone/>
              <a:defRPr sz="1875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0263B"/>
                </a:solidFill>
              </a:defRPr>
            </a:pPr>
            <a:r>
              <a:rPr sz="1875" b="0">
                <a:solidFill>
                  <a:srgbClr val="10263B"/>
                </a:solidFill>
              </a:rPr>
              <a:t>Improved multi-view linear head: 61.5% macro F1 on the official test.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44008F-89D7-4D9E-8E23-4F37CE09F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962275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0263B"/>
                </a:solidFill>
              </a:defRPr>
            </a:defPPr>
            <a:lvl1pPr>
              <a:buNone/>
              <a:defRPr sz="1875" b="0">
                <a:solidFill>
                  <a:srgbClr val="10263B"/>
                </a:solidFill>
              </a:defRPr>
            </a:lvl1pPr>
            <a:lvl2pPr>
              <a:buNone/>
              <a:defRPr sz="1875" b="0">
                <a:solidFill>
                  <a:srgbClr val="10263B"/>
                </a:solidFill>
              </a:defRPr>
            </a:lvl2pPr>
            <a:lvl3pPr>
              <a:buNone/>
              <a:defRPr sz="1875" b="0">
                <a:solidFill>
                  <a:srgbClr val="10263B"/>
                </a:solidFill>
              </a:defRPr>
            </a:lvl3pPr>
            <a:lvl4pPr>
              <a:buNone/>
              <a:defRPr sz="1875" b="0">
                <a:solidFill>
                  <a:srgbClr val="10263B"/>
                </a:solidFill>
              </a:defRPr>
            </a:lvl4pPr>
            <a:lvl5pPr>
              <a:buNone/>
              <a:defRPr sz="1875" b="0">
                <a:solidFill>
                  <a:srgbClr val="10263B"/>
                </a:solidFill>
              </a:defRPr>
            </a:lvl5pPr>
            <a:lvl6pPr>
              <a:buNone/>
              <a:defRPr sz="1875" b="0">
                <a:solidFill>
                  <a:srgbClr val="10263B"/>
                </a:solidFill>
              </a:defRPr>
            </a:lvl6pPr>
            <a:lvl7pPr>
              <a:buNone/>
              <a:defRPr sz="1875" b="0">
                <a:solidFill>
                  <a:srgbClr val="10263B"/>
                </a:solidFill>
              </a:defRPr>
            </a:lvl7pPr>
            <a:lvl8pPr>
              <a:buNone/>
              <a:defRPr sz="1875" b="0">
                <a:solidFill>
                  <a:srgbClr val="10263B"/>
                </a:solidFill>
              </a:defRPr>
            </a:lvl8pPr>
            <a:lvl9pPr>
              <a:buNone/>
              <a:defRPr sz="1875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0263B"/>
                </a:solidFill>
              </a:defRPr>
            </a:pPr>
            <a:r>
              <a:rPr sz="1875" b="0">
                <a:solidFill>
                  <a:srgbClr val="10263B"/>
                </a:solidFill>
              </a:rPr>
              <a:t>SMOTE helped some heads but reduced XGBoost macro F1 in the original comparison.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D091C3-F635-46A9-9FB3-B42A88559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752850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0263B"/>
                </a:solidFill>
              </a:defRPr>
            </a:defPPr>
            <a:lvl1pPr>
              <a:buNone/>
              <a:defRPr sz="1875" b="0">
                <a:solidFill>
                  <a:srgbClr val="10263B"/>
                </a:solidFill>
              </a:defRPr>
            </a:lvl1pPr>
            <a:lvl2pPr>
              <a:buNone/>
              <a:defRPr sz="1875" b="0">
                <a:solidFill>
                  <a:srgbClr val="10263B"/>
                </a:solidFill>
              </a:defRPr>
            </a:lvl2pPr>
            <a:lvl3pPr>
              <a:buNone/>
              <a:defRPr sz="1875" b="0">
                <a:solidFill>
                  <a:srgbClr val="10263B"/>
                </a:solidFill>
              </a:defRPr>
            </a:lvl3pPr>
            <a:lvl4pPr>
              <a:buNone/>
              <a:defRPr sz="1875" b="0">
                <a:solidFill>
                  <a:srgbClr val="10263B"/>
                </a:solidFill>
              </a:defRPr>
            </a:lvl4pPr>
            <a:lvl5pPr>
              <a:buNone/>
              <a:defRPr sz="1875" b="0">
                <a:solidFill>
                  <a:srgbClr val="10263B"/>
                </a:solidFill>
              </a:defRPr>
            </a:lvl5pPr>
            <a:lvl6pPr>
              <a:buNone/>
              <a:defRPr sz="1875" b="0">
                <a:solidFill>
                  <a:srgbClr val="10263B"/>
                </a:solidFill>
              </a:defRPr>
            </a:lvl6pPr>
            <a:lvl7pPr>
              <a:buNone/>
              <a:defRPr sz="1875" b="0">
                <a:solidFill>
                  <a:srgbClr val="10263B"/>
                </a:solidFill>
              </a:defRPr>
            </a:lvl7pPr>
            <a:lvl8pPr>
              <a:buNone/>
              <a:defRPr sz="1875" b="0">
                <a:solidFill>
                  <a:srgbClr val="10263B"/>
                </a:solidFill>
              </a:defRPr>
            </a:lvl8pPr>
            <a:lvl9pPr>
              <a:buNone/>
              <a:defRPr sz="1875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0263B"/>
                </a:solidFill>
              </a:defRPr>
            </a:pPr>
            <a:r>
              <a:rPr sz="1875" b="0">
                <a:solidFill>
                  <a:srgbClr val="10263B"/>
                </a:solidFill>
              </a:rPr>
              <a:t>Seven specialist classifiers did not beat the improved linear model overall.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1B081C-25C9-4F1C-A41A-598B03BBB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4B6070"/>
                </a:solidFill>
              </a:defRPr>
            </a:defPPr>
            <a:lvl1pPr>
              <a:buNone/>
              <a:defRPr sz="1050" b="0">
                <a:solidFill>
                  <a:srgbClr val="4B6070"/>
                </a:solidFill>
              </a:defRPr>
            </a:lvl1pPr>
            <a:lvl2pPr>
              <a:buNone/>
              <a:defRPr sz="1050" b="0">
                <a:solidFill>
                  <a:srgbClr val="4B6070"/>
                </a:solidFill>
              </a:defRPr>
            </a:lvl2pPr>
            <a:lvl3pPr>
              <a:buNone/>
              <a:defRPr sz="1050" b="0">
                <a:solidFill>
                  <a:srgbClr val="4B6070"/>
                </a:solidFill>
              </a:defRPr>
            </a:lvl3pPr>
            <a:lvl4pPr>
              <a:buNone/>
              <a:defRPr sz="1050" b="0">
                <a:solidFill>
                  <a:srgbClr val="4B6070"/>
                </a:solidFill>
              </a:defRPr>
            </a:lvl4pPr>
            <a:lvl5pPr>
              <a:buNone/>
              <a:defRPr sz="1050" b="0">
                <a:solidFill>
                  <a:srgbClr val="4B6070"/>
                </a:solidFill>
              </a:defRPr>
            </a:lvl5pPr>
            <a:lvl6pPr>
              <a:buNone/>
              <a:defRPr sz="1050" b="0">
                <a:solidFill>
                  <a:srgbClr val="4B6070"/>
                </a:solidFill>
              </a:defRPr>
            </a:lvl6pPr>
            <a:lvl7pPr>
              <a:buNone/>
              <a:defRPr sz="1050" b="0">
                <a:solidFill>
                  <a:srgbClr val="4B6070"/>
                </a:solidFill>
              </a:defRPr>
            </a:lvl7pPr>
            <a:lvl8pPr>
              <a:buNone/>
              <a:defRPr sz="1050" b="0">
                <a:solidFill>
                  <a:srgbClr val="4B6070"/>
                </a:solidFill>
              </a:defRPr>
            </a:lvl8pPr>
            <a:lvl9pPr>
              <a:buNone/>
              <a:defRPr sz="1050" b="0">
                <a:solidFill>
                  <a:srgbClr val="4B6070"/>
                </a:solidFill>
              </a:defRPr>
            </a:lvl9pPr>
          </a:lstStyle>
          <a:p xmlns:a="http://schemas.openxmlformats.org/drawingml/2006/main">
            <a:pPr>
              <a:buNone/>
              <a:defRPr sz="1050" b="0">
                <a:solidFill>
                  <a:srgbClr val="4B6070"/>
                </a:solidFill>
              </a:defRPr>
            </a:pPr>
            <a:r>
              <a:rPr sz="1050" b="0">
                <a:solidFill>
                  <a:srgbClr val="4B6070"/>
                </a:solidFill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26486182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A8B861-05CF-4418-A139-8FE79B9ED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0263B"/>
                </a:solidFill>
              </a:defRPr>
            </a:defPPr>
            <a:lvl1pPr>
              <a:buNone/>
              <a:defRPr sz="2850" b="1">
                <a:solidFill>
                  <a:srgbClr val="10263B"/>
                </a:solidFill>
              </a:defRPr>
            </a:lvl1pPr>
            <a:lvl2pPr>
              <a:buNone/>
              <a:defRPr sz="2850" b="1">
                <a:solidFill>
                  <a:srgbClr val="10263B"/>
                </a:solidFill>
              </a:defRPr>
            </a:lvl2pPr>
            <a:lvl3pPr>
              <a:buNone/>
              <a:defRPr sz="2850" b="1">
                <a:solidFill>
                  <a:srgbClr val="10263B"/>
                </a:solidFill>
              </a:defRPr>
            </a:lvl3pPr>
            <a:lvl4pPr>
              <a:buNone/>
              <a:defRPr sz="2850" b="1">
                <a:solidFill>
                  <a:srgbClr val="10263B"/>
                </a:solidFill>
              </a:defRPr>
            </a:lvl4pPr>
            <a:lvl5pPr>
              <a:buNone/>
              <a:defRPr sz="2850" b="1">
                <a:solidFill>
                  <a:srgbClr val="10263B"/>
                </a:solidFill>
              </a:defRPr>
            </a:lvl5pPr>
            <a:lvl6pPr>
              <a:buNone/>
              <a:defRPr sz="2850" b="1">
                <a:solidFill>
                  <a:srgbClr val="10263B"/>
                </a:solidFill>
              </a:defRPr>
            </a:lvl6pPr>
            <a:lvl7pPr>
              <a:buNone/>
              <a:defRPr sz="2850" b="1">
                <a:solidFill>
                  <a:srgbClr val="10263B"/>
                </a:solidFill>
              </a:defRPr>
            </a:lvl7pPr>
            <a:lvl8pPr>
              <a:buNone/>
              <a:defRPr sz="2850" b="1">
                <a:solidFill>
                  <a:srgbClr val="10263B"/>
                </a:solidFill>
              </a:defRPr>
            </a:lvl8pPr>
            <a:lvl9pPr>
              <a:buNone/>
              <a:defRPr sz="2850" b="1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2850" b="1">
                <a:solidFill>
                  <a:srgbClr val="10263B"/>
                </a:solidFill>
              </a:defRPr>
            </a:pPr>
            <a:r>
              <a:rPr sz="2850" b="1">
                <a:solidFill>
                  <a:srgbClr val="10263B"/>
                </a:solidFill>
              </a:rPr>
              <a:t>PanDerm: why we tested 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B3C892-CBED-4B59-A796-EB6BE6D51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381125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0263B"/>
                </a:solidFill>
              </a:defRPr>
            </a:defPPr>
            <a:lvl1pPr>
              <a:buNone/>
              <a:defRPr sz="1875" b="0">
                <a:solidFill>
                  <a:srgbClr val="10263B"/>
                </a:solidFill>
              </a:defRPr>
            </a:lvl1pPr>
            <a:lvl2pPr>
              <a:buNone/>
              <a:defRPr sz="1875" b="0">
                <a:solidFill>
                  <a:srgbClr val="10263B"/>
                </a:solidFill>
              </a:defRPr>
            </a:lvl2pPr>
            <a:lvl3pPr>
              <a:buNone/>
              <a:defRPr sz="1875" b="0">
                <a:solidFill>
                  <a:srgbClr val="10263B"/>
                </a:solidFill>
              </a:defRPr>
            </a:lvl3pPr>
            <a:lvl4pPr>
              <a:buNone/>
              <a:defRPr sz="1875" b="0">
                <a:solidFill>
                  <a:srgbClr val="10263B"/>
                </a:solidFill>
              </a:defRPr>
            </a:lvl4pPr>
            <a:lvl5pPr>
              <a:buNone/>
              <a:defRPr sz="1875" b="0">
                <a:solidFill>
                  <a:srgbClr val="10263B"/>
                </a:solidFill>
              </a:defRPr>
            </a:lvl5pPr>
            <a:lvl6pPr>
              <a:buNone/>
              <a:defRPr sz="1875" b="0">
                <a:solidFill>
                  <a:srgbClr val="10263B"/>
                </a:solidFill>
              </a:defRPr>
            </a:lvl6pPr>
            <a:lvl7pPr>
              <a:buNone/>
              <a:defRPr sz="1875" b="0">
                <a:solidFill>
                  <a:srgbClr val="10263B"/>
                </a:solidFill>
              </a:defRPr>
            </a:lvl7pPr>
            <a:lvl8pPr>
              <a:buNone/>
              <a:defRPr sz="1875" b="0">
                <a:solidFill>
                  <a:srgbClr val="10263B"/>
                </a:solidFill>
              </a:defRPr>
            </a:lvl8pPr>
            <a:lvl9pPr>
              <a:buNone/>
              <a:defRPr sz="1875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0263B"/>
                </a:solidFill>
              </a:defRPr>
            </a:pPr>
            <a:r>
              <a:rPr sz="1875" b="0">
                <a:solidFill>
                  <a:srgbClr val="10263B"/>
                </a:solidFill>
              </a:rPr>
              <a:t>PanDerm is pretrained for dermatology, while EfficientNet starts with general ImageNet features.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BB4E7B-820F-4030-9E45-7DABC149B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71700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0263B"/>
                </a:solidFill>
              </a:defRPr>
            </a:defPPr>
            <a:lvl1pPr>
              <a:buNone/>
              <a:defRPr sz="1875" b="0">
                <a:solidFill>
                  <a:srgbClr val="10263B"/>
                </a:solidFill>
              </a:defRPr>
            </a:lvl1pPr>
            <a:lvl2pPr>
              <a:buNone/>
              <a:defRPr sz="1875" b="0">
                <a:solidFill>
                  <a:srgbClr val="10263B"/>
                </a:solidFill>
              </a:defRPr>
            </a:lvl2pPr>
            <a:lvl3pPr>
              <a:buNone/>
              <a:defRPr sz="1875" b="0">
                <a:solidFill>
                  <a:srgbClr val="10263B"/>
                </a:solidFill>
              </a:defRPr>
            </a:lvl3pPr>
            <a:lvl4pPr>
              <a:buNone/>
              <a:defRPr sz="1875" b="0">
                <a:solidFill>
                  <a:srgbClr val="10263B"/>
                </a:solidFill>
              </a:defRPr>
            </a:lvl4pPr>
            <a:lvl5pPr>
              <a:buNone/>
              <a:defRPr sz="1875" b="0">
                <a:solidFill>
                  <a:srgbClr val="10263B"/>
                </a:solidFill>
              </a:defRPr>
            </a:lvl5pPr>
            <a:lvl6pPr>
              <a:buNone/>
              <a:defRPr sz="1875" b="0">
                <a:solidFill>
                  <a:srgbClr val="10263B"/>
                </a:solidFill>
              </a:defRPr>
            </a:lvl6pPr>
            <a:lvl7pPr>
              <a:buNone/>
              <a:defRPr sz="1875" b="0">
                <a:solidFill>
                  <a:srgbClr val="10263B"/>
                </a:solidFill>
              </a:defRPr>
            </a:lvl7pPr>
            <a:lvl8pPr>
              <a:buNone/>
              <a:defRPr sz="1875" b="0">
                <a:solidFill>
                  <a:srgbClr val="10263B"/>
                </a:solidFill>
              </a:defRPr>
            </a:lvl8pPr>
            <a:lvl9pPr>
              <a:buNone/>
              <a:defRPr sz="1875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0263B"/>
                </a:solidFill>
              </a:defRPr>
            </a:pPr>
            <a:r>
              <a:rPr sz="1875" b="0">
                <a:solidFill>
                  <a:srgbClr val="10263B"/>
                </a:solidFill>
              </a:rPr>
              <a:t>We froze the encoder and trained small classifiers on its image embeddings.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EF5559-073D-4FB9-82E5-1E6463F3C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962275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0263B"/>
                </a:solidFill>
              </a:defRPr>
            </a:defPPr>
            <a:lvl1pPr>
              <a:buNone/>
              <a:defRPr sz="1875" b="0">
                <a:solidFill>
                  <a:srgbClr val="10263B"/>
                </a:solidFill>
              </a:defRPr>
            </a:lvl1pPr>
            <a:lvl2pPr>
              <a:buNone/>
              <a:defRPr sz="1875" b="0">
                <a:solidFill>
                  <a:srgbClr val="10263B"/>
                </a:solidFill>
              </a:defRPr>
            </a:lvl2pPr>
            <a:lvl3pPr>
              <a:buNone/>
              <a:defRPr sz="1875" b="0">
                <a:solidFill>
                  <a:srgbClr val="10263B"/>
                </a:solidFill>
              </a:defRPr>
            </a:lvl3pPr>
            <a:lvl4pPr>
              <a:buNone/>
              <a:defRPr sz="1875" b="0">
                <a:solidFill>
                  <a:srgbClr val="10263B"/>
                </a:solidFill>
              </a:defRPr>
            </a:lvl4pPr>
            <a:lvl5pPr>
              <a:buNone/>
              <a:defRPr sz="1875" b="0">
                <a:solidFill>
                  <a:srgbClr val="10263B"/>
                </a:solidFill>
              </a:defRPr>
            </a:lvl5pPr>
            <a:lvl6pPr>
              <a:buNone/>
              <a:defRPr sz="1875" b="0">
                <a:solidFill>
                  <a:srgbClr val="10263B"/>
                </a:solidFill>
              </a:defRPr>
            </a:lvl6pPr>
            <a:lvl7pPr>
              <a:buNone/>
              <a:defRPr sz="1875" b="0">
                <a:solidFill>
                  <a:srgbClr val="10263B"/>
                </a:solidFill>
              </a:defRPr>
            </a:lvl7pPr>
            <a:lvl8pPr>
              <a:buNone/>
              <a:defRPr sz="1875" b="0">
                <a:solidFill>
                  <a:srgbClr val="10263B"/>
                </a:solidFill>
              </a:defRPr>
            </a:lvl8pPr>
            <a:lvl9pPr>
              <a:buNone/>
              <a:defRPr sz="1875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0263B"/>
                </a:solidFill>
              </a:defRPr>
            </a:pPr>
            <a:r>
              <a:rPr sz="1875" b="0">
                <a:solidFill>
                  <a:srgbClr val="10263B"/>
                </a:solidFill>
              </a:rPr>
              <a:t>Base produces 768 features per image; Large produces 1,024.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6214C6-F5CB-475F-8626-B95C7A07B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752850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0263B"/>
                </a:solidFill>
              </a:defRPr>
            </a:defPPr>
            <a:lvl1pPr>
              <a:buNone/>
              <a:defRPr sz="1875" b="0">
                <a:solidFill>
                  <a:srgbClr val="10263B"/>
                </a:solidFill>
              </a:defRPr>
            </a:lvl1pPr>
            <a:lvl2pPr>
              <a:buNone/>
              <a:defRPr sz="1875" b="0">
                <a:solidFill>
                  <a:srgbClr val="10263B"/>
                </a:solidFill>
              </a:defRPr>
            </a:lvl2pPr>
            <a:lvl3pPr>
              <a:buNone/>
              <a:defRPr sz="1875" b="0">
                <a:solidFill>
                  <a:srgbClr val="10263B"/>
                </a:solidFill>
              </a:defRPr>
            </a:lvl3pPr>
            <a:lvl4pPr>
              <a:buNone/>
              <a:defRPr sz="1875" b="0">
                <a:solidFill>
                  <a:srgbClr val="10263B"/>
                </a:solidFill>
              </a:defRPr>
            </a:lvl4pPr>
            <a:lvl5pPr>
              <a:buNone/>
              <a:defRPr sz="1875" b="0">
                <a:solidFill>
                  <a:srgbClr val="10263B"/>
                </a:solidFill>
              </a:defRPr>
            </a:lvl5pPr>
            <a:lvl6pPr>
              <a:buNone/>
              <a:defRPr sz="1875" b="0">
                <a:solidFill>
                  <a:srgbClr val="10263B"/>
                </a:solidFill>
              </a:defRPr>
            </a:lvl6pPr>
            <a:lvl7pPr>
              <a:buNone/>
              <a:defRPr sz="1875" b="0">
                <a:solidFill>
                  <a:srgbClr val="10263B"/>
                </a:solidFill>
              </a:defRPr>
            </a:lvl7pPr>
            <a:lvl8pPr>
              <a:buNone/>
              <a:defRPr sz="1875" b="0">
                <a:solidFill>
                  <a:srgbClr val="10263B"/>
                </a:solidFill>
              </a:defRPr>
            </a:lvl8pPr>
            <a:lvl9pPr>
              <a:buNone/>
              <a:defRPr sz="1875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0263B"/>
                </a:solidFill>
              </a:defRPr>
            </a:pPr>
            <a:r>
              <a:rPr sz="1875" b="0">
                <a:solidFill>
                  <a:srgbClr val="10263B"/>
                </a:solidFill>
              </a:rPr>
              <a:t>A bare encoder cannot predict seven diagnoses without a trained readout.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04BF15-B3A4-4597-8C13-E92F26BE8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4B6070"/>
                </a:solidFill>
              </a:defRPr>
            </a:defPPr>
            <a:lvl1pPr>
              <a:buNone/>
              <a:defRPr sz="1050" b="0">
                <a:solidFill>
                  <a:srgbClr val="4B6070"/>
                </a:solidFill>
              </a:defRPr>
            </a:lvl1pPr>
            <a:lvl2pPr>
              <a:buNone/>
              <a:defRPr sz="1050" b="0">
                <a:solidFill>
                  <a:srgbClr val="4B6070"/>
                </a:solidFill>
              </a:defRPr>
            </a:lvl2pPr>
            <a:lvl3pPr>
              <a:buNone/>
              <a:defRPr sz="1050" b="0">
                <a:solidFill>
                  <a:srgbClr val="4B6070"/>
                </a:solidFill>
              </a:defRPr>
            </a:lvl3pPr>
            <a:lvl4pPr>
              <a:buNone/>
              <a:defRPr sz="1050" b="0">
                <a:solidFill>
                  <a:srgbClr val="4B6070"/>
                </a:solidFill>
              </a:defRPr>
            </a:lvl4pPr>
            <a:lvl5pPr>
              <a:buNone/>
              <a:defRPr sz="1050" b="0">
                <a:solidFill>
                  <a:srgbClr val="4B6070"/>
                </a:solidFill>
              </a:defRPr>
            </a:lvl5pPr>
            <a:lvl6pPr>
              <a:buNone/>
              <a:defRPr sz="1050" b="0">
                <a:solidFill>
                  <a:srgbClr val="4B6070"/>
                </a:solidFill>
              </a:defRPr>
            </a:lvl6pPr>
            <a:lvl7pPr>
              <a:buNone/>
              <a:defRPr sz="1050" b="0">
                <a:solidFill>
                  <a:srgbClr val="4B6070"/>
                </a:solidFill>
              </a:defRPr>
            </a:lvl7pPr>
            <a:lvl8pPr>
              <a:buNone/>
              <a:defRPr sz="1050" b="0">
                <a:solidFill>
                  <a:srgbClr val="4B6070"/>
                </a:solidFill>
              </a:defRPr>
            </a:lvl8pPr>
            <a:lvl9pPr>
              <a:buNone/>
              <a:defRPr sz="1050" b="0">
                <a:solidFill>
                  <a:srgbClr val="4B6070"/>
                </a:solidFill>
              </a:defRPr>
            </a:lvl9pPr>
          </a:lstStyle>
          <a:p xmlns:a="http://schemas.openxmlformats.org/drawingml/2006/main">
            <a:pPr>
              <a:buNone/>
              <a:defRPr sz="1050" b="0">
                <a:solidFill>
                  <a:srgbClr val="4B6070"/>
                </a:solidFill>
              </a:defRPr>
            </a:pPr>
            <a:r>
              <a:rPr sz="1050" b="0">
                <a:solidFill>
                  <a:srgbClr val="4B6070"/>
                </a:solidFill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34815519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90F1A6-B937-4062-8980-C666D236F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0263B"/>
                </a:solidFill>
              </a:defRPr>
            </a:defPPr>
            <a:lvl1pPr>
              <a:defRPr sz="2850" b="1">
                <a:solidFill>
                  <a:srgbClr val="10263B"/>
                </a:solidFill>
              </a:defRPr>
            </a:lvl1pPr>
            <a:lvl2pPr>
              <a:defRPr sz="2850" b="1">
                <a:solidFill>
                  <a:srgbClr val="10263B"/>
                </a:solidFill>
              </a:defRPr>
            </a:lvl2pPr>
            <a:lvl3pPr>
              <a:defRPr sz="2850" b="1">
                <a:solidFill>
                  <a:srgbClr val="10263B"/>
                </a:solidFill>
              </a:defRPr>
            </a:lvl3pPr>
            <a:lvl4pPr>
              <a:defRPr sz="2850" b="1">
                <a:solidFill>
                  <a:srgbClr val="10263B"/>
                </a:solidFill>
              </a:defRPr>
            </a:lvl4pPr>
            <a:lvl5pPr>
              <a:defRPr sz="2850" b="1">
                <a:solidFill>
                  <a:srgbClr val="10263B"/>
                </a:solidFill>
              </a:defRPr>
            </a:lvl5pPr>
            <a:lvl6pPr>
              <a:defRPr sz="2850" b="1">
                <a:solidFill>
                  <a:srgbClr val="10263B"/>
                </a:solidFill>
              </a:defRPr>
            </a:lvl6pPr>
            <a:lvl7pPr>
              <a:defRPr sz="2850" b="1">
                <a:solidFill>
                  <a:srgbClr val="10263B"/>
                </a:solidFill>
              </a:defRPr>
            </a:lvl7pPr>
            <a:lvl8pPr>
              <a:defRPr sz="2850" b="1">
                <a:solidFill>
                  <a:srgbClr val="10263B"/>
                </a:solidFill>
              </a:defRPr>
            </a:lvl8pPr>
            <a:lvl9pPr>
              <a:defRPr sz="2850" b="1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0263B"/>
                </a:solidFill>
              </a:defRPr>
            </a:pPr>
            <a:r>
              <a:rPr sz="2850" b="1">
                <a:solidFill>
                  <a:srgbClr val="10263B"/>
                </a:solidFill>
              </a:rPr>
              <a:t>Original EfficientNet comparison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DE41F9-85C7-40C4-A784-727302A71BB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3076efca084850"/>
          <a:stretch xmlns:a="http://schemas.openxmlformats.org/drawingml/2006/main"/>
        </p:blipFill>
        <p:spPr>
          <a:xfrm xmlns:a="http://schemas.openxmlformats.org/drawingml/2006/main">
            <a:off x="1095375" y="1285875"/>
            <a:ext cx="9953625" cy="36195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F762A3-3978-40CF-B1F4-20D7FB5F2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095875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0263B"/>
                </a:solidFill>
              </a:defRPr>
            </a:defPPr>
            <a:lvl1pPr>
              <a:defRPr sz="1875" b="1">
                <a:solidFill>
                  <a:srgbClr val="10263B"/>
                </a:solidFill>
              </a:defRPr>
            </a:lvl1pPr>
            <a:lvl2pPr>
              <a:defRPr sz="1875" b="1">
                <a:solidFill>
                  <a:srgbClr val="10263B"/>
                </a:solidFill>
              </a:defRPr>
            </a:lvl2pPr>
            <a:lvl3pPr>
              <a:defRPr sz="1875" b="1">
                <a:solidFill>
                  <a:srgbClr val="10263B"/>
                </a:solidFill>
              </a:defRPr>
            </a:lvl3pPr>
            <a:lvl4pPr>
              <a:defRPr sz="1875" b="1">
                <a:solidFill>
                  <a:srgbClr val="10263B"/>
                </a:solidFill>
              </a:defRPr>
            </a:lvl4pPr>
            <a:lvl5pPr>
              <a:defRPr sz="1875" b="1">
                <a:solidFill>
                  <a:srgbClr val="10263B"/>
                </a:solidFill>
              </a:defRPr>
            </a:lvl5pPr>
            <a:lvl6pPr>
              <a:defRPr sz="1875" b="1">
                <a:solidFill>
                  <a:srgbClr val="10263B"/>
                </a:solidFill>
              </a:defRPr>
            </a:lvl6pPr>
            <a:lvl7pPr>
              <a:defRPr sz="1875" b="1">
                <a:solidFill>
                  <a:srgbClr val="10263B"/>
                </a:solidFill>
              </a:defRPr>
            </a:lvl7pPr>
            <a:lvl8pPr>
              <a:defRPr sz="1875" b="1">
                <a:solidFill>
                  <a:srgbClr val="10263B"/>
                </a:solidFill>
              </a:defRPr>
            </a:lvl8pPr>
            <a:lvl9pPr>
              <a:defRPr sz="1875" b="1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0263B"/>
                </a:solidFill>
              </a:defRPr>
            </a:pPr>
            <a:r>
              <a:rPr sz="1875" b="1">
                <a:solidFill>
                  <a:srgbClr val="10263B"/>
                </a:solidFill>
              </a:rPr>
              <a:t>The MLP led the original comparison on internal test macro F1.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7839E3-4F21-42BB-A22C-C0B4400DF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66737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4B6070"/>
                </a:solidFill>
              </a:defRPr>
            </a:defPPr>
            <a:lvl1pPr>
              <a:defRPr sz="1575" b="0">
                <a:solidFill>
                  <a:srgbClr val="4B6070"/>
                </a:solidFill>
              </a:defRPr>
            </a:lvl1pPr>
            <a:lvl2pPr>
              <a:defRPr sz="1575" b="0">
                <a:solidFill>
                  <a:srgbClr val="4B6070"/>
                </a:solidFill>
              </a:defRPr>
            </a:lvl2pPr>
            <a:lvl3pPr>
              <a:defRPr sz="1575" b="0">
                <a:solidFill>
                  <a:srgbClr val="4B6070"/>
                </a:solidFill>
              </a:defRPr>
            </a:lvl3pPr>
            <a:lvl4pPr>
              <a:defRPr sz="1575" b="0">
                <a:solidFill>
                  <a:srgbClr val="4B6070"/>
                </a:solidFill>
              </a:defRPr>
            </a:lvl4pPr>
            <a:lvl5pPr>
              <a:defRPr sz="1575" b="0">
                <a:solidFill>
                  <a:srgbClr val="4B6070"/>
                </a:solidFill>
              </a:defRPr>
            </a:lvl5pPr>
            <a:lvl6pPr>
              <a:defRPr sz="1575" b="0">
                <a:solidFill>
                  <a:srgbClr val="4B6070"/>
                </a:solidFill>
              </a:defRPr>
            </a:lvl6pPr>
            <a:lvl7pPr>
              <a:defRPr sz="1575" b="0">
                <a:solidFill>
                  <a:srgbClr val="4B6070"/>
                </a:solidFill>
              </a:defRPr>
            </a:lvl7pPr>
            <a:lvl8pPr>
              <a:defRPr sz="1575" b="0">
                <a:solidFill>
                  <a:srgbClr val="4B6070"/>
                </a:solidFill>
              </a:defRPr>
            </a:lvl8pPr>
            <a:lvl9pPr>
              <a:defRPr sz="1575" b="0">
                <a:solidFill>
                  <a:srgbClr val="4B6070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4B6070"/>
                </a:solidFill>
              </a:defRPr>
            </a:pPr>
            <a:r>
              <a:rPr sz="1575" b="0">
                <a:solidFill>
                  <a:srgbClr val="4B6070"/>
                </a:solidFill>
              </a:rPr>
              <a:t>All three heads used the same frozen features and lesion-separated split.</a:t>
            </a:r>
          </a:p>
        </p:txBody>
      </p:sp>
    </p:spTree>
    <p:extLst>
      <p:ext uri="{BB962C8B-B14F-4D97-AF65-F5344CB8AC3E}">
        <p14:creationId xmlns:p14="http://schemas.microsoft.com/office/powerpoint/2010/main" val="85712412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D2B34E-A38D-47F6-BA4C-EC1B1A8C6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0263B"/>
                </a:solidFill>
              </a:defRPr>
            </a:defPPr>
            <a:lvl1pPr>
              <a:buNone/>
              <a:defRPr sz="2850" b="1">
                <a:solidFill>
                  <a:srgbClr val="10263B"/>
                </a:solidFill>
              </a:defRPr>
            </a:lvl1pPr>
            <a:lvl2pPr>
              <a:buNone/>
              <a:defRPr sz="2850" b="1">
                <a:solidFill>
                  <a:srgbClr val="10263B"/>
                </a:solidFill>
              </a:defRPr>
            </a:lvl2pPr>
            <a:lvl3pPr>
              <a:buNone/>
              <a:defRPr sz="2850" b="1">
                <a:solidFill>
                  <a:srgbClr val="10263B"/>
                </a:solidFill>
              </a:defRPr>
            </a:lvl3pPr>
            <a:lvl4pPr>
              <a:buNone/>
              <a:defRPr sz="2850" b="1">
                <a:solidFill>
                  <a:srgbClr val="10263B"/>
                </a:solidFill>
              </a:defRPr>
            </a:lvl4pPr>
            <a:lvl5pPr>
              <a:buNone/>
              <a:defRPr sz="2850" b="1">
                <a:solidFill>
                  <a:srgbClr val="10263B"/>
                </a:solidFill>
              </a:defRPr>
            </a:lvl5pPr>
            <a:lvl6pPr>
              <a:buNone/>
              <a:defRPr sz="2850" b="1">
                <a:solidFill>
                  <a:srgbClr val="10263B"/>
                </a:solidFill>
              </a:defRPr>
            </a:lvl6pPr>
            <a:lvl7pPr>
              <a:buNone/>
              <a:defRPr sz="2850" b="1">
                <a:solidFill>
                  <a:srgbClr val="10263B"/>
                </a:solidFill>
              </a:defRPr>
            </a:lvl7pPr>
            <a:lvl8pPr>
              <a:buNone/>
              <a:defRPr sz="2850" b="1">
                <a:solidFill>
                  <a:srgbClr val="10263B"/>
                </a:solidFill>
              </a:defRPr>
            </a:lvl8pPr>
            <a:lvl9pPr>
              <a:buNone/>
              <a:defRPr sz="2850" b="1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2850" b="1">
                <a:solidFill>
                  <a:srgbClr val="10263B"/>
                </a:solidFill>
              </a:defRPr>
            </a:pPr>
            <a:r>
              <a:rPr sz="2850" b="1">
                <a:solidFill>
                  <a:srgbClr val="10263B"/>
                </a:solidFill>
              </a:rPr>
              <a:t>Fine-tuned EfficientNet result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E57AD7-4E47-4030-A510-AAFB96562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714500"/>
            <a:ext cx="3333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250" b="1">
                <a:solidFill>
                  <a:srgbClr val="087F8C"/>
                </a:solidFill>
              </a:defRPr>
            </a:defPPr>
            <a:lvl1pPr>
              <a:buNone/>
              <a:defRPr sz="5250" b="1">
                <a:solidFill>
                  <a:srgbClr val="087F8C"/>
                </a:solidFill>
              </a:defRPr>
            </a:lvl1pPr>
            <a:lvl2pPr>
              <a:buNone/>
              <a:defRPr sz="5250" b="1">
                <a:solidFill>
                  <a:srgbClr val="087F8C"/>
                </a:solidFill>
              </a:defRPr>
            </a:lvl2pPr>
            <a:lvl3pPr>
              <a:buNone/>
              <a:defRPr sz="5250" b="1">
                <a:solidFill>
                  <a:srgbClr val="087F8C"/>
                </a:solidFill>
              </a:defRPr>
            </a:lvl3pPr>
            <a:lvl4pPr>
              <a:buNone/>
              <a:defRPr sz="5250" b="1">
                <a:solidFill>
                  <a:srgbClr val="087F8C"/>
                </a:solidFill>
              </a:defRPr>
            </a:lvl4pPr>
            <a:lvl5pPr>
              <a:buNone/>
              <a:defRPr sz="5250" b="1">
                <a:solidFill>
                  <a:srgbClr val="087F8C"/>
                </a:solidFill>
              </a:defRPr>
            </a:lvl5pPr>
            <a:lvl6pPr>
              <a:buNone/>
              <a:defRPr sz="5250" b="1">
                <a:solidFill>
                  <a:srgbClr val="087F8C"/>
                </a:solidFill>
              </a:defRPr>
            </a:lvl6pPr>
            <a:lvl7pPr>
              <a:buNone/>
              <a:defRPr sz="5250" b="1">
                <a:solidFill>
                  <a:srgbClr val="087F8C"/>
                </a:solidFill>
              </a:defRPr>
            </a:lvl7pPr>
            <a:lvl8pPr>
              <a:buNone/>
              <a:defRPr sz="5250" b="1">
                <a:solidFill>
                  <a:srgbClr val="087F8C"/>
                </a:solidFill>
              </a:defRPr>
            </a:lvl8pPr>
            <a:lvl9pPr>
              <a:buNone/>
              <a:defRPr sz="5250" b="1">
                <a:solidFill>
                  <a:srgbClr val="087F8C"/>
                </a:solidFill>
              </a:defRPr>
            </a:lvl9pPr>
          </a:lstStyle>
          <a:p xmlns:a="http://schemas.openxmlformats.org/drawingml/2006/main">
            <a:pPr>
              <a:buNone/>
              <a:defRPr sz="5250" b="1">
                <a:solidFill>
                  <a:srgbClr val="087F8C"/>
                </a:solidFill>
              </a:defRPr>
            </a:pPr>
            <a:r>
              <a:rPr sz="5250" b="1">
                <a:solidFill>
                  <a:srgbClr val="087F8C"/>
                </a:solidFill>
              </a:rPr>
              <a:t>71.8%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162685-E73F-4BC4-911D-FC9235055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857500"/>
            <a:ext cx="619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0263B"/>
                </a:solidFill>
              </a:defRPr>
            </a:defPPr>
            <a:lvl1pPr>
              <a:buNone/>
              <a:defRPr sz="2025" b="1">
                <a:solidFill>
                  <a:srgbClr val="10263B"/>
                </a:solidFill>
              </a:defRPr>
            </a:lvl1pPr>
            <a:lvl2pPr>
              <a:buNone/>
              <a:defRPr sz="2025" b="1">
                <a:solidFill>
                  <a:srgbClr val="10263B"/>
                </a:solidFill>
              </a:defRPr>
            </a:lvl2pPr>
            <a:lvl3pPr>
              <a:buNone/>
              <a:defRPr sz="2025" b="1">
                <a:solidFill>
                  <a:srgbClr val="10263B"/>
                </a:solidFill>
              </a:defRPr>
            </a:lvl3pPr>
            <a:lvl4pPr>
              <a:buNone/>
              <a:defRPr sz="2025" b="1">
                <a:solidFill>
                  <a:srgbClr val="10263B"/>
                </a:solidFill>
              </a:defRPr>
            </a:lvl4pPr>
            <a:lvl5pPr>
              <a:buNone/>
              <a:defRPr sz="2025" b="1">
                <a:solidFill>
                  <a:srgbClr val="10263B"/>
                </a:solidFill>
              </a:defRPr>
            </a:lvl5pPr>
            <a:lvl6pPr>
              <a:buNone/>
              <a:defRPr sz="2025" b="1">
                <a:solidFill>
                  <a:srgbClr val="10263B"/>
                </a:solidFill>
              </a:defRPr>
            </a:lvl6pPr>
            <a:lvl7pPr>
              <a:buNone/>
              <a:defRPr sz="2025" b="1">
                <a:solidFill>
                  <a:srgbClr val="10263B"/>
                </a:solidFill>
              </a:defRPr>
            </a:lvl7pPr>
            <a:lvl8pPr>
              <a:buNone/>
              <a:defRPr sz="2025" b="1">
                <a:solidFill>
                  <a:srgbClr val="10263B"/>
                </a:solidFill>
              </a:defRPr>
            </a:lvl8pPr>
            <a:lvl9pPr>
              <a:buNone/>
              <a:defRPr sz="2025" b="1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10263B"/>
                </a:solidFill>
              </a:defRPr>
            </a:pPr>
            <a:r>
              <a:rPr sz="2025" b="1">
                <a:solidFill>
                  <a:srgbClr val="10263B"/>
                </a:solidFill>
              </a:rPr>
              <a:t>macro F1 on the official test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1E95AC-45C5-4EA1-8F55-3DC7E38A4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619500"/>
            <a:ext cx="838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0263B"/>
                </a:solidFill>
              </a:defRPr>
            </a:defPPr>
            <a:lvl1pPr>
              <a:buNone/>
              <a:defRPr sz="1950" b="0">
                <a:solidFill>
                  <a:srgbClr val="10263B"/>
                </a:solidFill>
              </a:defRPr>
            </a:lvl1pPr>
            <a:lvl2pPr>
              <a:buNone/>
              <a:defRPr sz="1950" b="0">
                <a:solidFill>
                  <a:srgbClr val="10263B"/>
                </a:solidFill>
              </a:defRPr>
            </a:lvl2pPr>
            <a:lvl3pPr>
              <a:buNone/>
              <a:defRPr sz="1950" b="0">
                <a:solidFill>
                  <a:srgbClr val="10263B"/>
                </a:solidFill>
              </a:defRPr>
            </a:lvl3pPr>
            <a:lvl4pPr>
              <a:buNone/>
              <a:defRPr sz="1950" b="0">
                <a:solidFill>
                  <a:srgbClr val="10263B"/>
                </a:solidFill>
              </a:defRPr>
            </a:lvl4pPr>
            <a:lvl5pPr>
              <a:buNone/>
              <a:defRPr sz="1950" b="0">
                <a:solidFill>
                  <a:srgbClr val="10263B"/>
                </a:solidFill>
              </a:defRPr>
            </a:lvl5pPr>
            <a:lvl6pPr>
              <a:buNone/>
              <a:defRPr sz="1950" b="0">
                <a:solidFill>
                  <a:srgbClr val="10263B"/>
                </a:solidFill>
              </a:defRPr>
            </a:lvl6pPr>
            <a:lvl7pPr>
              <a:buNone/>
              <a:defRPr sz="1950" b="0">
                <a:solidFill>
                  <a:srgbClr val="10263B"/>
                </a:solidFill>
              </a:defRPr>
            </a:lvl7pPr>
            <a:lvl8pPr>
              <a:buNone/>
              <a:defRPr sz="1950" b="0">
                <a:solidFill>
                  <a:srgbClr val="10263B"/>
                </a:solidFill>
              </a:defRPr>
            </a:lvl8pPr>
            <a:lvl9pPr>
              <a:buNone/>
              <a:defRPr sz="1950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10263B"/>
                </a:solidFill>
              </a:defRPr>
            </a:pPr>
            <a:r>
              <a:rPr sz="1950" b="0">
                <a:solidFill>
                  <a:srgbClr val="10263B"/>
                </a:solidFill>
              </a:rPr>
              <a:t>81.6% accuracy on the same 1,512 images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71EE5A-0670-49E8-92E8-0C663891C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47675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0263B"/>
                </a:solidFill>
              </a:defRPr>
            </a:defPPr>
            <a:lvl1pPr>
              <a:buNone/>
              <a:defRPr sz="1800" b="0">
                <a:solidFill>
                  <a:srgbClr val="10263B"/>
                </a:solidFill>
              </a:defRPr>
            </a:lvl1pPr>
            <a:lvl2pPr>
              <a:buNone/>
              <a:defRPr sz="1800" b="0">
                <a:solidFill>
                  <a:srgbClr val="10263B"/>
                </a:solidFill>
              </a:defRPr>
            </a:lvl2pPr>
            <a:lvl3pPr>
              <a:buNone/>
              <a:defRPr sz="1800" b="0">
                <a:solidFill>
                  <a:srgbClr val="10263B"/>
                </a:solidFill>
              </a:defRPr>
            </a:lvl3pPr>
            <a:lvl4pPr>
              <a:buNone/>
              <a:defRPr sz="1800" b="0">
                <a:solidFill>
                  <a:srgbClr val="10263B"/>
                </a:solidFill>
              </a:defRPr>
            </a:lvl4pPr>
            <a:lvl5pPr>
              <a:buNone/>
              <a:defRPr sz="1800" b="0">
                <a:solidFill>
                  <a:srgbClr val="10263B"/>
                </a:solidFill>
              </a:defRPr>
            </a:lvl5pPr>
            <a:lvl6pPr>
              <a:buNone/>
              <a:defRPr sz="1800" b="0">
                <a:solidFill>
                  <a:srgbClr val="10263B"/>
                </a:solidFill>
              </a:defRPr>
            </a:lvl6pPr>
            <a:lvl7pPr>
              <a:buNone/>
              <a:defRPr sz="1800" b="0">
                <a:solidFill>
                  <a:srgbClr val="10263B"/>
                </a:solidFill>
              </a:defRPr>
            </a:lvl7pPr>
            <a:lvl8pPr>
              <a:buNone/>
              <a:defRPr sz="1800" b="0">
                <a:solidFill>
                  <a:srgbClr val="10263B"/>
                </a:solidFill>
              </a:defRPr>
            </a:lvl8pPr>
            <a:lvl9pPr>
              <a:buNone/>
              <a:defRPr sz="1800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10263B"/>
                </a:solidFill>
              </a:defRPr>
            </a:pPr>
            <a:r>
              <a:rPr sz="1800" b="0">
                <a:solidFill>
                  <a:srgbClr val="10263B"/>
                </a:solidFill>
              </a:rPr>
              <a:t>The model used the original lesion-separated training split.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18C83B-3CF1-4610-8980-103D3122D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04825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4B6070"/>
                </a:solidFill>
              </a:defRPr>
            </a:defPPr>
            <a:lvl1pPr>
              <a:buNone/>
              <a:defRPr sz="1650" b="0">
                <a:solidFill>
                  <a:srgbClr val="4B6070"/>
                </a:solidFill>
              </a:defRPr>
            </a:lvl1pPr>
            <a:lvl2pPr>
              <a:buNone/>
              <a:defRPr sz="1650" b="0">
                <a:solidFill>
                  <a:srgbClr val="4B6070"/>
                </a:solidFill>
              </a:defRPr>
            </a:lvl2pPr>
            <a:lvl3pPr>
              <a:buNone/>
              <a:defRPr sz="1650" b="0">
                <a:solidFill>
                  <a:srgbClr val="4B6070"/>
                </a:solidFill>
              </a:defRPr>
            </a:lvl3pPr>
            <a:lvl4pPr>
              <a:buNone/>
              <a:defRPr sz="1650" b="0">
                <a:solidFill>
                  <a:srgbClr val="4B6070"/>
                </a:solidFill>
              </a:defRPr>
            </a:lvl4pPr>
            <a:lvl5pPr>
              <a:buNone/>
              <a:defRPr sz="1650" b="0">
                <a:solidFill>
                  <a:srgbClr val="4B6070"/>
                </a:solidFill>
              </a:defRPr>
            </a:lvl5pPr>
            <a:lvl6pPr>
              <a:buNone/>
              <a:defRPr sz="1650" b="0">
                <a:solidFill>
                  <a:srgbClr val="4B6070"/>
                </a:solidFill>
              </a:defRPr>
            </a:lvl6pPr>
            <a:lvl7pPr>
              <a:buNone/>
              <a:defRPr sz="1650" b="0">
                <a:solidFill>
                  <a:srgbClr val="4B6070"/>
                </a:solidFill>
              </a:defRPr>
            </a:lvl7pPr>
            <a:lvl8pPr>
              <a:buNone/>
              <a:defRPr sz="1650" b="0">
                <a:solidFill>
                  <a:srgbClr val="4B6070"/>
                </a:solidFill>
              </a:defRPr>
            </a:lvl8pPr>
            <a:lvl9pPr>
              <a:buNone/>
              <a:defRPr sz="1650" b="0">
                <a:solidFill>
                  <a:srgbClr val="4B6070"/>
                </a:solidFill>
              </a:defRPr>
            </a:lvl9pPr>
          </a:lstStyle>
          <a:p xmlns:a="http://schemas.openxmlformats.org/drawingml/2006/main">
            <a:pPr>
              <a:buNone/>
              <a:defRPr sz="1650" b="0">
                <a:solidFill>
                  <a:srgbClr val="4B6070"/>
                </a:solidFill>
              </a:defRPr>
            </a:pPr>
            <a:r>
              <a:rPr sz="1650" b="0">
                <a:solidFill>
                  <a:srgbClr val="4B6070"/>
                </a:solidFill>
              </a:rPr>
              <a:t>These test images had been examined in earlier experiments.</a:t>
            </a:r>
          </a:p>
        </p:txBody>
      </p:sp>
    </p:spTree>
    <p:extLst>
      <p:ext uri="{BB962C8B-B14F-4D97-AF65-F5344CB8AC3E}">
        <p14:creationId xmlns:p14="http://schemas.microsoft.com/office/powerpoint/2010/main" val="1789918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EA3C6E-95BA-41C3-989F-5DEB95322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0263B"/>
                </a:solidFill>
              </a:defRPr>
            </a:defPPr>
            <a:lvl1pPr>
              <a:defRPr sz="2850" b="1">
                <a:solidFill>
                  <a:srgbClr val="10263B"/>
                </a:solidFill>
              </a:defRPr>
            </a:lvl1pPr>
            <a:lvl2pPr>
              <a:defRPr sz="2850" b="1">
                <a:solidFill>
                  <a:srgbClr val="10263B"/>
                </a:solidFill>
              </a:defRPr>
            </a:lvl2pPr>
            <a:lvl3pPr>
              <a:defRPr sz="2850" b="1">
                <a:solidFill>
                  <a:srgbClr val="10263B"/>
                </a:solidFill>
              </a:defRPr>
            </a:lvl3pPr>
            <a:lvl4pPr>
              <a:defRPr sz="2850" b="1">
                <a:solidFill>
                  <a:srgbClr val="10263B"/>
                </a:solidFill>
              </a:defRPr>
            </a:lvl4pPr>
            <a:lvl5pPr>
              <a:defRPr sz="2850" b="1">
                <a:solidFill>
                  <a:srgbClr val="10263B"/>
                </a:solidFill>
              </a:defRPr>
            </a:lvl5pPr>
            <a:lvl6pPr>
              <a:defRPr sz="2850" b="1">
                <a:solidFill>
                  <a:srgbClr val="10263B"/>
                </a:solidFill>
              </a:defRPr>
            </a:lvl6pPr>
            <a:lvl7pPr>
              <a:defRPr sz="2850" b="1">
                <a:solidFill>
                  <a:srgbClr val="10263B"/>
                </a:solidFill>
              </a:defRPr>
            </a:lvl7pPr>
            <a:lvl8pPr>
              <a:defRPr sz="2850" b="1">
                <a:solidFill>
                  <a:srgbClr val="10263B"/>
                </a:solidFill>
              </a:defRPr>
            </a:lvl8pPr>
            <a:lvl9pPr>
              <a:defRPr sz="2850" b="1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0263B"/>
                </a:solidFill>
              </a:defRPr>
            </a:pPr>
            <a:r>
              <a:rPr sz="2850" b="1">
                <a:solidFill>
                  <a:srgbClr val="10263B"/>
                </a:solidFill>
              </a:rPr>
              <a:t>Reading a confusion matrix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E2AE88-B205-4C50-975B-BE6535128F8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087b17f7c8410b"/>
          <a:stretch xmlns:a="http://schemas.openxmlformats.org/drawingml/2006/main"/>
        </p:blipFill>
        <p:spPr>
          <a:xfrm xmlns:a="http://schemas.openxmlformats.org/drawingml/2006/main">
            <a:off x="587375" y="1190625"/>
            <a:ext cx="5778500" cy="4953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BC102E-5744-408A-9804-76404EB6C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714500"/>
            <a:ext cx="438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0263B"/>
                </a:solidFill>
              </a:defRPr>
            </a:defPPr>
            <a:lvl1pPr>
              <a:defRPr sz="1875" b="1">
                <a:solidFill>
                  <a:srgbClr val="10263B"/>
                </a:solidFill>
              </a:defRPr>
            </a:lvl1pPr>
            <a:lvl2pPr>
              <a:defRPr sz="1875" b="1">
                <a:solidFill>
                  <a:srgbClr val="10263B"/>
                </a:solidFill>
              </a:defRPr>
            </a:lvl2pPr>
            <a:lvl3pPr>
              <a:defRPr sz="1875" b="1">
                <a:solidFill>
                  <a:srgbClr val="10263B"/>
                </a:solidFill>
              </a:defRPr>
            </a:lvl3pPr>
            <a:lvl4pPr>
              <a:defRPr sz="1875" b="1">
                <a:solidFill>
                  <a:srgbClr val="10263B"/>
                </a:solidFill>
              </a:defRPr>
            </a:lvl4pPr>
            <a:lvl5pPr>
              <a:defRPr sz="1875" b="1">
                <a:solidFill>
                  <a:srgbClr val="10263B"/>
                </a:solidFill>
              </a:defRPr>
            </a:lvl5pPr>
            <a:lvl6pPr>
              <a:defRPr sz="1875" b="1">
                <a:solidFill>
                  <a:srgbClr val="10263B"/>
                </a:solidFill>
              </a:defRPr>
            </a:lvl6pPr>
            <a:lvl7pPr>
              <a:defRPr sz="1875" b="1">
                <a:solidFill>
                  <a:srgbClr val="10263B"/>
                </a:solidFill>
              </a:defRPr>
            </a:lvl7pPr>
            <a:lvl8pPr>
              <a:defRPr sz="1875" b="1">
                <a:solidFill>
                  <a:srgbClr val="10263B"/>
                </a:solidFill>
              </a:defRPr>
            </a:lvl8pPr>
            <a:lvl9pPr>
              <a:defRPr sz="1875" b="1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0263B"/>
                </a:solidFill>
              </a:defRPr>
            </a:pPr>
            <a:r>
              <a:rPr sz="1875" b="1">
                <a:solidFill>
                  <a:srgbClr val="10263B"/>
                </a:solidFill>
              </a:rPr>
              <a:t>Rows show the actual class.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008A15-1EFB-49C4-9005-864ECAD93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333625"/>
            <a:ext cx="447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0263B"/>
                </a:solidFill>
              </a:defRPr>
            </a:defPPr>
            <a:lvl1pPr>
              <a:defRPr sz="1875" b="1">
                <a:solidFill>
                  <a:srgbClr val="10263B"/>
                </a:solidFill>
              </a:defRPr>
            </a:lvl1pPr>
            <a:lvl2pPr>
              <a:defRPr sz="1875" b="1">
                <a:solidFill>
                  <a:srgbClr val="10263B"/>
                </a:solidFill>
              </a:defRPr>
            </a:lvl2pPr>
            <a:lvl3pPr>
              <a:defRPr sz="1875" b="1">
                <a:solidFill>
                  <a:srgbClr val="10263B"/>
                </a:solidFill>
              </a:defRPr>
            </a:lvl3pPr>
            <a:lvl4pPr>
              <a:defRPr sz="1875" b="1">
                <a:solidFill>
                  <a:srgbClr val="10263B"/>
                </a:solidFill>
              </a:defRPr>
            </a:lvl4pPr>
            <a:lvl5pPr>
              <a:defRPr sz="1875" b="1">
                <a:solidFill>
                  <a:srgbClr val="10263B"/>
                </a:solidFill>
              </a:defRPr>
            </a:lvl5pPr>
            <a:lvl6pPr>
              <a:defRPr sz="1875" b="1">
                <a:solidFill>
                  <a:srgbClr val="10263B"/>
                </a:solidFill>
              </a:defRPr>
            </a:lvl6pPr>
            <a:lvl7pPr>
              <a:defRPr sz="1875" b="1">
                <a:solidFill>
                  <a:srgbClr val="10263B"/>
                </a:solidFill>
              </a:defRPr>
            </a:lvl7pPr>
            <a:lvl8pPr>
              <a:defRPr sz="1875" b="1">
                <a:solidFill>
                  <a:srgbClr val="10263B"/>
                </a:solidFill>
              </a:defRPr>
            </a:lvl8pPr>
            <a:lvl9pPr>
              <a:defRPr sz="1875" b="1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0263B"/>
                </a:solidFill>
              </a:defRPr>
            </a:pPr>
            <a:r>
              <a:rPr sz="1875" b="1">
                <a:solidFill>
                  <a:srgbClr val="10263B"/>
                </a:solidFill>
              </a:rPr>
              <a:t>Columns show the predicted class.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3F886A-0A20-41C5-8B4D-24BD46F3E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143250"/>
            <a:ext cx="4476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0263B"/>
                </a:solidFill>
              </a:defRPr>
            </a:defPPr>
            <a:lvl1pPr>
              <a:defRPr sz="1725" b="0">
                <a:solidFill>
                  <a:srgbClr val="10263B"/>
                </a:solidFill>
              </a:defRPr>
            </a:lvl1pPr>
            <a:lvl2pPr>
              <a:defRPr sz="1725" b="0">
                <a:solidFill>
                  <a:srgbClr val="10263B"/>
                </a:solidFill>
              </a:defRPr>
            </a:lvl2pPr>
            <a:lvl3pPr>
              <a:defRPr sz="1725" b="0">
                <a:solidFill>
                  <a:srgbClr val="10263B"/>
                </a:solidFill>
              </a:defRPr>
            </a:lvl3pPr>
            <a:lvl4pPr>
              <a:defRPr sz="1725" b="0">
                <a:solidFill>
                  <a:srgbClr val="10263B"/>
                </a:solidFill>
              </a:defRPr>
            </a:lvl4pPr>
            <a:lvl5pPr>
              <a:defRPr sz="1725" b="0">
                <a:solidFill>
                  <a:srgbClr val="10263B"/>
                </a:solidFill>
              </a:defRPr>
            </a:lvl5pPr>
            <a:lvl6pPr>
              <a:defRPr sz="1725" b="0">
                <a:solidFill>
                  <a:srgbClr val="10263B"/>
                </a:solidFill>
              </a:defRPr>
            </a:lvl6pPr>
            <a:lvl7pPr>
              <a:defRPr sz="1725" b="0">
                <a:solidFill>
                  <a:srgbClr val="10263B"/>
                </a:solidFill>
              </a:defRPr>
            </a:lvl7pPr>
            <a:lvl8pPr>
              <a:defRPr sz="1725" b="0">
                <a:solidFill>
                  <a:srgbClr val="10263B"/>
                </a:solidFill>
              </a:defRPr>
            </a:lvl8pPr>
            <a:lvl9pPr>
              <a:defRPr sz="1725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0263B"/>
                </a:solidFill>
              </a:defRPr>
            </a:pPr>
            <a:r>
              <a:rPr sz="1725" b="0">
                <a:solidFill>
                  <a:srgbClr val="10263B"/>
                </a:solidFill>
              </a:rPr>
              <a:t>Diagonal cells are correct predictions; off-diagonal cells show mistakes.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573C1F-64BF-4DFF-9804-323CA3D60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714875"/>
            <a:ext cx="4476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4B6070"/>
                </a:solidFill>
              </a:defRPr>
            </a:defPPr>
            <a:lvl1pPr>
              <a:defRPr sz="1575" b="0">
                <a:solidFill>
                  <a:srgbClr val="4B6070"/>
                </a:solidFill>
              </a:defRPr>
            </a:lvl1pPr>
            <a:lvl2pPr>
              <a:defRPr sz="1575" b="0">
                <a:solidFill>
                  <a:srgbClr val="4B6070"/>
                </a:solidFill>
              </a:defRPr>
            </a:lvl2pPr>
            <a:lvl3pPr>
              <a:defRPr sz="1575" b="0">
                <a:solidFill>
                  <a:srgbClr val="4B6070"/>
                </a:solidFill>
              </a:defRPr>
            </a:lvl3pPr>
            <a:lvl4pPr>
              <a:defRPr sz="1575" b="0">
                <a:solidFill>
                  <a:srgbClr val="4B6070"/>
                </a:solidFill>
              </a:defRPr>
            </a:lvl4pPr>
            <a:lvl5pPr>
              <a:defRPr sz="1575" b="0">
                <a:solidFill>
                  <a:srgbClr val="4B6070"/>
                </a:solidFill>
              </a:defRPr>
            </a:lvl5pPr>
            <a:lvl6pPr>
              <a:defRPr sz="1575" b="0">
                <a:solidFill>
                  <a:srgbClr val="4B6070"/>
                </a:solidFill>
              </a:defRPr>
            </a:lvl6pPr>
            <a:lvl7pPr>
              <a:defRPr sz="1575" b="0">
                <a:solidFill>
                  <a:srgbClr val="4B6070"/>
                </a:solidFill>
              </a:defRPr>
            </a:lvl7pPr>
            <a:lvl8pPr>
              <a:defRPr sz="1575" b="0">
                <a:solidFill>
                  <a:srgbClr val="4B6070"/>
                </a:solidFill>
              </a:defRPr>
            </a:lvl8pPr>
            <a:lvl9pPr>
              <a:defRPr sz="1575" b="0">
                <a:solidFill>
                  <a:srgbClr val="4B6070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4B6070"/>
                </a:solidFill>
              </a:defRPr>
            </a:pPr>
            <a:r>
              <a:rPr sz="1575" b="0">
                <a:solidFill>
                  <a:srgbClr val="4B6070"/>
                </a:solidFill>
              </a:rPr>
              <a:t>Example: the improved linear model on the official ISIC test.</a:t>
            </a:r>
          </a:p>
        </p:txBody>
      </p:sp>
    </p:spTree>
    <p:extLst>
      <p:ext uri="{BB962C8B-B14F-4D97-AF65-F5344CB8AC3E}">
        <p14:creationId xmlns:p14="http://schemas.microsoft.com/office/powerpoint/2010/main" val="41054111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67556B-8880-4C0C-BC60-D7F13FC8F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0263B"/>
                </a:solidFill>
              </a:defRPr>
            </a:defPPr>
            <a:lvl1pPr>
              <a:buNone/>
              <a:defRPr sz="2850" b="1">
                <a:solidFill>
                  <a:srgbClr val="10263B"/>
                </a:solidFill>
              </a:defRPr>
            </a:lvl1pPr>
            <a:lvl2pPr>
              <a:buNone/>
              <a:defRPr sz="2850" b="1">
                <a:solidFill>
                  <a:srgbClr val="10263B"/>
                </a:solidFill>
              </a:defRPr>
            </a:lvl2pPr>
            <a:lvl3pPr>
              <a:buNone/>
              <a:defRPr sz="2850" b="1">
                <a:solidFill>
                  <a:srgbClr val="10263B"/>
                </a:solidFill>
              </a:defRPr>
            </a:lvl3pPr>
            <a:lvl4pPr>
              <a:buNone/>
              <a:defRPr sz="2850" b="1">
                <a:solidFill>
                  <a:srgbClr val="10263B"/>
                </a:solidFill>
              </a:defRPr>
            </a:lvl4pPr>
            <a:lvl5pPr>
              <a:buNone/>
              <a:defRPr sz="2850" b="1">
                <a:solidFill>
                  <a:srgbClr val="10263B"/>
                </a:solidFill>
              </a:defRPr>
            </a:lvl5pPr>
            <a:lvl6pPr>
              <a:buNone/>
              <a:defRPr sz="2850" b="1">
                <a:solidFill>
                  <a:srgbClr val="10263B"/>
                </a:solidFill>
              </a:defRPr>
            </a:lvl6pPr>
            <a:lvl7pPr>
              <a:buNone/>
              <a:defRPr sz="2850" b="1">
                <a:solidFill>
                  <a:srgbClr val="10263B"/>
                </a:solidFill>
              </a:defRPr>
            </a:lvl7pPr>
            <a:lvl8pPr>
              <a:buNone/>
              <a:defRPr sz="2850" b="1">
                <a:solidFill>
                  <a:srgbClr val="10263B"/>
                </a:solidFill>
              </a:defRPr>
            </a:lvl8pPr>
            <a:lvl9pPr>
              <a:buNone/>
              <a:defRPr sz="2850" b="1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2850" b="1">
                <a:solidFill>
                  <a:srgbClr val="10263B"/>
                </a:solidFill>
              </a:defRPr>
            </a:pPr>
            <a:r>
              <a:rPr sz="2850" b="1">
                <a:solidFill>
                  <a:srgbClr val="10263B"/>
                </a:solidFill>
              </a:rPr>
              <a:t>PanDerm architecture and classifier heads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F4BFA7-FA24-4485-9193-F943EC501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66875"/>
            <a:ext cx="20002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4F3F2"/>
          </a:solidFill>
          <a:ln xmlns:a="http://schemas.openxmlformats.org/drawingml/2006/main" w="19050">
            <a:solidFill>
              <a:srgbClr val="087F8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75" b="1">
                <a:solidFill>
                  <a:srgbClr val="10263B"/>
                </a:solidFill>
              </a:defRPr>
            </a:defPPr>
            <a:lvl1pPr algn="ctr">
              <a:buNone/>
              <a:defRPr sz="1575" b="1">
                <a:solidFill>
                  <a:srgbClr val="10263B"/>
                </a:solidFill>
              </a:defRPr>
            </a:lvl1pPr>
            <a:lvl2pPr algn="ctr">
              <a:buNone/>
              <a:defRPr sz="1575" b="1">
                <a:solidFill>
                  <a:srgbClr val="10263B"/>
                </a:solidFill>
              </a:defRPr>
            </a:lvl2pPr>
            <a:lvl3pPr algn="ctr">
              <a:buNone/>
              <a:defRPr sz="1575" b="1">
                <a:solidFill>
                  <a:srgbClr val="10263B"/>
                </a:solidFill>
              </a:defRPr>
            </a:lvl3pPr>
            <a:lvl4pPr algn="ctr">
              <a:buNone/>
              <a:defRPr sz="1575" b="1">
                <a:solidFill>
                  <a:srgbClr val="10263B"/>
                </a:solidFill>
              </a:defRPr>
            </a:lvl4pPr>
            <a:lvl5pPr algn="ctr">
              <a:buNone/>
              <a:defRPr sz="1575" b="1">
                <a:solidFill>
                  <a:srgbClr val="10263B"/>
                </a:solidFill>
              </a:defRPr>
            </a:lvl5pPr>
            <a:lvl6pPr algn="ctr">
              <a:buNone/>
              <a:defRPr sz="1575" b="1">
                <a:solidFill>
                  <a:srgbClr val="10263B"/>
                </a:solidFill>
              </a:defRPr>
            </a:lvl6pPr>
            <a:lvl7pPr algn="ctr">
              <a:buNone/>
              <a:defRPr sz="1575" b="1">
                <a:solidFill>
                  <a:srgbClr val="10263B"/>
                </a:solidFill>
              </a:defRPr>
            </a:lvl7pPr>
            <a:lvl8pPr algn="ctr">
              <a:buNone/>
              <a:defRPr sz="1575" b="1">
                <a:solidFill>
                  <a:srgbClr val="10263B"/>
                </a:solidFill>
              </a:defRPr>
            </a:lvl8pPr>
            <a:lvl9pPr algn="ctr">
              <a:buNone/>
              <a:defRPr sz="1575" b="1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 algn="ctr">
              <a:buNone/>
              <a:defRPr sz="1575" b="1">
                <a:solidFill>
                  <a:srgbClr val="10263B"/>
                </a:solidFill>
              </a:defRPr>
            </a:pPr>
            <a:r>
              <a:rPr sz="1575" b="1">
                <a:solidFill>
                  <a:srgbClr val="10263B"/>
                </a:solidFill>
              </a:rPr>
              <a:t>Image patches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0263B"/>
                </a:solidFill>
              </a:defRPr>
            </a:pPr>
            <a:r>
              <a:rPr sz="1575" b="1">
                <a:solidFill>
                  <a:srgbClr val="10263B"/>
                </a:solidFill>
              </a:rPr>
              <a:t>16 × 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C6C1D8-3D5E-4BA6-889B-8AFFD762E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038350"/>
            <a:ext cx="4762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solidFill>
              <a:srgbClr val="087F8C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736ED9-545F-482F-8883-ADA65FD4C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1666875"/>
            <a:ext cx="2619375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4F3F2"/>
          </a:solidFill>
          <a:ln xmlns:a="http://schemas.openxmlformats.org/drawingml/2006/main" w="19050">
            <a:solidFill>
              <a:srgbClr val="087F8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75" b="1">
                <a:solidFill>
                  <a:srgbClr val="10263B"/>
                </a:solidFill>
              </a:defRPr>
            </a:defPPr>
            <a:lvl1pPr algn="ctr">
              <a:buNone/>
              <a:defRPr sz="1575" b="1">
                <a:solidFill>
                  <a:srgbClr val="10263B"/>
                </a:solidFill>
              </a:defRPr>
            </a:lvl1pPr>
            <a:lvl2pPr algn="ctr">
              <a:buNone/>
              <a:defRPr sz="1575" b="1">
                <a:solidFill>
                  <a:srgbClr val="10263B"/>
                </a:solidFill>
              </a:defRPr>
            </a:lvl2pPr>
            <a:lvl3pPr algn="ctr">
              <a:buNone/>
              <a:defRPr sz="1575" b="1">
                <a:solidFill>
                  <a:srgbClr val="10263B"/>
                </a:solidFill>
              </a:defRPr>
            </a:lvl3pPr>
            <a:lvl4pPr algn="ctr">
              <a:buNone/>
              <a:defRPr sz="1575" b="1">
                <a:solidFill>
                  <a:srgbClr val="10263B"/>
                </a:solidFill>
              </a:defRPr>
            </a:lvl4pPr>
            <a:lvl5pPr algn="ctr">
              <a:buNone/>
              <a:defRPr sz="1575" b="1">
                <a:solidFill>
                  <a:srgbClr val="10263B"/>
                </a:solidFill>
              </a:defRPr>
            </a:lvl5pPr>
            <a:lvl6pPr algn="ctr">
              <a:buNone/>
              <a:defRPr sz="1575" b="1">
                <a:solidFill>
                  <a:srgbClr val="10263B"/>
                </a:solidFill>
              </a:defRPr>
            </a:lvl6pPr>
            <a:lvl7pPr algn="ctr">
              <a:buNone/>
              <a:defRPr sz="1575" b="1">
                <a:solidFill>
                  <a:srgbClr val="10263B"/>
                </a:solidFill>
              </a:defRPr>
            </a:lvl7pPr>
            <a:lvl8pPr algn="ctr">
              <a:buNone/>
              <a:defRPr sz="1575" b="1">
                <a:solidFill>
                  <a:srgbClr val="10263B"/>
                </a:solidFill>
              </a:defRPr>
            </a:lvl8pPr>
            <a:lvl9pPr algn="ctr">
              <a:buNone/>
              <a:defRPr sz="1575" b="1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 algn="ctr">
              <a:buNone/>
              <a:defRPr sz="1575" b="1">
                <a:solidFill>
                  <a:srgbClr val="10263B"/>
                </a:solidFill>
              </a:defRPr>
            </a:pPr>
            <a:r>
              <a:rPr sz="1575" b="1">
                <a:solidFill>
                  <a:srgbClr val="10263B"/>
                </a:solidFill>
              </a:rPr>
              <a:t>Vision Transformer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0263B"/>
                </a:solidFill>
              </a:defRPr>
            </a:pPr>
            <a:r>
              <a:rPr sz="1575" b="1">
                <a:solidFill>
                  <a:srgbClr val="10263B"/>
                </a:solidFill>
              </a:rPr>
              <a:t>PanDerm Base / Large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A85E13-B80A-4ABE-9971-88B8953B0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38350"/>
            <a:ext cx="4762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solidFill>
              <a:srgbClr val="087F8C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5AEE44-E872-4123-BF1B-5A985E76B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66875"/>
            <a:ext cx="2047875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4F3F2"/>
          </a:solidFill>
          <a:ln xmlns:a="http://schemas.openxmlformats.org/drawingml/2006/main" w="19050">
            <a:solidFill>
              <a:srgbClr val="087F8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75" b="1">
                <a:solidFill>
                  <a:srgbClr val="10263B"/>
                </a:solidFill>
              </a:defRPr>
            </a:defPPr>
            <a:lvl1pPr algn="ctr">
              <a:buNone/>
              <a:defRPr sz="1575" b="1">
                <a:solidFill>
                  <a:srgbClr val="10263B"/>
                </a:solidFill>
              </a:defRPr>
            </a:lvl1pPr>
            <a:lvl2pPr algn="ctr">
              <a:buNone/>
              <a:defRPr sz="1575" b="1">
                <a:solidFill>
                  <a:srgbClr val="10263B"/>
                </a:solidFill>
              </a:defRPr>
            </a:lvl2pPr>
            <a:lvl3pPr algn="ctr">
              <a:buNone/>
              <a:defRPr sz="1575" b="1">
                <a:solidFill>
                  <a:srgbClr val="10263B"/>
                </a:solidFill>
              </a:defRPr>
            </a:lvl3pPr>
            <a:lvl4pPr algn="ctr">
              <a:buNone/>
              <a:defRPr sz="1575" b="1">
                <a:solidFill>
                  <a:srgbClr val="10263B"/>
                </a:solidFill>
              </a:defRPr>
            </a:lvl4pPr>
            <a:lvl5pPr algn="ctr">
              <a:buNone/>
              <a:defRPr sz="1575" b="1">
                <a:solidFill>
                  <a:srgbClr val="10263B"/>
                </a:solidFill>
              </a:defRPr>
            </a:lvl5pPr>
            <a:lvl6pPr algn="ctr">
              <a:buNone/>
              <a:defRPr sz="1575" b="1">
                <a:solidFill>
                  <a:srgbClr val="10263B"/>
                </a:solidFill>
              </a:defRPr>
            </a:lvl6pPr>
            <a:lvl7pPr algn="ctr">
              <a:buNone/>
              <a:defRPr sz="1575" b="1">
                <a:solidFill>
                  <a:srgbClr val="10263B"/>
                </a:solidFill>
              </a:defRPr>
            </a:lvl7pPr>
            <a:lvl8pPr algn="ctr">
              <a:buNone/>
              <a:defRPr sz="1575" b="1">
                <a:solidFill>
                  <a:srgbClr val="10263B"/>
                </a:solidFill>
              </a:defRPr>
            </a:lvl8pPr>
            <a:lvl9pPr algn="ctr">
              <a:buNone/>
              <a:defRPr sz="1575" b="1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 algn="ctr">
              <a:buNone/>
              <a:defRPr sz="1575" b="1">
                <a:solidFill>
                  <a:srgbClr val="10263B"/>
                </a:solidFill>
              </a:defRPr>
            </a:pPr>
            <a:r>
              <a:rPr sz="1575" b="1">
                <a:solidFill>
                  <a:srgbClr val="10263B"/>
                </a:solidFill>
              </a:rPr>
              <a:t>Embedding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0263B"/>
                </a:solidFill>
              </a:defRPr>
            </a:pPr>
            <a:r>
              <a:rPr sz="1575" b="1">
                <a:solidFill>
                  <a:srgbClr val="10263B"/>
                </a:solidFill>
              </a:rPr>
              <a:t>768 / 1,024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80D62F-952A-4A13-96E1-7C228F719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038350"/>
            <a:ext cx="4762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solidFill>
              <a:srgbClr val="087F8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96BC39-E293-4CAE-AC65-F97FC5C3D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1666875"/>
            <a:ext cx="2238375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4F3F2"/>
          </a:solidFill>
          <a:ln xmlns:a="http://schemas.openxmlformats.org/drawingml/2006/main" w="19050">
            <a:solidFill>
              <a:srgbClr val="087F8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75" b="1">
                <a:solidFill>
                  <a:srgbClr val="10263B"/>
                </a:solidFill>
              </a:defRPr>
            </a:defPPr>
            <a:lvl1pPr algn="ctr">
              <a:buNone/>
              <a:defRPr sz="1575" b="1">
                <a:solidFill>
                  <a:srgbClr val="10263B"/>
                </a:solidFill>
              </a:defRPr>
            </a:lvl1pPr>
            <a:lvl2pPr algn="ctr">
              <a:buNone/>
              <a:defRPr sz="1575" b="1">
                <a:solidFill>
                  <a:srgbClr val="10263B"/>
                </a:solidFill>
              </a:defRPr>
            </a:lvl2pPr>
            <a:lvl3pPr algn="ctr">
              <a:buNone/>
              <a:defRPr sz="1575" b="1">
                <a:solidFill>
                  <a:srgbClr val="10263B"/>
                </a:solidFill>
              </a:defRPr>
            </a:lvl3pPr>
            <a:lvl4pPr algn="ctr">
              <a:buNone/>
              <a:defRPr sz="1575" b="1">
                <a:solidFill>
                  <a:srgbClr val="10263B"/>
                </a:solidFill>
              </a:defRPr>
            </a:lvl4pPr>
            <a:lvl5pPr algn="ctr">
              <a:buNone/>
              <a:defRPr sz="1575" b="1">
                <a:solidFill>
                  <a:srgbClr val="10263B"/>
                </a:solidFill>
              </a:defRPr>
            </a:lvl5pPr>
            <a:lvl6pPr algn="ctr">
              <a:buNone/>
              <a:defRPr sz="1575" b="1">
                <a:solidFill>
                  <a:srgbClr val="10263B"/>
                </a:solidFill>
              </a:defRPr>
            </a:lvl6pPr>
            <a:lvl7pPr algn="ctr">
              <a:buNone/>
              <a:defRPr sz="1575" b="1">
                <a:solidFill>
                  <a:srgbClr val="10263B"/>
                </a:solidFill>
              </a:defRPr>
            </a:lvl7pPr>
            <a:lvl8pPr algn="ctr">
              <a:buNone/>
              <a:defRPr sz="1575" b="1">
                <a:solidFill>
                  <a:srgbClr val="10263B"/>
                </a:solidFill>
              </a:defRPr>
            </a:lvl8pPr>
            <a:lvl9pPr algn="ctr">
              <a:buNone/>
              <a:defRPr sz="1575" b="1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 algn="ctr">
              <a:buNone/>
              <a:defRPr sz="1575" b="1">
                <a:solidFill>
                  <a:srgbClr val="10263B"/>
                </a:solidFill>
              </a:defRPr>
            </a:pPr>
            <a:r>
              <a:rPr sz="1575" b="1">
                <a:solidFill>
                  <a:srgbClr val="10263B"/>
                </a:solidFill>
              </a:rPr>
              <a:t>Trained head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0263B"/>
                </a:solidFill>
              </a:defRPr>
            </a:pPr>
            <a:r>
              <a:rPr sz="1575" b="1">
                <a:solidFill>
                  <a:srgbClr val="10263B"/>
                </a:solidFill>
              </a:rPr>
              <a:t>7 classes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819A4C-6563-41B0-B7BB-9F717EDB0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42900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0263B"/>
                </a:solidFill>
              </a:defRPr>
            </a:defPPr>
            <a:lvl1pPr>
              <a:buNone/>
              <a:defRPr sz="1875" b="1">
                <a:solidFill>
                  <a:srgbClr val="10263B"/>
                </a:solidFill>
              </a:defRPr>
            </a:lvl1pPr>
            <a:lvl2pPr>
              <a:buNone/>
              <a:defRPr sz="1875" b="1">
                <a:solidFill>
                  <a:srgbClr val="10263B"/>
                </a:solidFill>
              </a:defRPr>
            </a:lvl2pPr>
            <a:lvl3pPr>
              <a:buNone/>
              <a:defRPr sz="1875" b="1">
                <a:solidFill>
                  <a:srgbClr val="10263B"/>
                </a:solidFill>
              </a:defRPr>
            </a:lvl3pPr>
            <a:lvl4pPr>
              <a:buNone/>
              <a:defRPr sz="1875" b="1">
                <a:solidFill>
                  <a:srgbClr val="10263B"/>
                </a:solidFill>
              </a:defRPr>
            </a:lvl4pPr>
            <a:lvl5pPr>
              <a:buNone/>
              <a:defRPr sz="1875" b="1">
                <a:solidFill>
                  <a:srgbClr val="10263B"/>
                </a:solidFill>
              </a:defRPr>
            </a:lvl5pPr>
            <a:lvl6pPr>
              <a:buNone/>
              <a:defRPr sz="1875" b="1">
                <a:solidFill>
                  <a:srgbClr val="10263B"/>
                </a:solidFill>
              </a:defRPr>
            </a:lvl6pPr>
            <a:lvl7pPr>
              <a:buNone/>
              <a:defRPr sz="1875" b="1">
                <a:solidFill>
                  <a:srgbClr val="10263B"/>
                </a:solidFill>
              </a:defRPr>
            </a:lvl7pPr>
            <a:lvl8pPr>
              <a:buNone/>
              <a:defRPr sz="1875" b="1">
                <a:solidFill>
                  <a:srgbClr val="10263B"/>
                </a:solidFill>
              </a:defRPr>
            </a:lvl8pPr>
            <a:lvl9pPr>
              <a:buNone/>
              <a:defRPr sz="1875" b="1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1875" b="1">
                <a:solidFill>
                  <a:srgbClr val="10263B"/>
                </a:solidFill>
              </a:defRPr>
            </a:pPr>
            <a:r>
              <a:rPr sz="1875" b="1">
                <a:solidFill>
                  <a:srgbClr val="10263B"/>
                </a:solidFill>
              </a:rPr>
              <a:t>The transformer combines information across image patches.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6B6E4E-5E67-4591-92C4-CB2C235F8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95750"/>
            <a:ext cx="1038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0263B"/>
                </a:solidFill>
              </a:defRPr>
            </a:defPPr>
            <a:lvl1pPr>
              <a:buNone/>
              <a:defRPr sz="1800" b="0">
                <a:solidFill>
                  <a:srgbClr val="10263B"/>
                </a:solidFill>
              </a:defRPr>
            </a:lvl1pPr>
            <a:lvl2pPr>
              <a:buNone/>
              <a:defRPr sz="1800" b="0">
                <a:solidFill>
                  <a:srgbClr val="10263B"/>
                </a:solidFill>
              </a:defRPr>
            </a:lvl2pPr>
            <a:lvl3pPr>
              <a:buNone/>
              <a:defRPr sz="1800" b="0">
                <a:solidFill>
                  <a:srgbClr val="10263B"/>
                </a:solidFill>
              </a:defRPr>
            </a:lvl3pPr>
            <a:lvl4pPr>
              <a:buNone/>
              <a:defRPr sz="1800" b="0">
                <a:solidFill>
                  <a:srgbClr val="10263B"/>
                </a:solidFill>
              </a:defRPr>
            </a:lvl4pPr>
            <a:lvl5pPr>
              <a:buNone/>
              <a:defRPr sz="1800" b="0">
                <a:solidFill>
                  <a:srgbClr val="10263B"/>
                </a:solidFill>
              </a:defRPr>
            </a:lvl5pPr>
            <a:lvl6pPr>
              <a:buNone/>
              <a:defRPr sz="1800" b="0">
                <a:solidFill>
                  <a:srgbClr val="10263B"/>
                </a:solidFill>
              </a:defRPr>
            </a:lvl6pPr>
            <a:lvl7pPr>
              <a:buNone/>
              <a:defRPr sz="1800" b="0">
                <a:solidFill>
                  <a:srgbClr val="10263B"/>
                </a:solidFill>
              </a:defRPr>
            </a:lvl7pPr>
            <a:lvl8pPr>
              <a:buNone/>
              <a:defRPr sz="1800" b="0">
                <a:solidFill>
                  <a:srgbClr val="10263B"/>
                </a:solidFill>
              </a:defRPr>
            </a:lvl8pPr>
            <a:lvl9pPr>
              <a:buNone/>
              <a:defRPr sz="1800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10263B"/>
                </a:solidFill>
              </a:defRPr>
            </a:pPr>
            <a:r>
              <a:rPr sz="1800" b="0">
                <a:solidFill>
                  <a:srgbClr val="10263B"/>
                </a:solidFill>
              </a:rPr>
              <a:t>We kept the encoder frozen and compared linear, neural and XGBoost heads.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0E746B-BAA0-4B2A-95E8-09CC3C63C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905375"/>
            <a:ext cx="1038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0263B"/>
                </a:solidFill>
              </a:defRPr>
            </a:defPPr>
            <a:lvl1pPr>
              <a:buNone/>
              <a:defRPr sz="1800" b="0">
                <a:solidFill>
                  <a:srgbClr val="10263B"/>
                </a:solidFill>
              </a:defRPr>
            </a:lvl1pPr>
            <a:lvl2pPr>
              <a:buNone/>
              <a:defRPr sz="1800" b="0">
                <a:solidFill>
                  <a:srgbClr val="10263B"/>
                </a:solidFill>
              </a:defRPr>
            </a:lvl2pPr>
            <a:lvl3pPr>
              <a:buNone/>
              <a:defRPr sz="1800" b="0">
                <a:solidFill>
                  <a:srgbClr val="10263B"/>
                </a:solidFill>
              </a:defRPr>
            </a:lvl3pPr>
            <a:lvl4pPr>
              <a:buNone/>
              <a:defRPr sz="1800" b="0">
                <a:solidFill>
                  <a:srgbClr val="10263B"/>
                </a:solidFill>
              </a:defRPr>
            </a:lvl4pPr>
            <a:lvl5pPr>
              <a:buNone/>
              <a:defRPr sz="1800" b="0">
                <a:solidFill>
                  <a:srgbClr val="10263B"/>
                </a:solidFill>
              </a:defRPr>
            </a:lvl5pPr>
            <a:lvl6pPr>
              <a:buNone/>
              <a:defRPr sz="1800" b="0">
                <a:solidFill>
                  <a:srgbClr val="10263B"/>
                </a:solidFill>
              </a:defRPr>
            </a:lvl6pPr>
            <a:lvl7pPr>
              <a:buNone/>
              <a:defRPr sz="1800" b="0">
                <a:solidFill>
                  <a:srgbClr val="10263B"/>
                </a:solidFill>
              </a:defRPr>
            </a:lvl7pPr>
            <a:lvl8pPr>
              <a:buNone/>
              <a:defRPr sz="1800" b="0">
                <a:solidFill>
                  <a:srgbClr val="10263B"/>
                </a:solidFill>
              </a:defRPr>
            </a:lvl8pPr>
            <a:lvl9pPr>
              <a:buNone/>
              <a:defRPr sz="1800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10263B"/>
                </a:solidFill>
              </a:defRPr>
            </a:pPr>
            <a:r>
              <a:rPr sz="1800" b="0">
                <a:solidFill>
                  <a:srgbClr val="10263B"/>
                </a:solidFill>
              </a:rPr>
              <a:t>Large also used the authors’ linear-probe recipe as a reference.</a:t>
            </a:r>
          </a:p>
        </p:txBody>
      </p:sp>
    </p:spTree>
    <p:extLst>
      <p:ext uri="{BB962C8B-B14F-4D97-AF65-F5344CB8AC3E}">
        <p14:creationId xmlns:p14="http://schemas.microsoft.com/office/powerpoint/2010/main" val="145078252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F90886-C85B-470F-BD70-D0B1B2C0A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0263B"/>
                </a:solidFill>
              </a:defRPr>
            </a:defPPr>
            <a:lvl1pPr>
              <a:buNone/>
              <a:defRPr sz="2850" b="1">
                <a:solidFill>
                  <a:srgbClr val="10263B"/>
                </a:solidFill>
              </a:defRPr>
            </a:lvl1pPr>
            <a:lvl2pPr>
              <a:buNone/>
              <a:defRPr sz="2850" b="1">
                <a:solidFill>
                  <a:srgbClr val="10263B"/>
                </a:solidFill>
              </a:defRPr>
            </a:lvl2pPr>
            <a:lvl3pPr>
              <a:buNone/>
              <a:defRPr sz="2850" b="1">
                <a:solidFill>
                  <a:srgbClr val="10263B"/>
                </a:solidFill>
              </a:defRPr>
            </a:lvl3pPr>
            <a:lvl4pPr>
              <a:buNone/>
              <a:defRPr sz="2850" b="1">
                <a:solidFill>
                  <a:srgbClr val="10263B"/>
                </a:solidFill>
              </a:defRPr>
            </a:lvl4pPr>
            <a:lvl5pPr>
              <a:buNone/>
              <a:defRPr sz="2850" b="1">
                <a:solidFill>
                  <a:srgbClr val="10263B"/>
                </a:solidFill>
              </a:defRPr>
            </a:lvl5pPr>
            <a:lvl6pPr>
              <a:buNone/>
              <a:defRPr sz="2850" b="1">
                <a:solidFill>
                  <a:srgbClr val="10263B"/>
                </a:solidFill>
              </a:defRPr>
            </a:lvl6pPr>
            <a:lvl7pPr>
              <a:buNone/>
              <a:defRPr sz="2850" b="1">
                <a:solidFill>
                  <a:srgbClr val="10263B"/>
                </a:solidFill>
              </a:defRPr>
            </a:lvl7pPr>
            <a:lvl8pPr>
              <a:buNone/>
              <a:defRPr sz="2850" b="1">
                <a:solidFill>
                  <a:srgbClr val="10263B"/>
                </a:solidFill>
              </a:defRPr>
            </a:lvl8pPr>
            <a:lvl9pPr>
              <a:buNone/>
              <a:defRPr sz="2850" b="1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2850" b="1">
                <a:solidFill>
                  <a:srgbClr val="10263B"/>
                </a:solidFill>
              </a:defRPr>
            </a:pPr>
            <a:r>
              <a:rPr sz="2850" b="1">
                <a:solidFill>
                  <a:srgbClr val="10263B"/>
                </a:solidFill>
              </a:rPr>
              <a:t>PanDerm Base and Large results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F5A67B-68F3-4705-B4BC-E8037A0F7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381125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0263B"/>
                </a:solidFill>
              </a:defRPr>
            </a:defPPr>
            <a:lvl1pPr>
              <a:buNone/>
              <a:defRPr sz="1875" b="0">
                <a:solidFill>
                  <a:srgbClr val="10263B"/>
                </a:solidFill>
              </a:defRPr>
            </a:lvl1pPr>
            <a:lvl2pPr>
              <a:buNone/>
              <a:defRPr sz="1875" b="0">
                <a:solidFill>
                  <a:srgbClr val="10263B"/>
                </a:solidFill>
              </a:defRPr>
            </a:lvl2pPr>
            <a:lvl3pPr>
              <a:buNone/>
              <a:defRPr sz="1875" b="0">
                <a:solidFill>
                  <a:srgbClr val="10263B"/>
                </a:solidFill>
              </a:defRPr>
            </a:lvl3pPr>
            <a:lvl4pPr>
              <a:buNone/>
              <a:defRPr sz="1875" b="0">
                <a:solidFill>
                  <a:srgbClr val="10263B"/>
                </a:solidFill>
              </a:defRPr>
            </a:lvl4pPr>
            <a:lvl5pPr>
              <a:buNone/>
              <a:defRPr sz="1875" b="0">
                <a:solidFill>
                  <a:srgbClr val="10263B"/>
                </a:solidFill>
              </a:defRPr>
            </a:lvl5pPr>
            <a:lvl6pPr>
              <a:buNone/>
              <a:defRPr sz="1875" b="0">
                <a:solidFill>
                  <a:srgbClr val="10263B"/>
                </a:solidFill>
              </a:defRPr>
            </a:lvl6pPr>
            <a:lvl7pPr>
              <a:buNone/>
              <a:defRPr sz="1875" b="0">
                <a:solidFill>
                  <a:srgbClr val="10263B"/>
                </a:solidFill>
              </a:defRPr>
            </a:lvl7pPr>
            <a:lvl8pPr>
              <a:buNone/>
              <a:defRPr sz="1875" b="0">
                <a:solidFill>
                  <a:srgbClr val="10263B"/>
                </a:solidFill>
              </a:defRPr>
            </a:lvl8pPr>
            <a:lvl9pPr>
              <a:buNone/>
              <a:defRPr sz="1875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0263B"/>
                </a:solidFill>
              </a:defRPr>
            </a:pPr>
            <a:r>
              <a:rPr sz="1875" b="0">
                <a:solidFill>
                  <a:srgbClr val="10263B"/>
                </a:solidFill>
              </a:rPr>
              <a:t>Base + neural head: 70.3% macro F1 on the 1,512-image official test.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0BB027-24FC-4C98-9493-724C2AFE4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71700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0263B"/>
                </a:solidFill>
              </a:defRPr>
            </a:defPPr>
            <a:lvl1pPr>
              <a:buNone/>
              <a:defRPr sz="1875" b="0">
                <a:solidFill>
                  <a:srgbClr val="10263B"/>
                </a:solidFill>
              </a:defRPr>
            </a:lvl1pPr>
            <a:lvl2pPr>
              <a:buNone/>
              <a:defRPr sz="1875" b="0">
                <a:solidFill>
                  <a:srgbClr val="10263B"/>
                </a:solidFill>
              </a:defRPr>
            </a:lvl2pPr>
            <a:lvl3pPr>
              <a:buNone/>
              <a:defRPr sz="1875" b="0">
                <a:solidFill>
                  <a:srgbClr val="10263B"/>
                </a:solidFill>
              </a:defRPr>
            </a:lvl3pPr>
            <a:lvl4pPr>
              <a:buNone/>
              <a:defRPr sz="1875" b="0">
                <a:solidFill>
                  <a:srgbClr val="10263B"/>
                </a:solidFill>
              </a:defRPr>
            </a:lvl4pPr>
            <a:lvl5pPr>
              <a:buNone/>
              <a:defRPr sz="1875" b="0">
                <a:solidFill>
                  <a:srgbClr val="10263B"/>
                </a:solidFill>
              </a:defRPr>
            </a:lvl5pPr>
            <a:lvl6pPr>
              <a:buNone/>
              <a:defRPr sz="1875" b="0">
                <a:solidFill>
                  <a:srgbClr val="10263B"/>
                </a:solidFill>
              </a:defRPr>
            </a:lvl6pPr>
            <a:lvl7pPr>
              <a:buNone/>
              <a:defRPr sz="1875" b="0">
                <a:solidFill>
                  <a:srgbClr val="10263B"/>
                </a:solidFill>
              </a:defRPr>
            </a:lvl7pPr>
            <a:lvl8pPr>
              <a:buNone/>
              <a:defRPr sz="1875" b="0">
                <a:solidFill>
                  <a:srgbClr val="10263B"/>
                </a:solidFill>
              </a:defRPr>
            </a:lvl8pPr>
            <a:lvl9pPr>
              <a:buNone/>
              <a:defRPr sz="1875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0263B"/>
                </a:solidFill>
              </a:defRPr>
            </a:pPr>
            <a:r>
              <a:rPr sz="1875" b="0">
                <a:solidFill>
                  <a:srgbClr val="10263B"/>
                </a:solidFill>
              </a:rPr>
              <a:t>Large + linear head: 73.8% macro F1 on the same official test.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89E188-25EC-4A52-BDDC-10D8325EE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962275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0263B"/>
                </a:solidFill>
              </a:defRPr>
            </a:defPPr>
            <a:lvl1pPr>
              <a:buNone/>
              <a:defRPr sz="1875" b="0">
                <a:solidFill>
                  <a:srgbClr val="10263B"/>
                </a:solidFill>
              </a:defRPr>
            </a:lvl1pPr>
            <a:lvl2pPr>
              <a:buNone/>
              <a:defRPr sz="1875" b="0">
                <a:solidFill>
                  <a:srgbClr val="10263B"/>
                </a:solidFill>
              </a:defRPr>
            </a:lvl2pPr>
            <a:lvl3pPr>
              <a:buNone/>
              <a:defRPr sz="1875" b="0">
                <a:solidFill>
                  <a:srgbClr val="10263B"/>
                </a:solidFill>
              </a:defRPr>
            </a:lvl3pPr>
            <a:lvl4pPr>
              <a:buNone/>
              <a:defRPr sz="1875" b="0">
                <a:solidFill>
                  <a:srgbClr val="10263B"/>
                </a:solidFill>
              </a:defRPr>
            </a:lvl4pPr>
            <a:lvl5pPr>
              <a:buNone/>
              <a:defRPr sz="1875" b="0">
                <a:solidFill>
                  <a:srgbClr val="10263B"/>
                </a:solidFill>
              </a:defRPr>
            </a:lvl5pPr>
            <a:lvl6pPr>
              <a:buNone/>
              <a:defRPr sz="1875" b="0">
                <a:solidFill>
                  <a:srgbClr val="10263B"/>
                </a:solidFill>
              </a:defRPr>
            </a:lvl6pPr>
            <a:lvl7pPr>
              <a:buNone/>
              <a:defRPr sz="1875" b="0">
                <a:solidFill>
                  <a:srgbClr val="10263B"/>
                </a:solidFill>
              </a:defRPr>
            </a:lvl7pPr>
            <a:lvl8pPr>
              <a:buNone/>
              <a:defRPr sz="1875" b="0">
                <a:solidFill>
                  <a:srgbClr val="10263B"/>
                </a:solidFill>
              </a:defRPr>
            </a:lvl8pPr>
            <a:lvl9pPr>
              <a:buNone/>
              <a:defRPr sz="1875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0263B"/>
                </a:solidFill>
              </a:defRPr>
            </a:pPr>
            <a:r>
              <a:rPr sz="1875" b="0">
                <a:solidFill>
                  <a:srgbClr val="10263B"/>
                </a:solidFill>
              </a:rPr>
              <a:t>Large + author-style probe: 71.6% macro F1 on that official test.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1A0E0D-8949-448A-A7EF-3A619E275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752850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0263B"/>
                </a:solidFill>
              </a:defRPr>
            </a:defPPr>
            <a:lvl1pPr>
              <a:buNone/>
              <a:defRPr sz="1875" b="0">
                <a:solidFill>
                  <a:srgbClr val="10263B"/>
                </a:solidFill>
              </a:defRPr>
            </a:lvl1pPr>
            <a:lvl2pPr>
              <a:buNone/>
              <a:defRPr sz="1875" b="0">
                <a:solidFill>
                  <a:srgbClr val="10263B"/>
                </a:solidFill>
              </a:defRPr>
            </a:lvl2pPr>
            <a:lvl3pPr>
              <a:buNone/>
              <a:defRPr sz="1875" b="0">
                <a:solidFill>
                  <a:srgbClr val="10263B"/>
                </a:solidFill>
              </a:defRPr>
            </a:lvl3pPr>
            <a:lvl4pPr>
              <a:buNone/>
              <a:defRPr sz="1875" b="0">
                <a:solidFill>
                  <a:srgbClr val="10263B"/>
                </a:solidFill>
              </a:defRPr>
            </a:lvl4pPr>
            <a:lvl5pPr>
              <a:buNone/>
              <a:defRPr sz="1875" b="0">
                <a:solidFill>
                  <a:srgbClr val="10263B"/>
                </a:solidFill>
              </a:defRPr>
            </a:lvl5pPr>
            <a:lvl6pPr>
              <a:buNone/>
              <a:defRPr sz="1875" b="0">
                <a:solidFill>
                  <a:srgbClr val="10263B"/>
                </a:solidFill>
              </a:defRPr>
            </a:lvl6pPr>
            <a:lvl7pPr>
              <a:buNone/>
              <a:defRPr sz="1875" b="0">
                <a:solidFill>
                  <a:srgbClr val="10263B"/>
                </a:solidFill>
              </a:defRPr>
            </a:lvl7pPr>
            <a:lvl8pPr>
              <a:buNone/>
              <a:defRPr sz="1875" b="0">
                <a:solidFill>
                  <a:srgbClr val="10263B"/>
                </a:solidFill>
              </a:defRPr>
            </a:lvl8pPr>
            <a:lvl9pPr>
              <a:buNone/>
              <a:defRPr sz="1875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0263B"/>
                </a:solidFill>
              </a:defRPr>
            </a:pPr>
            <a:r>
              <a:rPr sz="1875" b="0">
                <a:solidFill>
                  <a:srgbClr val="10263B"/>
                </a:solidFill>
              </a:rPr>
              <a:t>Training splits and head selection differ, so this is not an encoder-only comparison.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853FF6-5136-4345-80CA-D2B7A3D8B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4B6070"/>
                </a:solidFill>
              </a:defRPr>
            </a:defPPr>
            <a:lvl1pPr>
              <a:buNone/>
              <a:defRPr sz="1050" b="0">
                <a:solidFill>
                  <a:srgbClr val="4B6070"/>
                </a:solidFill>
              </a:defRPr>
            </a:lvl1pPr>
            <a:lvl2pPr>
              <a:buNone/>
              <a:defRPr sz="1050" b="0">
                <a:solidFill>
                  <a:srgbClr val="4B6070"/>
                </a:solidFill>
              </a:defRPr>
            </a:lvl2pPr>
            <a:lvl3pPr>
              <a:buNone/>
              <a:defRPr sz="1050" b="0">
                <a:solidFill>
                  <a:srgbClr val="4B6070"/>
                </a:solidFill>
              </a:defRPr>
            </a:lvl3pPr>
            <a:lvl4pPr>
              <a:buNone/>
              <a:defRPr sz="1050" b="0">
                <a:solidFill>
                  <a:srgbClr val="4B6070"/>
                </a:solidFill>
              </a:defRPr>
            </a:lvl4pPr>
            <a:lvl5pPr>
              <a:buNone/>
              <a:defRPr sz="1050" b="0">
                <a:solidFill>
                  <a:srgbClr val="4B6070"/>
                </a:solidFill>
              </a:defRPr>
            </a:lvl5pPr>
            <a:lvl6pPr>
              <a:buNone/>
              <a:defRPr sz="1050" b="0">
                <a:solidFill>
                  <a:srgbClr val="4B6070"/>
                </a:solidFill>
              </a:defRPr>
            </a:lvl6pPr>
            <a:lvl7pPr>
              <a:buNone/>
              <a:defRPr sz="1050" b="0">
                <a:solidFill>
                  <a:srgbClr val="4B6070"/>
                </a:solidFill>
              </a:defRPr>
            </a:lvl7pPr>
            <a:lvl8pPr>
              <a:buNone/>
              <a:defRPr sz="1050" b="0">
                <a:solidFill>
                  <a:srgbClr val="4B6070"/>
                </a:solidFill>
              </a:defRPr>
            </a:lvl8pPr>
            <a:lvl9pPr>
              <a:buNone/>
              <a:defRPr sz="1050" b="0">
                <a:solidFill>
                  <a:srgbClr val="4B6070"/>
                </a:solidFill>
              </a:defRPr>
            </a:lvl9pPr>
          </a:lstStyle>
          <a:p xmlns:a="http://schemas.openxmlformats.org/drawingml/2006/main">
            <a:pPr>
              <a:buNone/>
              <a:defRPr sz="1050" b="0">
                <a:solidFill>
                  <a:srgbClr val="4B6070"/>
                </a:solidFill>
              </a:defRPr>
            </a:pPr>
            <a:r>
              <a:rPr sz="1050" b="0">
                <a:solidFill>
                  <a:srgbClr val="4B6070"/>
                </a:solidFill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9034052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132E49-2027-4A04-B021-C6B2EE10A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0263B"/>
                </a:solidFill>
              </a:defRPr>
            </a:defPPr>
            <a:lvl1pPr>
              <a:buNone/>
              <a:defRPr sz="2850" b="1">
                <a:solidFill>
                  <a:srgbClr val="10263B"/>
                </a:solidFill>
              </a:defRPr>
            </a:lvl1pPr>
            <a:lvl2pPr>
              <a:buNone/>
              <a:defRPr sz="2850" b="1">
                <a:solidFill>
                  <a:srgbClr val="10263B"/>
                </a:solidFill>
              </a:defRPr>
            </a:lvl2pPr>
            <a:lvl3pPr>
              <a:buNone/>
              <a:defRPr sz="2850" b="1">
                <a:solidFill>
                  <a:srgbClr val="10263B"/>
                </a:solidFill>
              </a:defRPr>
            </a:lvl3pPr>
            <a:lvl4pPr>
              <a:buNone/>
              <a:defRPr sz="2850" b="1">
                <a:solidFill>
                  <a:srgbClr val="10263B"/>
                </a:solidFill>
              </a:defRPr>
            </a:lvl4pPr>
            <a:lvl5pPr>
              <a:buNone/>
              <a:defRPr sz="2850" b="1">
                <a:solidFill>
                  <a:srgbClr val="10263B"/>
                </a:solidFill>
              </a:defRPr>
            </a:lvl5pPr>
            <a:lvl6pPr>
              <a:buNone/>
              <a:defRPr sz="2850" b="1">
                <a:solidFill>
                  <a:srgbClr val="10263B"/>
                </a:solidFill>
              </a:defRPr>
            </a:lvl6pPr>
            <a:lvl7pPr>
              <a:buNone/>
              <a:defRPr sz="2850" b="1">
                <a:solidFill>
                  <a:srgbClr val="10263B"/>
                </a:solidFill>
              </a:defRPr>
            </a:lvl7pPr>
            <a:lvl8pPr>
              <a:buNone/>
              <a:defRPr sz="2850" b="1">
                <a:solidFill>
                  <a:srgbClr val="10263B"/>
                </a:solidFill>
              </a:defRPr>
            </a:lvl8pPr>
            <a:lvl9pPr>
              <a:buNone/>
              <a:defRPr sz="2850" b="1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2850" b="1">
                <a:solidFill>
                  <a:srgbClr val="10263B"/>
                </a:solidFill>
              </a:defRPr>
            </a:pPr>
            <a:r>
              <a:rPr sz="2850" b="1">
                <a:solidFill>
                  <a:srgbClr val="10263B"/>
                </a:solidFill>
              </a:rPr>
              <a:t>PanDerm Large: model comparison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116AEF-CC09-4704-A88F-A0CA56851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381125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0263B"/>
                </a:solidFill>
              </a:defRPr>
            </a:defPPr>
            <a:lvl1pPr>
              <a:buNone/>
              <a:defRPr sz="1875" b="0">
                <a:solidFill>
                  <a:srgbClr val="10263B"/>
                </a:solidFill>
              </a:defRPr>
            </a:lvl1pPr>
            <a:lvl2pPr>
              <a:buNone/>
              <a:defRPr sz="1875" b="0">
                <a:solidFill>
                  <a:srgbClr val="10263B"/>
                </a:solidFill>
              </a:defRPr>
            </a:lvl2pPr>
            <a:lvl3pPr>
              <a:buNone/>
              <a:defRPr sz="1875" b="0">
                <a:solidFill>
                  <a:srgbClr val="10263B"/>
                </a:solidFill>
              </a:defRPr>
            </a:lvl3pPr>
            <a:lvl4pPr>
              <a:buNone/>
              <a:defRPr sz="1875" b="0">
                <a:solidFill>
                  <a:srgbClr val="10263B"/>
                </a:solidFill>
              </a:defRPr>
            </a:lvl4pPr>
            <a:lvl5pPr>
              <a:buNone/>
              <a:defRPr sz="1875" b="0">
                <a:solidFill>
                  <a:srgbClr val="10263B"/>
                </a:solidFill>
              </a:defRPr>
            </a:lvl5pPr>
            <a:lvl6pPr>
              <a:buNone/>
              <a:defRPr sz="1875" b="0">
                <a:solidFill>
                  <a:srgbClr val="10263B"/>
                </a:solidFill>
              </a:defRPr>
            </a:lvl6pPr>
            <a:lvl7pPr>
              <a:buNone/>
              <a:defRPr sz="1875" b="0">
                <a:solidFill>
                  <a:srgbClr val="10263B"/>
                </a:solidFill>
              </a:defRPr>
            </a:lvl7pPr>
            <a:lvl8pPr>
              <a:buNone/>
              <a:defRPr sz="1875" b="0">
                <a:solidFill>
                  <a:srgbClr val="10263B"/>
                </a:solidFill>
              </a:defRPr>
            </a:lvl8pPr>
            <a:lvl9pPr>
              <a:buNone/>
              <a:defRPr sz="1875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0263B"/>
                </a:solidFill>
              </a:defRPr>
            </a:pPr>
            <a:r>
              <a:rPr sz="1875" b="0">
                <a:solidFill>
                  <a:srgbClr val="10263B"/>
                </a:solidFill>
              </a:rPr>
              <a:t>Author-style probe: 80.98% macro F1 on the released HAM test.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2F6224-C6EC-40D6-A603-3E9F45CF2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71700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0263B"/>
                </a:solidFill>
              </a:defRPr>
            </a:defPPr>
            <a:lvl1pPr>
              <a:buNone/>
              <a:defRPr sz="1875" b="0">
                <a:solidFill>
                  <a:srgbClr val="10263B"/>
                </a:solidFill>
              </a:defRPr>
            </a:lvl1pPr>
            <a:lvl2pPr>
              <a:buNone/>
              <a:defRPr sz="1875" b="0">
                <a:solidFill>
                  <a:srgbClr val="10263B"/>
                </a:solidFill>
              </a:defRPr>
            </a:lvl2pPr>
            <a:lvl3pPr>
              <a:buNone/>
              <a:defRPr sz="1875" b="0">
                <a:solidFill>
                  <a:srgbClr val="10263B"/>
                </a:solidFill>
              </a:defRPr>
            </a:lvl3pPr>
            <a:lvl4pPr>
              <a:buNone/>
              <a:defRPr sz="1875" b="0">
                <a:solidFill>
                  <a:srgbClr val="10263B"/>
                </a:solidFill>
              </a:defRPr>
            </a:lvl4pPr>
            <a:lvl5pPr>
              <a:buNone/>
              <a:defRPr sz="1875" b="0">
                <a:solidFill>
                  <a:srgbClr val="10263B"/>
                </a:solidFill>
              </a:defRPr>
            </a:lvl5pPr>
            <a:lvl6pPr>
              <a:buNone/>
              <a:defRPr sz="1875" b="0">
                <a:solidFill>
                  <a:srgbClr val="10263B"/>
                </a:solidFill>
              </a:defRPr>
            </a:lvl6pPr>
            <a:lvl7pPr>
              <a:buNone/>
              <a:defRPr sz="1875" b="0">
                <a:solidFill>
                  <a:srgbClr val="10263B"/>
                </a:solidFill>
              </a:defRPr>
            </a:lvl7pPr>
            <a:lvl8pPr>
              <a:buNone/>
              <a:defRPr sz="1875" b="0">
                <a:solidFill>
                  <a:srgbClr val="10263B"/>
                </a:solidFill>
              </a:defRPr>
            </a:lvl8pPr>
            <a:lvl9pPr>
              <a:buNone/>
              <a:defRPr sz="1875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0263B"/>
                </a:solidFill>
              </a:defRPr>
            </a:pPr>
            <a:r>
              <a:rPr sz="1875" b="0">
                <a:solidFill>
                  <a:srgbClr val="10263B"/>
                </a:solidFill>
              </a:rPr>
              <a:t>Smaller neural head (192–64): 81.73% macro F1 on the same test.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C8168E-76E0-4924-925A-AED964D52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962275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0263B"/>
                </a:solidFill>
              </a:defRPr>
            </a:defPPr>
            <a:lvl1pPr>
              <a:buNone/>
              <a:defRPr sz="1875" b="0">
                <a:solidFill>
                  <a:srgbClr val="10263B"/>
                </a:solidFill>
              </a:defRPr>
            </a:lvl1pPr>
            <a:lvl2pPr>
              <a:buNone/>
              <a:defRPr sz="1875" b="0">
                <a:solidFill>
                  <a:srgbClr val="10263B"/>
                </a:solidFill>
              </a:defRPr>
            </a:lvl2pPr>
            <a:lvl3pPr>
              <a:buNone/>
              <a:defRPr sz="1875" b="0">
                <a:solidFill>
                  <a:srgbClr val="10263B"/>
                </a:solidFill>
              </a:defRPr>
            </a:lvl3pPr>
            <a:lvl4pPr>
              <a:buNone/>
              <a:defRPr sz="1875" b="0">
                <a:solidFill>
                  <a:srgbClr val="10263B"/>
                </a:solidFill>
              </a:defRPr>
            </a:lvl4pPr>
            <a:lvl5pPr>
              <a:buNone/>
              <a:defRPr sz="1875" b="0">
                <a:solidFill>
                  <a:srgbClr val="10263B"/>
                </a:solidFill>
              </a:defRPr>
            </a:lvl5pPr>
            <a:lvl6pPr>
              <a:buNone/>
              <a:defRPr sz="1875" b="0">
                <a:solidFill>
                  <a:srgbClr val="10263B"/>
                </a:solidFill>
              </a:defRPr>
            </a:lvl6pPr>
            <a:lvl7pPr>
              <a:buNone/>
              <a:defRPr sz="1875" b="0">
                <a:solidFill>
                  <a:srgbClr val="10263B"/>
                </a:solidFill>
              </a:defRPr>
            </a:lvl7pPr>
            <a:lvl8pPr>
              <a:buNone/>
              <a:defRPr sz="1875" b="0">
                <a:solidFill>
                  <a:srgbClr val="10263B"/>
                </a:solidFill>
              </a:defRPr>
            </a:lvl8pPr>
            <a:lvl9pPr>
              <a:buNone/>
              <a:defRPr sz="1875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0263B"/>
                </a:solidFill>
              </a:defRPr>
            </a:pPr>
            <a:r>
              <a:rPr sz="1875" b="0">
                <a:solidFill>
                  <a:srgbClr val="10263B"/>
                </a:solidFill>
              </a:rPr>
              <a:t>Linear head led the shown Large models on official-test macro F1: 73.80%.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1AAFE0-C019-4570-AA80-8B8A838AB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752850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0263B"/>
                </a:solidFill>
              </a:defRPr>
            </a:defPPr>
            <a:lvl1pPr>
              <a:buNone/>
              <a:defRPr sz="1875" b="0">
                <a:solidFill>
                  <a:srgbClr val="10263B"/>
                </a:solidFill>
              </a:defRPr>
            </a:lvl1pPr>
            <a:lvl2pPr>
              <a:buNone/>
              <a:defRPr sz="1875" b="0">
                <a:solidFill>
                  <a:srgbClr val="10263B"/>
                </a:solidFill>
              </a:defRPr>
            </a:lvl2pPr>
            <a:lvl3pPr>
              <a:buNone/>
              <a:defRPr sz="1875" b="0">
                <a:solidFill>
                  <a:srgbClr val="10263B"/>
                </a:solidFill>
              </a:defRPr>
            </a:lvl3pPr>
            <a:lvl4pPr>
              <a:buNone/>
              <a:defRPr sz="1875" b="0">
                <a:solidFill>
                  <a:srgbClr val="10263B"/>
                </a:solidFill>
              </a:defRPr>
            </a:lvl4pPr>
            <a:lvl5pPr>
              <a:buNone/>
              <a:defRPr sz="1875" b="0">
                <a:solidFill>
                  <a:srgbClr val="10263B"/>
                </a:solidFill>
              </a:defRPr>
            </a:lvl5pPr>
            <a:lvl6pPr>
              <a:buNone/>
              <a:defRPr sz="1875" b="0">
                <a:solidFill>
                  <a:srgbClr val="10263B"/>
                </a:solidFill>
              </a:defRPr>
            </a:lvl6pPr>
            <a:lvl7pPr>
              <a:buNone/>
              <a:defRPr sz="1875" b="0">
                <a:solidFill>
                  <a:srgbClr val="10263B"/>
                </a:solidFill>
              </a:defRPr>
            </a:lvl7pPr>
            <a:lvl8pPr>
              <a:buNone/>
              <a:defRPr sz="1875" b="0">
                <a:solidFill>
                  <a:srgbClr val="10263B"/>
                </a:solidFill>
              </a:defRPr>
            </a:lvl8pPr>
            <a:lvl9pPr>
              <a:buNone/>
              <a:defRPr sz="1875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0263B"/>
                </a:solidFill>
              </a:defRPr>
            </a:pPr>
            <a:r>
              <a:rPr sz="1875" b="0">
                <a:solidFill>
                  <a:srgbClr val="10263B"/>
                </a:solidFill>
              </a:rPr>
              <a:t>Wider or more complex heads did not consistently improve every test set.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29D8B4-67E5-49A0-A8F4-CA4C56862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4B6070"/>
                </a:solidFill>
              </a:defRPr>
            </a:defPPr>
            <a:lvl1pPr>
              <a:buNone/>
              <a:defRPr sz="1050" b="0">
                <a:solidFill>
                  <a:srgbClr val="4B6070"/>
                </a:solidFill>
              </a:defRPr>
            </a:lvl1pPr>
            <a:lvl2pPr>
              <a:buNone/>
              <a:defRPr sz="1050" b="0">
                <a:solidFill>
                  <a:srgbClr val="4B6070"/>
                </a:solidFill>
              </a:defRPr>
            </a:lvl2pPr>
            <a:lvl3pPr>
              <a:buNone/>
              <a:defRPr sz="1050" b="0">
                <a:solidFill>
                  <a:srgbClr val="4B6070"/>
                </a:solidFill>
              </a:defRPr>
            </a:lvl3pPr>
            <a:lvl4pPr>
              <a:buNone/>
              <a:defRPr sz="1050" b="0">
                <a:solidFill>
                  <a:srgbClr val="4B6070"/>
                </a:solidFill>
              </a:defRPr>
            </a:lvl4pPr>
            <a:lvl5pPr>
              <a:buNone/>
              <a:defRPr sz="1050" b="0">
                <a:solidFill>
                  <a:srgbClr val="4B6070"/>
                </a:solidFill>
              </a:defRPr>
            </a:lvl5pPr>
            <a:lvl6pPr>
              <a:buNone/>
              <a:defRPr sz="1050" b="0">
                <a:solidFill>
                  <a:srgbClr val="4B6070"/>
                </a:solidFill>
              </a:defRPr>
            </a:lvl6pPr>
            <a:lvl7pPr>
              <a:buNone/>
              <a:defRPr sz="1050" b="0">
                <a:solidFill>
                  <a:srgbClr val="4B6070"/>
                </a:solidFill>
              </a:defRPr>
            </a:lvl7pPr>
            <a:lvl8pPr>
              <a:buNone/>
              <a:defRPr sz="1050" b="0">
                <a:solidFill>
                  <a:srgbClr val="4B6070"/>
                </a:solidFill>
              </a:defRPr>
            </a:lvl8pPr>
            <a:lvl9pPr>
              <a:buNone/>
              <a:defRPr sz="1050" b="0">
                <a:solidFill>
                  <a:srgbClr val="4B6070"/>
                </a:solidFill>
              </a:defRPr>
            </a:lvl9pPr>
          </a:lstStyle>
          <a:p xmlns:a="http://schemas.openxmlformats.org/drawingml/2006/main">
            <a:pPr>
              <a:buNone/>
              <a:defRPr sz="1050" b="0">
                <a:solidFill>
                  <a:srgbClr val="4B6070"/>
                </a:solidFill>
              </a:defRPr>
            </a:pPr>
            <a:r>
              <a:rPr sz="1050" b="0">
                <a:solidFill>
                  <a:srgbClr val="4B6070"/>
                </a:solidFill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261817512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3F5430-EB38-4306-8CE0-73326CA0D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0263B"/>
                </a:solidFill>
              </a:defRPr>
            </a:defPPr>
            <a:lvl1pPr>
              <a:buNone/>
              <a:defRPr sz="2850" b="1">
                <a:solidFill>
                  <a:srgbClr val="10263B"/>
                </a:solidFill>
              </a:defRPr>
            </a:lvl1pPr>
            <a:lvl2pPr>
              <a:buNone/>
              <a:defRPr sz="2850" b="1">
                <a:solidFill>
                  <a:srgbClr val="10263B"/>
                </a:solidFill>
              </a:defRPr>
            </a:lvl2pPr>
            <a:lvl3pPr>
              <a:buNone/>
              <a:defRPr sz="2850" b="1">
                <a:solidFill>
                  <a:srgbClr val="10263B"/>
                </a:solidFill>
              </a:defRPr>
            </a:lvl3pPr>
            <a:lvl4pPr>
              <a:buNone/>
              <a:defRPr sz="2850" b="1">
                <a:solidFill>
                  <a:srgbClr val="10263B"/>
                </a:solidFill>
              </a:defRPr>
            </a:lvl4pPr>
            <a:lvl5pPr>
              <a:buNone/>
              <a:defRPr sz="2850" b="1">
                <a:solidFill>
                  <a:srgbClr val="10263B"/>
                </a:solidFill>
              </a:defRPr>
            </a:lvl5pPr>
            <a:lvl6pPr>
              <a:buNone/>
              <a:defRPr sz="2850" b="1">
                <a:solidFill>
                  <a:srgbClr val="10263B"/>
                </a:solidFill>
              </a:defRPr>
            </a:lvl6pPr>
            <a:lvl7pPr>
              <a:buNone/>
              <a:defRPr sz="2850" b="1">
                <a:solidFill>
                  <a:srgbClr val="10263B"/>
                </a:solidFill>
              </a:defRPr>
            </a:lvl7pPr>
            <a:lvl8pPr>
              <a:buNone/>
              <a:defRPr sz="2850" b="1">
                <a:solidFill>
                  <a:srgbClr val="10263B"/>
                </a:solidFill>
              </a:defRPr>
            </a:lvl8pPr>
            <a:lvl9pPr>
              <a:buNone/>
              <a:defRPr sz="2850" b="1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2850" b="1">
                <a:solidFill>
                  <a:srgbClr val="10263B"/>
                </a:solidFill>
              </a:defRPr>
            </a:pPr>
            <a:r>
              <a:rPr sz="2850" b="1">
                <a:solidFill>
                  <a:srgbClr val="10263B"/>
                </a:solidFill>
              </a:rPr>
              <a:t>Privacy-preserving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18E906-2AEB-41E1-B4E4-203D51748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381125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0263B"/>
                </a:solidFill>
              </a:defRPr>
            </a:defPPr>
            <a:lvl1pPr>
              <a:buNone/>
              <a:defRPr sz="1875" b="0">
                <a:solidFill>
                  <a:srgbClr val="10263B"/>
                </a:solidFill>
              </a:defRPr>
            </a:lvl1pPr>
            <a:lvl2pPr>
              <a:buNone/>
              <a:defRPr sz="1875" b="0">
                <a:solidFill>
                  <a:srgbClr val="10263B"/>
                </a:solidFill>
              </a:defRPr>
            </a:lvl2pPr>
            <a:lvl3pPr>
              <a:buNone/>
              <a:defRPr sz="1875" b="0">
                <a:solidFill>
                  <a:srgbClr val="10263B"/>
                </a:solidFill>
              </a:defRPr>
            </a:lvl3pPr>
            <a:lvl4pPr>
              <a:buNone/>
              <a:defRPr sz="1875" b="0">
                <a:solidFill>
                  <a:srgbClr val="10263B"/>
                </a:solidFill>
              </a:defRPr>
            </a:lvl4pPr>
            <a:lvl5pPr>
              <a:buNone/>
              <a:defRPr sz="1875" b="0">
                <a:solidFill>
                  <a:srgbClr val="10263B"/>
                </a:solidFill>
              </a:defRPr>
            </a:lvl5pPr>
            <a:lvl6pPr>
              <a:buNone/>
              <a:defRPr sz="1875" b="0">
                <a:solidFill>
                  <a:srgbClr val="10263B"/>
                </a:solidFill>
              </a:defRPr>
            </a:lvl6pPr>
            <a:lvl7pPr>
              <a:buNone/>
              <a:defRPr sz="1875" b="0">
                <a:solidFill>
                  <a:srgbClr val="10263B"/>
                </a:solidFill>
              </a:defRPr>
            </a:lvl7pPr>
            <a:lvl8pPr>
              <a:buNone/>
              <a:defRPr sz="1875" b="0">
                <a:solidFill>
                  <a:srgbClr val="10263B"/>
                </a:solidFill>
              </a:defRPr>
            </a:lvl8pPr>
            <a:lvl9pPr>
              <a:buNone/>
              <a:defRPr sz="1875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0263B"/>
                </a:solidFill>
              </a:defRPr>
            </a:pPr>
            <a:r>
              <a:rPr sz="1875" b="0">
                <a:solidFill>
                  <a:srgbClr val="10263B"/>
                </a:solidFill>
              </a:rPr>
              <a:t>The federated prototype simulates separate clients that train locally.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AD7066-A3D9-475C-BA7B-DC7F5F363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71700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0263B"/>
                </a:solidFill>
              </a:defRPr>
            </a:defPPr>
            <a:lvl1pPr>
              <a:buNone/>
              <a:defRPr sz="1875" b="0">
                <a:solidFill>
                  <a:srgbClr val="10263B"/>
                </a:solidFill>
              </a:defRPr>
            </a:lvl1pPr>
            <a:lvl2pPr>
              <a:buNone/>
              <a:defRPr sz="1875" b="0">
                <a:solidFill>
                  <a:srgbClr val="10263B"/>
                </a:solidFill>
              </a:defRPr>
            </a:lvl2pPr>
            <a:lvl3pPr>
              <a:buNone/>
              <a:defRPr sz="1875" b="0">
                <a:solidFill>
                  <a:srgbClr val="10263B"/>
                </a:solidFill>
              </a:defRPr>
            </a:lvl3pPr>
            <a:lvl4pPr>
              <a:buNone/>
              <a:defRPr sz="1875" b="0">
                <a:solidFill>
                  <a:srgbClr val="10263B"/>
                </a:solidFill>
              </a:defRPr>
            </a:lvl4pPr>
            <a:lvl5pPr>
              <a:buNone/>
              <a:defRPr sz="1875" b="0">
                <a:solidFill>
                  <a:srgbClr val="10263B"/>
                </a:solidFill>
              </a:defRPr>
            </a:lvl5pPr>
            <a:lvl6pPr>
              <a:buNone/>
              <a:defRPr sz="1875" b="0">
                <a:solidFill>
                  <a:srgbClr val="10263B"/>
                </a:solidFill>
              </a:defRPr>
            </a:lvl6pPr>
            <a:lvl7pPr>
              <a:buNone/>
              <a:defRPr sz="1875" b="0">
                <a:solidFill>
                  <a:srgbClr val="10263B"/>
                </a:solidFill>
              </a:defRPr>
            </a:lvl7pPr>
            <a:lvl8pPr>
              <a:buNone/>
              <a:defRPr sz="1875" b="0">
                <a:solidFill>
                  <a:srgbClr val="10263B"/>
                </a:solidFill>
              </a:defRPr>
            </a:lvl8pPr>
            <a:lvl9pPr>
              <a:buNone/>
              <a:defRPr sz="1875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0263B"/>
                </a:solidFill>
              </a:defRPr>
            </a:pPr>
            <a:r>
              <a:rPr sz="1875" b="0">
                <a:solidFill>
                  <a:srgbClr val="10263B"/>
                </a:solidFill>
              </a:rPr>
              <a:t>A server combines model updates into a shared model using FedAvg or FedProx.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BAB98F-F728-46B2-A886-9D37B417A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962275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0263B"/>
                </a:solidFill>
              </a:defRPr>
            </a:defPPr>
            <a:lvl1pPr>
              <a:buNone/>
              <a:defRPr sz="1875" b="0">
                <a:solidFill>
                  <a:srgbClr val="10263B"/>
                </a:solidFill>
              </a:defRPr>
            </a:lvl1pPr>
            <a:lvl2pPr>
              <a:buNone/>
              <a:defRPr sz="1875" b="0">
                <a:solidFill>
                  <a:srgbClr val="10263B"/>
                </a:solidFill>
              </a:defRPr>
            </a:lvl2pPr>
            <a:lvl3pPr>
              <a:buNone/>
              <a:defRPr sz="1875" b="0">
                <a:solidFill>
                  <a:srgbClr val="10263B"/>
                </a:solidFill>
              </a:defRPr>
            </a:lvl3pPr>
            <a:lvl4pPr>
              <a:buNone/>
              <a:defRPr sz="1875" b="0">
                <a:solidFill>
                  <a:srgbClr val="10263B"/>
                </a:solidFill>
              </a:defRPr>
            </a:lvl4pPr>
            <a:lvl5pPr>
              <a:buNone/>
              <a:defRPr sz="1875" b="0">
                <a:solidFill>
                  <a:srgbClr val="10263B"/>
                </a:solidFill>
              </a:defRPr>
            </a:lvl5pPr>
            <a:lvl6pPr>
              <a:buNone/>
              <a:defRPr sz="1875" b="0">
                <a:solidFill>
                  <a:srgbClr val="10263B"/>
                </a:solidFill>
              </a:defRPr>
            </a:lvl6pPr>
            <a:lvl7pPr>
              <a:buNone/>
              <a:defRPr sz="1875" b="0">
                <a:solidFill>
                  <a:srgbClr val="10263B"/>
                </a:solidFill>
              </a:defRPr>
            </a:lvl7pPr>
            <a:lvl8pPr>
              <a:buNone/>
              <a:defRPr sz="1875" b="0">
                <a:solidFill>
                  <a:srgbClr val="10263B"/>
                </a:solidFill>
              </a:defRPr>
            </a:lvl8pPr>
            <a:lvl9pPr>
              <a:buNone/>
              <a:defRPr sz="1875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0263B"/>
                </a:solidFill>
              </a:defRPr>
            </a:pPr>
            <a:r>
              <a:rPr sz="1875" b="0">
                <a:solidFill>
                  <a:srgbClr val="10263B"/>
                </a:solidFill>
              </a:rPr>
              <a:t>Optional differential privacy adds noise during local training.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ED0045-6DF2-4FE9-98C4-C17DCA3A4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752850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0263B"/>
                </a:solidFill>
              </a:defRPr>
            </a:defPPr>
            <a:lvl1pPr>
              <a:buNone/>
              <a:defRPr sz="1875" b="0">
                <a:solidFill>
                  <a:srgbClr val="10263B"/>
                </a:solidFill>
              </a:defRPr>
            </a:lvl1pPr>
            <a:lvl2pPr>
              <a:buNone/>
              <a:defRPr sz="1875" b="0">
                <a:solidFill>
                  <a:srgbClr val="10263B"/>
                </a:solidFill>
              </a:defRPr>
            </a:lvl2pPr>
            <a:lvl3pPr>
              <a:buNone/>
              <a:defRPr sz="1875" b="0">
                <a:solidFill>
                  <a:srgbClr val="10263B"/>
                </a:solidFill>
              </a:defRPr>
            </a:lvl3pPr>
            <a:lvl4pPr>
              <a:buNone/>
              <a:defRPr sz="1875" b="0">
                <a:solidFill>
                  <a:srgbClr val="10263B"/>
                </a:solidFill>
              </a:defRPr>
            </a:lvl4pPr>
            <a:lvl5pPr>
              <a:buNone/>
              <a:defRPr sz="1875" b="0">
                <a:solidFill>
                  <a:srgbClr val="10263B"/>
                </a:solidFill>
              </a:defRPr>
            </a:lvl5pPr>
            <a:lvl6pPr>
              <a:buNone/>
              <a:defRPr sz="1875" b="0">
                <a:solidFill>
                  <a:srgbClr val="10263B"/>
                </a:solidFill>
              </a:defRPr>
            </a:lvl6pPr>
            <a:lvl7pPr>
              <a:buNone/>
              <a:defRPr sz="1875" b="0">
                <a:solidFill>
                  <a:srgbClr val="10263B"/>
                </a:solidFill>
              </a:defRPr>
            </a:lvl7pPr>
            <a:lvl8pPr>
              <a:buNone/>
              <a:defRPr sz="1875" b="0">
                <a:solidFill>
                  <a:srgbClr val="10263B"/>
                </a:solidFill>
              </a:defRPr>
            </a:lvl8pPr>
            <a:lvl9pPr>
              <a:buNone/>
              <a:defRPr sz="1875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0263B"/>
                </a:solidFill>
              </a:defRPr>
            </a:pPr>
            <a:r>
              <a:rPr sz="1875" b="0">
                <a:solidFill>
                  <a:srgbClr val="10263B"/>
                </a:solidFill>
              </a:rPr>
              <a:t>The feature-model results shown here are centralized and do not claim DP.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2117A3-E93E-49A7-8625-785B3B315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4B6070"/>
                </a:solidFill>
              </a:defRPr>
            </a:defPPr>
            <a:lvl1pPr>
              <a:buNone/>
              <a:defRPr sz="1050" b="0">
                <a:solidFill>
                  <a:srgbClr val="4B6070"/>
                </a:solidFill>
              </a:defRPr>
            </a:lvl1pPr>
            <a:lvl2pPr>
              <a:buNone/>
              <a:defRPr sz="1050" b="0">
                <a:solidFill>
                  <a:srgbClr val="4B6070"/>
                </a:solidFill>
              </a:defRPr>
            </a:lvl2pPr>
            <a:lvl3pPr>
              <a:buNone/>
              <a:defRPr sz="1050" b="0">
                <a:solidFill>
                  <a:srgbClr val="4B6070"/>
                </a:solidFill>
              </a:defRPr>
            </a:lvl3pPr>
            <a:lvl4pPr>
              <a:buNone/>
              <a:defRPr sz="1050" b="0">
                <a:solidFill>
                  <a:srgbClr val="4B6070"/>
                </a:solidFill>
              </a:defRPr>
            </a:lvl4pPr>
            <a:lvl5pPr>
              <a:buNone/>
              <a:defRPr sz="1050" b="0">
                <a:solidFill>
                  <a:srgbClr val="4B6070"/>
                </a:solidFill>
              </a:defRPr>
            </a:lvl5pPr>
            <a:lvl6pPr>
              <a:buNone/>
              <a:defRPr sz="1050" b="0">
                <a:solidFill>
                  <a:srgbClr val="4B6070"/>
                </a:solidFill>
              </a:defRPr>
            </a:lvl6pPr>
            <a:lvl7pPr>
              <a:buNone/>
              <a:defRPr sz="1050" b="0">
                <a:solidFill>
                  <a:srgbClr val="4B6070"/>
                </a:solidFill>
              </a:defRPr>
            </a:lvl7pPr>
            <a:lvl8pPr>
              <a:buNone/>
              <a:defRPr sz="1050" b="0">
                <a:solidFill>
                  <a:srgbClr val="4B6070"/>
                </a:solidFill>
              </a:defRPr>
            </a:lvl8pPr>
            <a:lvl9pPr>
              <a:buNone/>
              <a:defRPr sz="1050" b="0">
                <a:solidFill>
                  <a:srgbClr val="4B6070"/>
                </a:solidFill>
              </a:defRPr>
            </a:lvl9pPr>
          </a:lstStyle>
          <a:p xmlns:a="http://schemas.openxmlformats.org/drawingml/2006/main">
            <a:pPr>
              <a:buNone/>
              <a:defRPr sz="1050" b="0">
                <a:solidFill>
                  <a:srgbClr val="4B6070"/>
                </a:solidFill>
              </a:defRPr>
            </a:pPr>
            <a:r>
              <a:rPr sz="1050" b="0">
                <a:solidFill>
                  <a:srgbClr val="4B6070"/>
                </a:solidFill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939487214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33C59C-3C79-4B83-B82D-542067886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0263B"/>
                </a:solidFill>
              </a:defRPr>
            </a:defPPr>
            <a:lvl1pPr>
              <a:buNone/>
              <a:defRPr sz="2850" b="1">
                <a:solidFill>
                  <a:srgbClr val="10263B"/>
                </a:solidFill>
              </a:defRPr>
            </a:lvl1pPr>
            <a:lvl2pPr>
              <a:buNone/>
              <a:defRPr sz="2850" b="1">
                <a:solidFill>
                  <a:srgbClr val="10263B"/>
                </a:solidFill>
              </a:defRPr>
            </a:lvl2pPr>
            <a:lvl3pPr>
              <a:buNone/>
              <a:defRPr sz="2850" b="1">
                <a:solidFill>
                  <a:srgbClr val="10263B"/>
                </a:solidFill>
              </a:defRPr>
            </a:lvl3pPr>
            <a:lvl4pPr>
              <a:buNone/>
              <a:defRPr sz="2850" b="1">
                <a:solidFill>
                  <a:srgbClr val="10263B"/>
                </a:solidFill>
              </a:defRPr>
            </a:lvl4pPr>
            <a:lvl5pPr>
              <a:buNone/>
              <a:defRPr sz="2850" b="1">
                <a:solidFill>
                  <a:srgbClr val="10263B"/>
                </a:solidFill>
              </a:defRPr>
            </a:lvl5pPr>
            <a:lvl6pPr>
              <a:buNone/>
              <a:defRPr sz="2850" b="1">
                <a:solidFill>
                  <a:srgbClr val="10263B"/>
                </a:solidFill>
              </a:defRPr>
            </a:lvl6pPr>
            <a:lvl7pPr>
              <a:buNone/>
              <a:defRPr sz="2850" b="1">
                <a:solidFill>
                  <a:srgbClr val="10263B"/>
                </a:solidFill>
              </a:defRPr>
            </a:lvl7pPr>
            <a:lvl8pPr>
              <a:buNone/>
              <a:defRPr sz="2850" b="1">
                <a:solidFill>
                  <a:srgbClr val="10263B"/>
                </a:solidFill>
              </a:defRPr>
            </a:lvl8pPr>
            <a:lvl9pPr>
              <a:buNone/>
              <a:defRPr sz="2850" b="1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2850" b="1">
                <a:solidFill>
                  <a:srgbClr val="10263B"/>
                </a:solidFill>
              </a:defRPr>
            </a:pPr>
            <a:r>
              <a:rPr sz="2850" b="1">
                <a:solidFill>
                  <a:srgbClr val="10263B"/>
                </a:solidFill>
              </a:rPr>
              <a:t>Federated learning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71C433-D58E-458B-AA7D-45B9C749B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428750"/>
            <a:ext cx="2143125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4F3F2"/>
          </a:solidFill>
          <a:ln xmlns:a="http://schemas.openxmlformats.org/drawingml/2006/main" w="19050">
            <a:solidFill>
              <a:srgbClr val="087F8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75" b="1">
                <a:solidFill>
                  <a:srgbClr val="10263B"/>
                </a:solidFill>
              </a:defRPr>
            </a:defPPr>
            <a:lvl1pPr algn="ctr">
              <a:buNone/>
              <a:defRPr sz="1575" b="1">
                <a:solidFill>
                  <a:srgbClr val="10263B"/>
                </a:solidFill>
              </a:defRPr>
            </a:lvl1pPr>
            <a:lvl2pPr algn="ctr">
              <a:buNone/>
              <a:defRPr sz="1575" b="1">
                <a:solidFill>
                  <a:srgbClr val="10263B"/>
                </a:solidFill>
              </a:defRPr>
            </a:lvl2pPr>
            <a:lvl3pPr algn="ctr">
              <a:buNone/>
              <a:defRPr sz="1575" b="1">
                <a:solidFill>
                  <a:srgbClr val="10263B"/>
                </a:solidFill>
              </a:defRPr>
            </a:lvl3pPr>
            <a:lvl4pPr algn="ctr">
              <a:buNone/>
              <a:defRPr sz="1575" b="1">
                <a:solidFill>
                  <a:srgbClr val="10263B"/>
                </a:solidFill>
              </a:defRPr>
            </a:lvl4pPr>
            <a:lvl5pPr algn="ctr">
              <a:buNone/>
              <a:defRPr sz="1575" b="1">
                <a:solidFill>
                  <a:srgbClr val="10263B"/>
                </a:solidFill>
              </a:defRPr>
            </a:lvl5pPr>
            <a:lvl6pPr algn="ctr">
              <a:buNone/>
              <a:defRPr sz="1575" b="1">
                <a:solidFill>
                  <a:srgbClr val="10263B"/>
                </a:solidFill>
              </a:defRPr>
            </a:lvl6pPr>
            <a:lvl7pPr algn="ctr">
              <a:buNone/>
              <a:defRPr sz="1575" b="1">
                <a:solidFill>
                  <a:srgbClr val="10263B"/>
                </a:solidFill>
              </a:defRPr>
            </a:lvl7pPr>
            <a:lvl8pPr algn="ctr">
              <a:buNone/>
              <a:defRPr sz="1575" b="1">
                <a:solidFill>
                  <a:srgbClr val="10263B"/>
                </a:solidFill>
              </a:defRPr>
            </a:lvl8pPr>
            <a:lvl9pPr algn="ctr">
              <a:buNone/>
              <a:defRPr sz="1575" b="1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 algn="ctr">
              <a:buNone/>
              <a:defRPr sz="1575" b="1">
                <a:solidFill>
                  <a:srgbClr val="10263B"/>
                </a:solidFill>
              </a:defRPr>
            </a:pPr>
            <a:r>
              <a:rPr sz="1575" b="1">
                <a:solidFill>
                  <a:srgbClr val="10263B"/>
                </a:solidFill>
              </a:rPr>
              <a:t>Client 1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0263B"/>
                </a:solidFill>
              </a:defRPr>
            </a:pPr>
            <a:r>
              <a:rPr sz="1575" b="1">
                <a:solidFill>
                  <a:srgbClr val="10263B"/>
                </a:solidFill>
              </a:rPr>
              <a:t>local data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F839D1-B2C0-4CB3-8476-30E151963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571750"/>
            <a:ext cx="2143125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4F3F2"/>
          </a:solidFill>
          <a:ln xmlns:a="http://schemas.openxmlformats.org/drawingml/2006/main" w="19050">
            <a:solidFill>
              <a:srgbClr val="087F8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75" b="1">
                <a:solidFill>
                  <a:srgbClr val="10263B"/>
                </a:solidFill>
              </a:defRPr>
            </a:defPPr>
            <a:lvl1pPr algn="ctr">
              <a:buNone/>
              <a:defRPr sz="1575" b="1">
                <a:solidFill>
                  <a:srgbClr val="10263B"/>
                </a:solidFill>
              </a:defRPr>
            </a:lvl1pPr>
            <a:lvl2pPr algn="ctr">
              <a:buNone/>
              <a:defRPr sz="1575" b="1">
                <a:solidFill>
                  <a:srgbClr val="10263B"/>
                </a:solidFill>
              </a:defRPr>
            </a:lvl2pPr>
            <a:lvl3pPr algn="ctr">
              <a:buNone/>
              <a:defRPr sz="1575" b="1">
                <a:solidFill>
                  <a:srgbClr val="10263B"/>
                </a:solidFill>
              </a:defRPr>
            </a:lvl3pPr>
            <a:lvl4pPr algn="ctr">
              <a:buNone/>
              <a:defRPr sz="1575" b="1">
                <a:solidFill>
                  <a:srgbClr val="10263B"/>
                </a:solidFill>
              </a:defRPr>
            </a:lvl4pPr>
            <a:lvl5pPr algn="ctr">
              <a:buNone/>
              <a:defRPr sz="1575" b="1">
                <a:solidFill>
                  <a:srgbClr val="10263B"/>
                </a:solidFill>
              </a:defRPr>
            </a:lvl5pPr>
            <a:lvl6pPr algn="ctr">
              <a:buNone/>
              <a:defRPr sz="1575" b="1">
                <a:solidFill>
                  <a:srgbClr val="10263B"/>
                </a:solidFill>
              </a:defRPr>
            </a:lvl6pPr>
            <a:lvl7pPr algn="ctr">
              <a:buNone/>
              <a:defRPr sz="1575" b="1">
                <a:solidFill>
                  <a:srgbClr val="10263B"/>
                </a:solidFill>
              </a:defRPr>
            </a:lvl7pPr>
            <a:lvl8pPr algn="ctr">
              <a:buNone/>
              <a:defRPr sz="1575" b="1">
                <a:solidFill>
                  <a:srgbClr val="10263B"/>
                </a:solidFill>
              </a:defRPr>
            </a:lvl8pPr>
            <a:lvl9pPr algn="ctr">
              <a:buNone/>
              <a:defRPr sz="1575" b="1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 algn="ctr">
              <a:buNone/>
              <a:defRPr sz="1575" b="1">
                <a:solidFill>
                  <a:srgbClr val="10263B"/>
                </a:solidFill>
              </a:defRPr>
            </a:pPr>
            <a:r>
              <a:rPr sz="1575" b="1">
                <a:solidFill>
                  <a:srgbClr val="10263B"/>
                </a:solidFill>
              </a:rPr>
              <a:t>Client 2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0263B"/>
                </a:solidFill>
              </a:defRPr>
            </a:pPr>
            <a:r>
              <a:rPr sz="1575" b="1">
                <a:solidFill>
                  <a:srgbClr val="10263B"/>
                </a:solidFill>
              </a:rPr>
              <a:t>local data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6C1E83-B370-4D34-8F54-058FE05FC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714750"/>
            <a:ext cx="2143125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4F3F2"/>
          </a:solidFill>
          <a:ln xmlns:a="http://schemas.openxmlformats.org/drawingml/2006/main" w="19050">
            <a:solidFill>
              <a:srgbClr val="087F8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75" b="1">
                <a:solidFill>
                  <a:srgbClr val="10263B"/>
                </a:solidFill>
              </a:defRPr>
            </a:defPPr>
            <a:lvl1pPr algn="ctr">
              <a:buNone/>
              <a:defRPr sz="1575" b="1">
                <a:solidFill>
                  <a:srgbClr val="10263B"/>
                </a:solidFill>
              </a:defRPr>
            </a:lvl1pPr>
            <a:lvl2pPr algn="ctr">
              <a:buNone/>
              <a:defRPr sz="1575" b="1">
                <a:solidFill>
                  <a:srgbClr val="10263B"/>
                </a:solidFill>
              </a:defRPr>
            </a:lvl2pPr>
            <a:lvl3pPr algn="ctr">
              <a:buNone/>
              <a:defRPr sz="1575" b="1">
                <a:solidFill>
                  <a:srgbClr val="10263B"/>
                </a:solidFill>
              </a:defRPr>
            </a:lvl3pPr>
            <a:lvl4pPr algn="ctr">
              <a:buNone/>
              <a:defRPr sz="1575" b="1">
                <a:solidFill>
                  <a:srgbClr val="10263B"/>
                </a:solidFill>
              </a:defRPr>
            </a:lvl4pPr>
            <a:lvl5pPr algn="ctr">
              <a:buNone/>
              <a:defRPr sz="1575" b="1">
                <a:solidFill>
                  <a:srgbClr val="10263B"/>
                </a:solidFill>
              </a:defRPr>
            </a:lvl5pPr>
            <a:lvl6pPr algn="ctr">
              <a:buNone/>
              <a:defRPr sz="1575" b="1">
                <a:solidFill>
                  <a:srgbClr val="10263B"/>
                </a:solidFill>
              </a:defRPr>
            </a:lvl6pPr>
            <a:lvl7pPr algn="ctr">
              <a:buNone/>
              <a:defRPr sz="1575" b="1">
                <a:solidFill>
                  <a:srgbClr val="10263B"/>
                </a:solidFill>
              </a:defRPr>
            </a:lvl7pPr>
            <a:lvl8pPr algn="ctr">
              <a:buNone/>
              <a:defRPr sz="1575" b="1">
                <a:solidFill>
                  <a:srgbClr val="10263B"/>
                </a:solidFill>
              </a:defRPr>
            </a:lvl8pPr>
            <a:lvl9pPr algn="ctr">
              <a:buNone/>
              <a:defRPr sz="1575" b="1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 algn="ctr">
              <a:buNone/>
              <a:defRPr sz="1575" b="1">
                <a:solidFill>
                  <a:srgbClr val="10263B"/>
                </a:solidFill>
              </a:defRPr>
            </a:pPr>
            <a:r>
              <a:rPr sz="1575" b="1">
                <a:solidFill>
                  <a:srgbClr val="10263B"/>
                </a:solidFill>
              </a:rPr>
              <a:t>Client 3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0263B"/>
                </a:solidFill>
              </a:defRPr>
            </a:pPr>
            <a:r>
              <a:rPr sz="1575" b="1">
                <a:solidFill>
                  <a:srgbClr val="10263B"/>
                </a:solidFill>
              </a:rPr>
              <a:t>local data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32EA86-3DEE-4F7E-B663-94B7B1A67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571750"/>
            <a:ext cx="4762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solidFill>
              <a:srgbClr val="087F8C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F0A2CF-ACAE-4B5E-A19F-31006D0FF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524125"/>
            <a:ext cx="2857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4F3F2"/>
          </a:solidFill>
          <a:ln xmlns:a="http://schemas.openxmlformats.org/drawingml/2006/main" w="19050">
            <a:solidFill>
              <a:srgbClr val="087F8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75" b="1">
                <a:solidFill>
                  <a:srgbClr val="10263B"/>
                </a:solidFill>
              </a:defRPr>
            </a:defPPr>
            <a:lvl1pPr algn="ctr">
              <a:buNone/>
              <a:defRPr sz="1575" b="1">
                <a:solidFill>
                  <a:srgbClr val="10263B"/>
                </a:solidFill>
              </a:defRPr>
            </a:lvl1pPr>
            <a:lvl2pPr algn="ctr">
              <a:buNone/>
              <a:defRPr sz="1575" b="1">
                <a:solidFill>
                  <a:srgbClr val="10263B"/>
                </a:solidFill>
              </a:defRPr>
            </a:lvl2pPr>
            <a:lvl3pPr algn="ctr">
              <a:buNone/>
              <a:defRPr sz="1575" b="1">
                <a:solidFill>
                  <a:srgbClr val="10263B"/>
                </a:solidFill>
              </a:defRPr>
            </a:lvl3pPr>
            <a:lvl4pPr algn="ctr">
              <a:buNone/>
              <a:defRPr sz="1575" b="1">
                <a:solidFill>
                  <a:srgbClr val="10263B"/>
                </a:solidFill>
              </a:defRPr>
            </a:lvl4pPr>
            <a:lvl5pPr algn="ctr">
              <a:buNone/>
              <a:defRPr sz="1575" b="1">
                <a:solidFill>
                  <a:srgbClr val="10263B"/>
                </a:solidFill>
              </a:defRPr>
            </a:lvl5pPr>
            <a:lvl6pPr algn="ctr">
              <a:buNone/>
              <a:defRPr sz="1575" b="1">
                <a:solidFill>
                  <a:srgbClr val="10263B"/>
                </a:solidFill>
              </a:defRPr>
            </a:lvl6pPr>
            <a:lvl7pPr algn="ctr">
              <a:buNone/>
              <a:defRPr sz="1575" b="1">
                <a:solidFill>
                  <a:srgbClr val="10263B"/>
                </a:solidFill>
              </a:defRPr>
            </a:lvl7pPr>
            <a:lvl8pPr algn="ctr">
              <a:buNone/>
              <a:defRPr sz="1575" b="1">
                <a:solidFill>
                  <a:srgbClr val="10263B"/>
                </a:solidFill>
              </a:defRPr>
            </a:lvl8pPr>
            <a:lvl9pPr algn="ctr">
              <a:buNone/>
              <a:defRPr sz="1575" b="1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 algn="ctr">
              <a:buNone/>
              <a:defRPr sz="1575" b="1">
                <a:solidFill>
                  <a:srgbClr val="10263B"/>
                </a:solidFill>
              </a:defRPr>
            </a:pPr>
            <a:r>
              <a:rPr sz="1575" b="1">
                <a:solidFill>
                  <a:srgbClr val="10263B"/>
                </a:solidFill>
              </a:rPr>
              <a:t>Server aggregates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0263B"/>
                </a:solidFill>
              </a:defRPr>
            </a:pPr>
            <a:r>
              <a:rPr sz="1575" b="1">
                <a:solidFill>
                  <a:srgbClr val="10263B"/>
                </a:solidFill>
              </a:rPr>
              <a:t>model updates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B8E103-C135-4A71-802C-62D5E0ED1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857500"/>
            <a:ext cx="4762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solidFill>
              <a:srgbClr val="087F8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5B961E-04B1-477F-91B8-995BCA499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524125"/>
            <a:ext cx="2619375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4F3F2"/>
          </a:solidFill>
          <a:ln xmlns:a="http://schemas.openxmlformats.org/drawingml/2006/main" w="19050">
            <a:solidFill>
              <a:srgbClr val="087F8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75" b="1">
                <a:solidFill>
                  <a:srgbClr val="10263B"/>
                </a:solidFill>
              </a:defRPr>
            </a:defPPr>
            <a:lvl1pPr algn="ctr">
              <a:buNone/>
              <a:defRPr sz="1575" b="1">
                <a:solidFill>
                  <a:srgbClr val="10263B"/>
                </a:solidFill>
              </a:defRPr>
            </a:lvl1pPr>
            <a:lvl2pPr algn="ctr">
              <a:buNone/>
              <a:defRPr sz="1575" b="1">
                <a:solidFill>
                  <a:srgbClr val="10263B"/>
                </a:solidFill>
              </a:defRPr>
            </a:lvl2pPr>
            <a:lvl3pPr algn="ctr">
              <a:buNone/>
              <a:defRPr sz="1575" b="1">
                <a:solidFill>
                  <a:srgbClr val="10263B"/>
                </a:solidFill>
              </a:defRPr>
            </a:lvl3pPr>
            <a:lvl4pPr algn="ctr">
              <a:buNone/>
              <a:defRPr sz="1575" b="1">
                <a:solidFill>
                  <a:srgbClr val="10263B"/>
                </a:solidFill>
              </a:defRPr>
            </a:lvl4pPr>
            <a:lvl5pPr algn="ctr">
              <a:buNone/>
              <a:defRPr sz="1575" b="1">
                <a:solidFill>
                  <a:srgbClr val="10263B"/>
                </a:solidFill>
              </a:defRPr>
            </a:lvl5pPr>
            <a:lvl6pPr algn="ctr">
              <a:buNone/>
              <a:defRPr sz="1575" b="1">
                <a:solidFill>
                  <a:srgbClr val="10263B"/>
                </a:solidFill>
              </a:defRPr>
            </a:lvl6pPr>
            <a:lvl7pPr algn="ctr">
              <a:buNone/>
              <a:defRPr sz="1575" b="1">
                <a:solidFill>
                  <a:srgbClr val="10263B"/>
                </a:solidFill>
              </a:defRPr>
            </a:lvl7pPr>
            <a:lvl8pPr algn="ctr">
              <a:buNone/>
              <a:defRPr sz="1575" b="1">
                <a:solidFill>
                  <a:srgbClr val="10263B"/>
                </a:solidFill>
              </a:defRPr>
            </a:lvl8pPr>
            <a:lvl9pPr algn="ctr">
              <a:buNone/>
              <a:defRPr sz="1575" b="1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 algn="ctr">
              <a:buNone/>
              <a:defRPr sz="1575" b="1">
                <a:solidFill>
                  <a:srgbClr val="10263B"/>
                </a:solidFill>
              </a:defRPr>
            </a:pPr>
            <a:r>
              <a:rPr sz="1575" b="1">
                <a:solidFill>
                  <a:srgbClr val="10263B"/>
                </a:solidFill>
              </a:rPr>
              <a:t>Shared global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0263B"/>
                </a:solidFill>
              </a:defRPr>
            </a:pPr>
            <a:r>
              <a:rPr sz="1575" b="1">
                <a:solidFill>
                  <a:srgbClr val="10263B"/>
                </a:solidFill>
              </a:rPr>
              <a:t>model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B7EED6-C957-44E3-859A-5F0184750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04825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0263B"/>
                </a:solidFill>
              </a:defRPr>
            </a:defPPr>
            <a:lvl1pPr>
              <a:buNone/>
              <a:defRPr sz="1800" b="1">
                <a:solidFill>
                  <a:srgbClr val="10263B"/>
                </a:solidFill>
              </a:defRPr>
            </a:lvl1pPr>
            <a:lvl2pPr>
              <a:buNone/>
              <a:defRPr sz="1800" b="1">
                <a:solidFill>
                  <a:srgbClr val="10263B"/>
                </a:solidFill>
              </a:defRPr>
            </a:lvl2pPr>
            <a:lvl3pPr>
              <a:buNone/>
              <a:defRPr sz="1800" b="1">
                <a:solidFill>
                  <a:srgbClr val="10263B"/>
                </a:solidFill>
              </a:defRPr>
            </a:lvl3pPr>
            <a:lvl4pPr>
              <a:buNone/>
              <a:defRPr sz="1800" b="1">
                <a:solidFill>
                  <a:srgbClr val="10263B"/>
                </a:solidFill>
              </a:defRPr>
            </a:lvl4pPr>
            <a:lvl5pPr>
              <a:buNone/>
              <a:defRPr sz="1800" b="1">
                <a:solidFill>
                  <a:srgbClr val="10263B"/>
                </a:solidFill>
              </a:defRPr>
            </a:lvl5pPr>
            <a:lvl6pPr>
              <a:buNone/>
              <a:defRPr sz="1800" b="1">
                <a:solidFill>
                  <a:srgbClr val="10263B"/>
                </a:solidFill>
              </a:defRPr>
            </a:lvl6pPr>
            <a:lvl7pPr>
              <a:buNone/>
              <a:defRPr sz="1800" b="1">
                <a:solidFill>
                  <a:srgbClr val="10263B"/>
                </a:solidFill>
              </a:defRPr>
            </a:lvl7pPr>
            <a:lvl8pPr>
              <a:buNone/>
              <a:defRPr sz="1800" b="1">
                <a:solidFill>
                  <a:srgbClr val="10263B"/>
                </a:solidFill>
              </a:defRPr>
            </a:lvl8pPr>
            <a:lvl9pPr>
              <a:buNone/>
              <a:defRPr sz="1800" b="1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1800" b="1">
                <a:solidFill>
                  <a:srgbClr val="10263B"/>
                </a:solidFill>
              </a:defRPr>
            </a:pPr>
            <a:r>
              <a:rPr sz="1800" b="1">
                <a:solidFill>
                  <a:srgbClr val="10263B"/>
                </a:solidFill>
              </a:rPr>
              <a:t>Clients train locally, then send model updates for aggregation.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369B07-E966-4B3B-8B0C-BA9FF4BF3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572125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0263B"/>
                </a:solidFill>
              </a:defRPr>
            </a:defPPr>
            <a:lvl1pPr>
              <a:buNone/>
              <a:defRPr sz="1650" b="0">
                <a:solidFill>
                  <a:srgbClr val="10263B"/>
                </a:solidFill>
              </a:defRPr>
            </a:lvl1pPr>
            <a:lvl2pPr>
              <a:buNone/>
              <a:defRPr sz="1650" b="0">
                <a:solidFill>
                  <a:srgbClr val="10263B"/>
                </a:solidFill>
              </a:defRPr>
            </a:lvl2pPr>
            <a:lvl3pPr>
              <a:buNone/>
              <a:defRPr sz="1650" b="0">
                <a:solidFill>
                  <a:srgbClr val="10263B"/>
                </a:solidFill>
              </a:defRPr>
            </a:lvl3pPr>
            <a:lvl4pPr>
              <a:buNone/>
              <a:defRPr sz="1650" b="0">
                <a:solidFill>
                  <a:srgbClr val="10263B"/>
                </a:solidFill>
              </a:defRPr>
            </a:lvl4pPr>
            <a:lvl5pPr>
              <a:buNone/>
              <a:defRPr sz="1650" b="0">
                <a:solidFill>
                  <a:srgbClr val="10263B"/>
                </a:solidFill>
              </a:defRPr>
            </a:lvl5pPr>
            <a:lvl6pPr>
              <a:buNone/>
              <a:defRPr sz="1650" b="0">
                <a:solidFill>
                  <a:srgbClr val="10263B"/>
                </a:solidFill>
              </a:defRPr>
            </a:lvl6pPr>
            <a:lvl7pPr>
              <a:buNone/>
              <a:defRPr sz="1650" b="0">
                <a:solidFill>
                  <a:srgbClr val="10263B"/>
                </a:solidFill>
              </a:defRPr>
            </a:lvl7pPr>
            <a:lvl8pPr>
              <a:buNone/>
              <a:defRPr sz="1650" b="0">
                <a:solidFill>
                  <a:srgbClr val="10263B"/>
                </a:solidFill>
              </a:defRPr>
            </a:lvl8pPr>
            <a:lvl9pPr>
              <a:buNone/>
              <a:defRPr sz="1650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1650" b="0">
                <a:solidFill>
                  <a:srgbClr val="10263B"/>
                </a:solidFill>
              </a:defRPr>
            </a:pPr>
            <a:r>
              <a:rPr sz="1650" b="0">
                <a:solidFill>
                  <a:srgbClr val="10263B"/>
                </a:solidFill>
              </a:rPr>
              <a:t>Optional noise during local training provides differential privacy accounting.</a:t>
            </a:r>
          </a:p>
        </p:txBody>
      </p:sp>
    </p:spTree>
    <p:extLst>
      <p:ext uri="{BB962C8B-B14F-4D97-AF65-F5344CB8AC3E}">
        <p14:creationId xmlns:p14="http://schemas.microsoft.com/office/powerpoint/2010/main" val="1781708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C57AB5-1FA5-48CF-A2B7-12147C491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0263B"/>
                </a:solidFill>
              </a:defRPr>
            </a:defPPr>
            <a:lvl1pPr>
              <a:defRPr sz="2850" b="1">
                <a:solidFill>
                  <a:srgbClr val="10263B"/>
                </a:solidFill>
              </a:defRPr>
            </a:lvl1pPr>
            <a:lvl2pPr>
              <a:defRPr sz="2850" b="1">
                <a:solidFill>
                  <a:srgbClr val="10263B"/>
                </a:solidFill>
              </a:defRPr>
            </a:lvl2pPr>
            <a:lvl3pPr>
              <a:defRPr sz="2850" b="1">
                <a:solidFill>
                  <a:srgbClr val="10263B"/>
                </a:solidFill>
              </a:defRPr>
            </a:lvl3pPr>
            <a:lvl4pPr>
              <a:defRPr sz="2850" b="1">
                <a:solidFill>
                  <a:srgbClr val="10263B"/>
                </a:solidFill>
              </a:defRPr>
            </a:lvl4pPr>
            <a:lvl5pPr>
              <a:defRPr sz="2850" b="1">
                <a:solidFill>
                  <a:srgbClr val="10263B"/>
                </a:solidFill>
              </a:defRPr>
            </a:lvl5pPr>
            <a:lvl6pPr>
              <a:defRPr sz="2850" b="1">
                <a:solidFill>
                  <a:srgbClr val="10263B"/>
                </a:solidFill>
              </a:defRPr>
            </a:lvl6pPr>
            <a:lvl7pPr>
              <a:defRPr sz="2850" b="1">
                <a:solidFill>
                  <a:srgbClr val="10263B"/>
                </a:solidFill>
              </a:defRPr>
            </a:lvl7pPr>
            <a:lvl8pPr>
              <a:defRPr sz="2850" b="1">
                <a:solidFill>
                  <a:srgbClr val="10263B"/>
                </a:solidFill>
              </a:defRPr>
            </a:lvl8pPr>
            <a:lvl9pPr>
              <a:defRPr sz="2850" b="1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0263B"/>
                </a:solidFill>
              </a:defRPr>
            </a:pPr>
            <a:r>
              <a:rPr sz="2850" b="1">
                <a:solidFill>
                  <a:srgbClr val="10263B"/>
                </a:solidFill>
              </a:rPr>
              <a:t>Research prototype interface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6DB4E6-A9FF-4BF4-8349-5D4D5480AE2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a3262028f74422"/>
          <a:stretch xmlns:a="http://schemas.openxmlformats.org/drawingml/2006/main"/>
        </p:blipFill>
        <p:spPr>
          <a:xfrm xmlns:a="http://schemas.openxmlformats.org/drawingml/2006/main">
            <a:off x="943972" y="1190625"/>
            <a:ext cx="5255805" cy="48577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5C61C8-02BD-42B6-9863-BC4BCBEEC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619250"/>
            <a:ext cx="43338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0263B"/>
                </a:solidFill>
              </a:defRPr>
            </a:defPPr>
            <a:lvl1pPr>
              <a:defRPr sz="1875" b="1">
                <a:solidFill>
                  <a:srgbClr val="10263B"/>
                </a:solidFill>
              </a:defRPr>
            </a:lvl1pPr>
            <a:lvl2pPr>
              <a:defRPr sz="1875" b="1">
                <a:solidFill>
                  <a:srgbClr val="10263B"/>
                </a:solidFill>
              </a:defRPr>
            </a:lvl2pPr>
            <a:lvl3pPr>
              <a:defRPr sz="1875" b="1">
                <a:solidFill>
                  <a:srgbClr val="10263B"/>
                </a:solidFill>
              </a:defRPr>
            </a:lvl3pPr>
            <a:lvl4pPr>
              <a:defRPr sz="1875" b="1">
                <a:solidFill>
                  <a:srgbClr val="10263B"/>
                </a:solidFill>
              </a:defRPr>
            </a:lvl4pPr>
            <a:lvl5pPr>
              <a:defRPr sz="1875" b="1">
                <a:solidFill>
                  <a:srgbClr val="10263B"/>
                </a:solidFill>
              </a:defRPr>
            </a:lvl5pPr>
            <a:lvl6pPr>
              <a:defRPr sz="1875" b="1">
                <a:solidFill>
                  <a:srgbClr val="10263B"/>
                </a:solidFill>
              </a:defRPr>
            </a:lvl6pPr>
            <a:lvl7pPr>
              <a:defRPr sz="1875" b="1">
                <a:solidFill>
                  <a:srgbClr val="10263B"/>
                </a:solidFill>
              </a:defRPr>
            </a:lvl7pPr>
            <a:lvl8pPr>
              <a:defRPr sz="1875" b="1">
                <a:solidFill>
                  <a:srgbClr val="10263B"/>
                </a:solidFill>
              </a:defRPr>
            </a:lvl8pPr>
            <a:lvl9pPr>
              <a:defRPr sz="1875" b="1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0263B"/>
                </a:solidFill>
              </a:defRPr>
            </a:pPr>
            <a:r>
              <a:rPr sz="1875" b="1">
                <a:solidFill>
                  <a:srgbClr val="10263B"/>
                </a:solidFill>
              </a:rPr>
              <a:t>The local interface lets us inspect model comparisons and upload an image.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0FD012-4F05-4BDC-860F-09A045C2E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095625"/>
            <a:ext cx="4333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0263B"/>
                </a:solidFill>
              </a:defRPr>
            </a:defPPr>
            <a:lvl1pPr>
              <a:defRPr sz="1725" b="0">
                <a:solidFill>
                  <a:srgbClr val="10263B"/>
                </a:solidFill>
              </a:defRPr>
            </a:lvl1pPr>
            <a:lvl2pPr>
              <a:defRPr sz="1725" b="0">
                <a:solidFill>
                  <a:srgbClr val="10263B"/>
                </a:solidFill>
              </a:defRPr>
            </a:lvl2pPr>
            <a:lvl3pPr>
              <a:defRPr sz="1725" b="0">
                <a:solidFill>
                  <a:srgbClr val="10263B"/>
                </a:solidFill>
              </a:defRPr>
            </a:lvl3pPr>
            <a:lvl4pPr>
              <a:defRPr sz="1725" b="0">
                <a:solidFill>
                  <a:srgbClr val="10263B"/>
                </a:solidFill>
              </a:defRPr>
            </a:lvl4pPr>
            <a:lvl5pPr>
              <a:defRPr sz="1725" b="0">
                <a:solidFill>
                  <a:srgbClr val="10263B"/>
                </a:solidFill>
              </a:defRPr>
            </a:lvl5pPr>
            <a:lvl6pPr>
              <a:defRPr sz="1725" b="0">
                <a:solidFill>
                  <a:srgbClr val="10263B"/>
                </a:solidFill>
              </a:defRPr>
            </a:lvl6pPr>
            <a:lvl7pPr>
              <a:defRPr sz="1725" b="0">
                <a:solidFill>
                  <a:srgbClr val="10263B"/>
                </a:solidFill>
              </a:defRPr>
            </a:lvl7pPr>
            <a:lvl8pPr>
              <a:defRPr sz="1725" b="0">
                <a:solidFill>
                  <a:srgbClr val="10263B"/>
                </a:solidFill>
              </a:defRPr>
            </a:lvl8pPr>
            <a:lvl9pPr>
              <a:defRPr sz="1725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0263B"/>
                </a:solidFill>
              </a:defRPr>
            </a:pPr>
            <a:r>
              <a:rPr sz="1725" b="0">
                <a:solidFill>
                  <a:srgbClr val="10263B"/>
                </a:solidFill>
              </a:rPr>
              <a:t>It supports the research workflow and displays the non-clinical warning.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12D142-78B7-4288-80E4-826394605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524375"/>
            <a:ext cx="43338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4B6070"/>
                </a:solidFill>
              </a:defRPr>
            </a:defPPr>
            <a:lvl1pPr>
              <a:defRPr sz="1500" b="0">
                <a:solidFill>
                  <a:srgbClr val="4B6070"/>
                </a:solidFill>
              </a:defRPr>
            </a:lvl1pPr>
            <a:lvl2pPr>
              <a:defRPr sz="1500" b="0">
                <a:solidFill>
                  <a:srgbClr val="4B6070"/>
                </a:solidFill>
              </a:defRPr>
            </a:lvl2pPr>
            <a:lvl3pPr>
              <a:defRPr sz="1500" b="0">
                <a:solidFill>
                  <a:srgbClr val="4B6070"/>
                </a:solidFill>
              </a:defRPr>
            </a:lvl3pPr>
            <a:lvl4pPr>
              <a:defRPr sz="1500" b="0">
                <a:solidFill>
                  <a:srgbClr val="4B6070"/>
                </a:solidFill>
              </a:defRPr>
            </a:lvl4pPr>
            <a:lvl5pPr>
              <a:defRPr sz="1500" b="0">
                <a:solidFill>
                  <a:srgbClr val="4B6070"/>
                </a:solidFill>
              </a:defRPr>
            </a:lvl5pPr>
            <a:lvl6pPr>
              <a:defRPr sz="1500" b="0">
                <a:solidFill>
                  <a:srgbClr val="4B6070"/>
                </a:solidFill>
              </a:defRPr>
            </a:lvl6pPr>
            <a:lvl7pPr>
              <a:defRPr sz="1500" b="0">
                <a:solidFill>
                  <a:srgbClr val="4B6070"/>
                </a:solidFill>
              </a:defRPr>
            </a:lvl7pPr>
            <a:lvl8pPr>
              <a:defRPr sz="1500" b="0">
                <a:solidFill>
                  <a:srgbClr val="4B6070"/>
                </a:solidFill>
              </a:defRPr>
            </a:lvl8pPr>
            <a:lvl9pPr>
              <a:defRPr sz="1500" b="0">
                <a:solidFill>
                  <a:srgbClr val="4B6070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4B6070"/>
                </a:solidFill>
              </a:defRPr>
            </a:pPr>
            <a:r>
              <a:rPr sz="1500" b="0">
                <a:solidFill>
                  <a:srgbClr val="4B6070"/>
                </a:solidFill>
              </a:rPr>
              <a:t>This screenshot shows an earlier EfficientNet interface.</a:t>
            </a:r>
          </a:p>
        </p:txBody>
      </p:sp>
    </p:spTree>
    <p:extLst>
      <p:ext uri="{BB962C8B-B14F-4D97-AF65-F5344CB8AC3E}">
        <p14:creationId xmlns:p14="http://schemas.microsoft.com/office/powerpoint/2010/main" val="863353135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4438E5-C20C-4417-9901-7D55B9F0C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0263B"/>
                </a:solidFill>
              </a:defRPr>
            </a:defPPr>
            <a:lvl1pPr>
              <a:buNone/>
              <a:defRPr sz="2850" b="1">
                <a:solidFill>
                  <a:srgbClr val="10263B"/>
                </a:solidFill>
              </a:defRPr>
            </a:lvl1pPr>
            <a:lvl2pPr>
              <a:buNone/>
              <a:defRPr sz="2850" b="1">
                <a:solidFill>
                  <a:srgbClr val="10263B"/>
                </a:solidFill>
              </a:defRPr>
            </a:lvl2pPr>
            <a:lvl3pPr>
              <a:buNone/>
              <a:defRPr sz="2850" b="1">
                <a:solidFill>
                  <a:srgbClr val="10263B"/>
                </a:solidFill>
              </a:defRPr>
            </a:lvl3pPr>
            <a:lvl4pPr>
              <a:buNone/>
              <a:defRPr sz="2850" b="1">
                <a:solidFill>
                  <a:srgbClr val="10263B"/>
                </a:solidFill>
              </a:defRPr>
            </a:lvl4pPr>
            <a:lvl5pPr>
              <a:buNone/>
              <a:defRPr sz="2850" b="1">
                <a:solidFill>
                  <a:srgbClr val="10263B"/>
                </a:solidFill>
              </a:defRPr>
            </a:lvl5pPr>
            <a:lvl6pPr>
              <a:buNone/>
              <a:defRPr sz="2850" b="1">
                <a:solidFill>
                  <a:srgbClr val="10263B"/>
                </a:solidFill>
              </a:defRPr>
            </a:lvl6pPr>
            <a:lvl7pPr>
              <a:buNone/>
              <a:defRPr sz="2850" b="1">
                <a:solidFill>
                  <a:srgbClr val="10263B"/>
                </a:solidFill>
              </a:defRPr>
            </a:lvl7pPr>
            <a:lvl8pPr>
              <a:buNone/>
              <a:defRPr sz="2850" b="1">
                <a:solidFill>
                  <a:srgbClr val="10263B"/>
                </a:solidFill>
              </a:defRPr>
            </a:lvl8pPr>
            <a:lvl9pPr>
              <a:buNone/>
              <a:defRPr sz="2850" b="1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2850" b="1">
                <a:solidFill>
                  <a:srgbClr val="10263B"/>
                </a:solidFill>
              </a:defRPr>
            </a:pPr>
            <a:r>
              <a:rPr sz="2850" b="1">
                <a:solidFill>
                  <a:srgbClr val="10263B"/>
                </a:solidFill>
              </a:rPr>
              <a:t>What we learned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032F63-8C06-4406-8125-394F0AD3D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381125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0263B"/>
                </a:solidFill>
              </a:defRPr>
            </a:defPPr>
            <a:lvl1pPr>
              <a:buNone/>
              <a:defRPr sz="1875" b="0">
                <a:solidFill>
                  <a:srgbClr val="10263B"/>
                </a:solidFill>
              </a:defRPr>
            </a:lvl1pPr>
            <a:lvl2pPr>
              <a:buNone/>
              <a:defRPr sz="1875" b="0">
                <a:solidFill>
                  <a:srgbClr val="10263B"/>
                </a:solidFill>
              </a:defRPr>
            </a:lvl2pPr>
            <a:lvl3pPr>
              <a:buNone/>
              <a:defRPr sz="1875" b="0">
                <a:solidFill>
                  <a:srgbClr val="10263B"/>
                </a:solidFill>
              </a:defRPr>
            </a:lvl3pPr>
            <a:lvl4pPr>
              <a:buNone/>
              <a:defRPr sz="1875" b="0">
                <a:solidFill>
                  <a:srgbClr val="10263B"/>
                </a:solidFill>
              </a:defRPr>
            </a:lvl4pPr>
            <a:lvl5pPr>
              <a:buNone/>
              <a:defRPr sz="1875" b="0">
                <a:solidFill>
                  <a:srgbClr val="10263B"/>
                </a:solidFill>
              </a:defRPr>
            </a:lvl5pPr>
            <a:lvl6pPr>
              <a:buNone/>
              <a:defRPr sz="1875" b="0">
                <a:solidFill>
                  <a:srgbClr val="10263B"/>
                </a:solidFill>
              </a:defRPr>
            </a:lvl6pPr>
            <a:lvl7pPr>
              <a:buNone/>
              <a:defRPr sz="1875" b="0">
                <a:solidFill>
                  <a:srgbClr val="10263B"/>
                </a:solidFill>
              </a:defRPr>
            </a:lvl7pPr>
            <a:lvl8pPr>
              <a:buNone/>
              <a:defRPr sz="1875" b="0">
                <a:solidFill>
                  <a:srgbClr val="10263B"/>
                </a:solidFill>
              </a:defRPr>
            </a:lvl8pPr>
            <a:lvl9pPr>
              <a:buNone/>
              <a:defRPr sz="1875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0263B"/>
                </a:solidFill>
              </a:defRPr>
            </a:pPr>
            <a:r>
              <a:rPr sz="1875" b="0">
                <a:solidFill>
                  <a:srgbClr val="10263B"/>
                </a:solidFill>
              </a:rPr>
              <a:t>Macro F1 matters because it gives rare lesion classes equal weight.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BB93F5-6882-4327-8055-C227491E3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71700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0263B"/>
                </a:solidFill>
              </a:defRPr>
            </a:defPPr>
            <a:lvl1pPr>
              <a:buNone/>
              <a:defRPr sz="1875" b="0">
                <a:solidFill>
                  <a:srgbClr val="10263B"/>
                </a:solidFill>
              </a:defRPr>
            </a:lvl1pPr>
            <a:lvl2pPr>
              <a:buNone/>
              <a:defRPr sz="1875" b="0">
                <a:solidFill>
                  <a:srgbClr val="10263B"/>
                </a:solidFill>
              </a:defRPr>
            </a:lvl2pPr>
            <a:lvl3pPr>
              <a:buNone/>
              <a:defRPr sz="1875" b="0">
                <a:solidFill>
                  <a:srgbClr val="10263B"/>
                </a:solidFill>
              </a:defRPr>
            </a:lvl3pPr>
            <a:lvl4pPr>
              <a:buNone/>
              <a:defRPr sz="1875" b="0">
                <a:solidFill>
                  <a:srgbClr val="10263B"/>
                </a:solidFill>
              </a:defRPr>
            </a:lvl4pPr>
            <a:lvl5pPr>
              <a:buNone/>
              <a:defRPr sz="1875" b="0">
                <a:solidFill>
                  <a:srgbClr val="10263B"/>
                </a:solidFill>
              </a:defRPr>
            </a:lvl5pPr>
            <a:lvl6pPr>
              <a:buNone/>
              <a:defRPr sz="1875" b="0">
                <a:solidFill>
                  <a:srgbClr val="10263B"/>
                </a:solidFill>
              </a:defRPr>
            </a:lvl6pPr>
            <a:lvl7pPr>
              <a:buNone/>
              <a:defRPr sz="1875" b="0">
                <a:solidFill>
                  <a:srgbClr val="10263B"/>
                </a:solidFill>
              </a:defRPr>
            </a:lvl7pPr>
            <a:lvl8pPr>
              <a:buNone/>
              <a:defRPr sz="1875" b="0">
                <a:solidFill>
                  <a:srgbClr val="10263B"/>
                </a:solidFill>
              </a:defRPr>
            </a:lvl8pPr>
            <a:lvl9pPr>
              <a:buNone/>
              <a:defRPr sz="1875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0263B"/>
                </a:solidFill>
              </a:defRPr>
            </a:pPr>
            <a:r>
              <a:rPr sz="1875" b="0">
                <a:solidFill>
                  <a:srgbClr val="10263B"/>
                </a:solidFill>
              </a:rPr>
              <a:t>PanDerm features improved the reported official-test results in our experiments.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87705C-DF2D-4DB9-940E-DF01D53BB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962275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0263B"/>
                </a:solidFill>
              </a:defRPr>
            </a:defPPr>
            <a:lvl1pPr>
              <a:buNone/>
              <a:defRPr sz="1875" b="0">
                <a:solidFill>
                  <a:srgbClr val="10263B"/>
                </a:solidFill>
              </a:defRPr>
            </a:lvl1pPr>
            <a:lvl2pPr>
              <a:buNone/>
              <a:defRPr sz="1875" b="0">
                <a:solidFill>
                  <a:srgbClr val="10263B"/>
                </a:solidFill>
              </a:defRPr>
            </a:lvl2pPr>
            <a:lvl3pPr>
              <a:buNone/>
              <a:defRPr sz="1875" b="0">
                <a:solidFill>
                  <a:srgbClr val="10263B"/>
                </a:solidFill>
              </a:defRPr>
            </a:lvl3pPr>
            <a:lvl4pPr>
              <a:buNone/>
              <a:defRPr sz="1875" b="0">
                <a:solidFill>
                  <a:srgbClr val="10263B"/>
                </a:solidFill>
              </a:defRPr>
            </a:lvl4pPr>
            <a:lvl5pPr>
              <a:buNone/>
              <a:defRPr sz="1875" b="0">
                <a:solidFill>
                  <a:srgbClr val="10263B"/>
                </a:solidFill>
              </a:defRPr>
            </a:lvl5pPr>
            <a:lvl6pPr>
              <a:buNone/>
              <a:defRPr sz="1875" b="0">
                <a:solidFill>
                  <a:srgbClr val="10263B"/>
                </a:solidFill>
              </a:defRPr>
            </a:lvl6pPr>
            <a:lvl7pPr>
              <a:buNone/>
              <a:defRPr sz="1875" b="0">
                <a:solidFill>
                  <a:srgbClr val="10263B"/>
                </a:solidFill>
              </a:defRPr>
            </a:lvl7pPr>
            <a:lvl8pPr>
              <a:buNone/>
              <a:defRPr sz="1875" b="0">
                <a:solidFill>
                  <a:srgbClr val="10263B"/>
                </a:solidFill>
              </a:defRPr>
            </a:lvl8pPr>
            <a:lvl9pPr>
              <a:buNone/>
              <a:defRPr sz="1875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0263B"/>
                </a:solidFill>
              </a:defRPr>
            </a:pPr>
            <a:r>
              <a:rPr sz="1875" b="0">
                <a:solidFill>
                  <a:srgbClr val="10263B"/>
                </a:solidFill>
              </a:rPr>
              <a:t>Specialists and larger heads can overfit or improve one split while losing on another.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04CDF8-173A-46B5-A3D1-79D7CEA46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752850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0263B"/>
                </a:solidFill>
              </a:defRPr>
            </a:defPPr>
            <a:lvl1pPr>
              <a:buNone/>
              <a:defRPr sz="1875" b="0">
                <a:solidFill>
                  <a:srgbClr val="10263B"/>
                </a:solidFill>
              </a:defRPr>
            </a:lvl1pPr>
            <a:lvl2pPr>
              <a:buNone/>
              <a:defRPr sz="1875" b="0">
                <a:solidFill>
                  <a:srgbClr val="10263B"/>
                </a:solidFill>
              </a:defRPr>
            </a:lvl2pPr>
            <a:lvl3pPr>
              <a:buNone/>
              <a:defRPr sz="1875" b="0">
                <a:solidFill>
                  <a:srgbClr val="10263B"/>
                </a:solidFill>
              </a:defRPr>
            </a:lvl3pPr>
            <a:lvl4pPr>
              <a:buNone/>
              <a:defRPr sz="1875" b="0">
                <a:solidFill>
                  <a:srgbClr val="10263B"/>
                </a:solidFill>
              </a:defRPr>
            </a:lvl4pPr>
            <a:lvl5pPr>
              <a:buNone/>
              <a:defRPr sz="1875" b="0">
                <a:solidFill>
                  <a:srgbClr val="10263B"/>
                </a:solidFill>
              </a:defRPr>
            </a:lvl5pPr>
            <a:lvl6pPr>
              <a:buNone/>
              <a:defRPr sz="1875" b="0">
                <a:solidFill>
                  <a:srgbClr val="10263B"/>
                </a:solidFill>
              </a:defRPr>
            </a:lvl6pPr>
            <a:lvl7pPr>
              <a:buNone/>
              <a:defRPr sz="1875" b="0">
                <a:solidFill>
                  <a:srgbClr val="10263B"/>
                </a:solidFill>
              </a:defRPr>
            </a:lvl7pPr>
            <a:lvl8pPr>
              <a:buNone/>
              <a:defRPr sz="1875" b="0">
                <a:solidFill>
                  <a:srgbClr val="10263B"/>
                </a:solidFill>
              </a:defRPr>
            </a:lvl8pPr>
            <a:lvl9pPr>
              <a:buNone/>
              <a:defRPr sz="1875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0263B"/>
                </a:solidFill>
              </a:defRPr>
            </a:pPr>
            <a:r>
              <a:rPr sz="1875" b="0">
                <a:solidFill>
                  <a:srgbClr val="10263B"/>
                </a:solidFill>
              </a:rPr>
              <a:t>The authors’ published weighted F1 and our macro F1 measure different things.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5EA549-CCD0-4E05-8FFA-0B0ADA359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4B6070"/>
                </a:solidFill>
              </a:defRPr>
            </a:defPPr>
            <a:lvl1pPr>
              <a:buNone/>
              <a:defRPr sz="1050" b="0">
                <a:solidFill>
                  <a:srgbClr val="4B6070"/>
                </a:solidFill>
              </a:defRPr>
            </a:lvl1pPr>
            <a:lvl2pPr>
              <a:buNone/>
              <a:defRPr sz="1050" b="0">
                <a:solidFill>
                  <a:srgbClr val="4B6070"/>
                </a:solidFill>
              </a:defRPr>
            </a:lvl2pPr>
            <a:lvl3pPr>
              <a:buNone/>
              <a:defRPr sz="1050" b="0">
                <a:solidFill>
                  <a:srgbClr val="4B6070"/>
                </a:solidFill>
              </a:defRPr>
            </a:lvl3pPr>
            <a:lvl4pPr>
              <a:buNone/>
              <a:defRPr sz="1050" b="0">
                <a:solidFill>
                  <a:srgbClr val="4B6070"/>
                </a:solidFill>
              </a:defRPr>
            </a:lvl4pPr>
            <a:lvl5pPr>
              <a:buNone/>
              <a:defRPr sz="1050" b="0">
                <a:solidFill>
                  <a:srgbClr val="4B6070"/>
                </a:solidFill>
              </a:defRPr>
            </a:lvl5pPr>
            <a:lvl6pPr>
              <a:buNone/>
              <a:defRPr sz="1050" b="0">
                <a:solidFill>
                  <a:srgbClr val="4B6070"/>
                </a:solidFill>
              </a:defRPr>
            </a:lvl6pPr>
            <a:lvl7pPr>
              <a:buNone/>
              <a:defRPr sz="1050" b="0">
                <a:solidFill>
                  <a:srgbClr val="4B6070"/>
                </a:solidFill>
              </a:defRPr>
            </a:lvl7pPr>
            <a:lvl8pPr>
              <a:buNone/>
              <a:defRPr sz="1050" b="0">
                <a:solidFill>
                  <a:srgbClr val="4B6070"/>
                </a:solidFill>
              </a:defRPr>
            </a:lvl8pPr>
            <a:lvl9pPr>
              <a:buNone/>
              <a:defRPr sz="1050" b="0">
                <a:solidFill>
                  <a:srgbClr val="4B6070"/>
                </a:solidFill>
              </a:defRPr>
            </a:lvl9pPr>
          </a:lstStyle>
          <a:p xmlns:a="http://schemas.openxmlformats.org/drawingml/2006/main">
            <a:pPr>
              <a:buNone/>
              <a:defRPr sz="1050" b="0">
                <a:solidFill>
                  <a:srgbClr val="4B6070"/>
                </a:solidFill>
              </a:defRPr>
            </a:pPr>
            <a:r>
              <a:rPr sz="1050" b="0">
                <a:solidFill>
                  <a:srgbClr val="4B6070"/>
                </a:solidFill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407743069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4A4709-1D13-4BF0-8B6B-814A1897E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0263B"/>
                </a:solidFill>
              </a:defRPr>
            </a:defPPr>
            <a:lvl1pPr>
              <a:buNone/>
              <a:defRPr sz="2850" b="1">
                <a:solidFill>
                  <a:srgbClr val="10263B"/>
                </a:solidFill>
              </a:defRPr>
            </a:lvl1pPr>
            <a:lvl2pPr>
              <a:buNone/>
              <a:defRPr sz="2850" b="1">
                <a:solidFill>
                  <a:srgbClr val="10263B"/>
                </a:solidFill>
              </a:defRPr>
            </a:lvl2pPr>
            <a:lvl3pPr>
              <a:buNone/>
              <a:defRPr sz="2850" b="1">
                <a:solidFill>
                  <a:srgbClr val="10263B"/>
                </a:solidFill>
              </a:defRPr>
            </a:lvl3pPr>
            <a:lvl4pPr>
              <a:buNone/>
              <a:defRPr sz="2850" b="1">
                <a:solidFill>
                  <a:srgbClr val="10263B"/>
                </a:solidFill>
              </a:defRPr>
            </a:lvl4pPr>
            <a:lvl5pPr>
              <a:buNone/>
              <a:defRPr sz="2850" b="1">
                <a:solidFill>
                  <a:srgbClr val="10263B"/>
                </a:solidFill>
              </a:defRPr>
            </a:lvl5pPr>
            <a:lvl6pPr>
              <a:buNone/>
              <a:defRPr sz="2850" b="1">
                <a:solidFill>
                  <a:srgbClr val="10263B"/>
                </a:solidFill>
              </a:defRPr>
            </a:lvl6pPr>
            <a:lvl7pPr>
              <a:buNone/>
              <a:defRPr sz="2850" b="1">
                <a:solidFill>
                  <a:srgbClr val="10263B"/>
                </a:solidFill>
              </a:defRPr>
            </a:lvl7pPr>
            <a:lvl8pPr>
              <a:buNone/>
              <a:defRPr sz="2850" b="1">
                <a:solidFill>
                  <a:srgbClr val="10263B"/>
                </a:solidFill>
              </a:defRPr>
            </a:lvl8pPr>
            <a:lvl9pPr>
              <a:buNone/>
              <a:defRPr sz="2850" b="1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2850" b="1">
                <a:solidFill>
                  <a:srgbClr val="10263B"/>
                </a:solidFill>
              </a:defRPr>
            </a:pPr>
            <a:r>
              <a:rPr sz="2850" b="1">
                <a:solidFill>
                  <a:srgbClr val="10263B"/>
                </a:solidFill>
              </a:rPr>
              <a:t>Limitations and next steps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C835CF-CB0A-42C3-A909-B41C98BFA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381125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0263B"/>
                </a:solidFill>
              </a:defRPr>
            </a:defPPr>
            <a:lvl1pPr>
              <a:buNone/>
              <a:defRPr sz="1875" b="0">
                <a:solidFill>
                  <a:srgbClr val="10263B"/>
                </a:solidFill>
              </a:defRPr>
            </a:lvl1pPr>
            <a:lvl2pPr>
              <a:buNone/>
              <a:defRPr sz="1875" b="0">
                <a:solidFill>
                  <a:srgbClr val="10263B"/>
                </a:solidFill>
              </a:defRPr>
            </a:lvl2pPr>
            <a:lvl3pPr>
              <a:buNone/>
              <a:defRPr sz="1875" b="0">
                <a:solidFill>
                  <a:srgbClr val="10263B"/>
                </a:solidFill>
              </a:defRPr>
            </a:lvl3pPr>
            <a:lvl4pPr>
              <a:buNone/>
              <a:defRPr sz="1875" b="0">
                <a:solidFill>
                  <a:srgbClr val="10263B"/>
                </a:solidFill>
              </a:defRPr>
            </a:lvl4pPr>
            <a:lvl5pPr>
              <a:buNone/>
              <a:defRPr sz="1875" b="0">
                <a:solidFill>
                  <a:srgbClr val="10263B"/>
                </a:solidFill>
              </a:defRPr>
            </a:lvl5pPr>
            <a:lvl6pPr>
              <a:buNone/>
              <a:defRPr sz="1875" b="0">
                <a:solidFill>
                  <a:srgbClr val="10263B"/>
                </a:solidFill>
              </a:defRPr>
            </a:lvl6pPr>
            <a:lvl7pPr>
              <a:buNone/>
              <a:defRPr sz="1875" b="0">
                <a:solidFill>
                  <a:srgbClr val="10263B"/>
                </a:solidFill>
              </a:defRPr>
            </a:lvl7pPr>
            <a:lvl8pPr>
              <a:buNone/>
              <a:defRPr sz="1875" b="0">
                <a:solidFill>
                  <a:srgbClr val="10263B"/>
                </a:solidFill>
              </a:defRPr>
            </a:lvl8pPr>
            <a:lvl9pPr>
              <a:buNone/>
              <a:defRPr sz="1875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0263B"/>
                </a:solidFill>
              </a:defRPr>
            </a:pPr>
            <a:r>
              <a:rPr sz="1875" b="0">
                <a:solidFill>
                  <a:srgbClr val="10263B"/>
                </a:solidFill>
              </a:rPr>
              <a:t>Repeated examination of test sets makes the comparisons exploratory.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BC7073-6936-4F97-AAD8-83A236264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71700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0263B"/>
                </a:solidFill>
              </a:defRPr>
            </a:defPPr>
            <a:lvl1pPr>
              <a:buNone/>
              <a:defRPr sz="1875" b="0">
                <a:solidFill>
                  <a:srgbClr val="10263B"/>
                </a:solidFill>
              </a:defRPr>
            </a:lvl1pPr>
            <a:lvl2pPr>
              <a:buNone/>
              <a:defRPr sz="1875" b="0">
                <a:solidFill>
                  <a:srgbClr val="10263B"/>
                </a:solidFill>
              </a:defRPr>
            </a:lvl2pPr>
            <a:lvl3pPr>
              <a:buNone/>
              <a:defRPr sz="1875" b="0">
                <a:solidFill>
                  <a:srgbClr val="10263B"/>
                </a:solidFill>
              </a:defRPr>
            </a:lvl3pPr>
            <a:lvl4pPr>
              <a:buNone/>
              <a:defRPr sz="1875" b="0">
                <a:solidFill>
                  <a:srgbClr val="10263B"/>
                </a:solidFill>
              </a:defRPr>
            </a:lvl4pPr>
            <a:lvl5pPr>
              <a:buNone/>
              <a:defRPr sz="1875" b="0">
                <a:solidFill>
                  <a:srgbClr val="10263B"/>
                </a:solidFill>
              </a:defRPr>
            </a:lvl5pPr>
            <a:lvl6pPr>
              <a:buNone/>
              <a:defRPr sz="1875" b="0">
                <a:solidFill>
                  <a:srgbClr val="10263B"/>
                </a:solidFill>
              </a:defRPr>
            </a:lvl6pPr>
            <a:lvl7pPr>
              <a:buNone/>
              <a:defRPr sz="1875" b="0">
                <a:solidFill>
                  <a:srgbClr val="10263B"/>
                </a:solidFill>
              </a:defRPr>
            </a:lvl7pPr>
            <a:lvl8pPr>
              <a:buNone/>
              <a:defRPr sz="1875" b="0">
                <a:solidFill>
                  <a:srgbClr val="10263B"/>
                </a:solidFill>
              </a:defRPr>
            </a:lvl8pPr>
            <a:lvl9pPr>
              <a:buNone/>
              <a:defRPr sz="1875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0263B"/>
                </a:solidFill>
              </a:defRPr>
            </a:pPr>
            <a:r>
              <a:rPr sz="1875" b="0">
                <a:solidFill>
                  <a:srgbClr val="10263B"/>
                </a:solidFill>
              </a:rPr>
              <a:t>Later adaptation used former test images for training; those scores are fitting results.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D4F53F-114F-43FF-BE74-5BFFAC261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962275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0263B"/>
                </a:solidFill>
              </a:defRPr>
            </a:defPPr>
            <a:lvl1pPr>
              <a:buNone/>
              <a:defRPr sz="1875" b="0">
                <a:solidFill>
                  <a:srgbClr val="10263B"/>
                </a:solidFill>
              </a:defRPr>
            </a:lvl1pPr>
            <a:lvl2pPr>
              <a:buNone/>
              <a:defRPr sz="1875" b="0">
                <a:solidFill>
                  <a:srgbClr val="10263B"/>
                </a:solidFill>
              </a:defRPr>
            </a:lvl2pPr>
            <a:lvl3pPr>
              <a:buNone/>
              <a:defRPr sz="1875" b="0">
                <a:solidFill>
                  <a:srgbClr val="10263B"/>
                </a:solidFill>
              </a:defRPr>
            </a:lvl3pPr>
            <a:lvl4pPr>
              <a:buNone/>
              <a:defRPr sz="1875" b="0">
                <a:solidFill>
                  <a:srgbClr val="10263B"/>
                </a:solidFill>
              </a:defRPr>
            </a:lvl4pPr>
            <a:lvl5pPr>
              <a:buNone/>
              <a:defRPr sz="1875" b="0">
                <a:solidFill>
                  <a:srgbClr val="10263B"/>
                </a:solidFill>
              </a:defRPr>
            </a:lvl5pPr>
            <a:lvl6pPr>
              <a:buNone/>
              <a:defRPr sz="1875" b="0">
                <a:solidFill>
                  <a:srgbClr val="10263B"/>
                </a:solidFill>
              </a:defRPr>
            </a:lvl6pPr>
            <a:lvl7pPr>
              <a:buNone/>
              <a:defRPr sz="1875" b="0">
                <a:solidFill>
                  <a:srgbClr val="10263B"/>
                </a:solidFill>
              </a:defRPr>
            </a:lvl7pPr>
            <a:lvl8pPr>
              <a:buNone/>
              <a:defRPr sz="1875" b="0">
                <a:solidFill>
                  <a:srgbClr val="10263B"/>
                </a:solidFill>
              </a:defRPr>
            </a:lvl8pPr>
            <a:lvl9pPr>
              <a:buNone/>
              <a:defRPr sz="1875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0263B"/>
                </a:solidFill>
              </a:defRPr>
            </a:pPr>
            <a:r>
              <a:rPr sz="1875" b="0">
                <a:solidFill>
                  <a:srgbClr val="10263B"/>
                </a:solidFill>
              </a:rPr>
              <a:t>Evaluate a locked model on a fresh, independent dataset with lesion identifiers.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5DCF08-3D1B-4047-914E-EB9F64F46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752850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0263B"/>
                </a:solidFill>
              </a:defRPr>
            </a:defPPr>
            <a:lvl1pPr>
              <a:buNone/>
              <a:defRPr sz="1875" b="0">
                <a:solidFill>
                  <a:srgbClr val="10263B"/>
                </a:solidFill>
              </a:defRPr>
            </a:lvl1pPr>
            <a:lvl2pPr>
              <a:buNone/>
              <a:defRPr sz="1875" b="0">
                <a:solidFill>
                  <a:srgbClr val="10263B"/>
                </a:solidFill>
              </a:defRPr>
            </a:lvl2pPr>
            <a:lvl3pPr>
              <a:buNone/>
              <a:defRPr sz="1875" b="0">
                <a:solidFill>
                  <a:srgbClr val="10263B"/>
                </a:solidFill>
              </a:defRPr>
            </a:lvl3pPr>
            <a:lvl4pPr>
              <a:buNone/>
              <a:defRPr sz="1875" b="0">
                <a:solidFill>
                  <a:srgbClr val="10263B"/>
                </a:solidFill>
              </a:defRPr>
            </a:lvl4pPr>
            <a:lvl5pPr>
              <a:buNone/>
              <a:defRPr sz="1875" b="0">
                <a:solidFill>
                  <a:srgbClr val="10263B"/>
                </a:solidFill>
              </a:defRPr>
            </a:lvl5pPr>
            <a:lvl6pPr>
              <a:buNone/>
              <a:defRPr sz="1875" b="0">
                <a:solidFill>
                  <a:srgbClr val="10263B"/>
                </a:solidFill>
              </a:defRPr>
            </a:lvl6pPr>
            <a:lvl7pPr>
              <a:buNone/>
              <a:defRPr sz="1875" b="0">
                <a:solidFill>
                  <a:srgbClr val="10263B"/>
                </a:solidFill>
              </a:defRPr>
            </a:lvl7pPr>
            <a:lvl8pPr>
              <a:buNone/>
              <a:defRPr sz="1875" b="0">
                <a:solidFill>
                  <a:srgbClr val="10263B"/>
                </a:solidFill>
              </a:defRPr>
            </a:lvl8pPr>
            <a:lvl9pPr>
              <a:buNone/>
              <a:defRPr sz="1875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0263B"/>
                </a:solidFill>
              </a:defRPr>
            </a:pPr>
            <a:r>
              <a:rPr sz="1875" b="0">
                <a:solidFill>
                  <a:srgbClr val="10263B"/>
                </a:solidFill>
              </a:rPr>
              <a:t>Test privacy and utility together before claiming a private clinical model.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6D2B78-9C34-47FD-86B4-8334F6ED0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4B6070"/>
                </a:solidFill>
              </a:defRPr>
            </a:defPPr>
            <a:lvl1pPr>
              <a:buNone/>
              <a:defRPr sz="1050" b="0">
                <a:solidFill>
                  <a:srgbClr val="4B6070"/>
                </a:solidFill>
              </a:defRPr>
            </a:lvl1pPr>
            <a:lvl2pPr>
              <a:buNone/>
              <a:defRPr sz="1050" b="0">
                <a:solidFill>
                  <a:srgbClr val="4B6070"/>
                </a:solidFill>
              </a:defRPr>
            </a:lvl2pPr>
            <a:lvl3pPr>
              <a:buNone/>
              <a:defRPr sz="1050" b="0">
                <a:solidFill>
                  <a:srgbClr val="4B6070"/>
                </a:solidFill>
              </a:defRPr>
            </a:lvl3pPr>
            <a:lvl4pPr>
              <a:buNone/>
              <a:defRPr sz="1050" b="0">
                <a:solidFill>
                  <a:srgbClr val="4B6070"/>
                </a:solidFill>
              </a:defRPr>
            </a:lvl4pPr>
            <a:lvl5pPr>
              <a:buNone/>
              <a:defRPr sz="1050" b="0">
                <a:solidFill>
                  <a:srgbClr val="4B6070"/>
                </a:solidFill>
              </a:defRPr>
            </a:lvl5pPr>
            <a:lvl6pPr>
              <a:buNone/>
              <a:defRPr sz="1050" b="0">
                <a:solidFill>
                  <a:srgbClr val="4B6070"/>
                </a:solidFill>
              </a:defRPr>
            </a:lvl6pPr>
            <a:lvl7pPr>
              <a:buNone/>
              <a:defRPr sz="1050" b="0">
                <a:solidFill>
                  <a:srgbClr val="4B6070"/>
                </a:solidFill>
              </a:defRPr>
            </a:lvl7pPr>
            <a:lvl8pPr>
              <a:buNone/>
              <a:defRPr sz="1050" b="0">
                <a:solidFill>
                  <a:srgbClr val="4B6070"/>
                </a:solidFill>
              </a:defRPr>
            </a:lvl8pPr>
            <a:lvl9pPr>
              <a:buNone/>
              <a:defRPr sz="1050" b="0">
                <a:solidFill>
                  <a:srgbClr val="4B6070"/>
                </a:solidFill>
              </a:defRPr>
            </a:lvl9pPr>
          </a:lstStyle>
          <a:p xmlns:a="http://schemas.openxmlformats.org/drawingml/2006/main">
            <a:pPr>
              <a:buNone/>
              <a:defRPr sz="1050" b="0">
                <a:solidFill>
                  <a:srgbClr val="4B6070"/>
                </a:solidFill>
              </a:defRPr>
            </a:pPr>
            <a:r>
              <a:rPr sz="1050" b="0">
                <a:solidFill>
                  <a:srgbClr val="4B6070"/>
                </a:solidFill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789688604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B1FB3F-A977-4653-B358-2F71AA134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0263B"/>
                </a:solidFill>
              </a:defRPr>
            </a:defPPr>
            <a:lvl1pPr>
              <a:buNone/>
              <a:defRPr sz="2850" b="1">
                <a:solidFill>
                  <a:srgbClr val="10263B"/>
                </a:solidFill>
              </a:defRPr>
            </a:lvl1pPr>
            <a:lvl2pPr>
              <a:buNone/>
              <a:defRPr sz="2850" b="1">
                <a:solidFill>
                  <a:srgbClr val="10263B"/>
                </a:solidFill>
              </a:defRPr>
            </a:lvl2pPr>
            <a:lvl3pPr>
              <a:buNone/>
              <a:defRPr sz="2850" b="1">
                <a:solidFill>
                  <a:srgbClr val="10263B"/>
                </a:solidFill>
              </a:defRPr>
            </a:lvl3pPr>
            <a:lvl4pPr>
              <a:buNone/>
              <a:defRPr sz="2850" b="1">
                <a:solidFill>
                  <a:srgbClr val="10263B"/>
                </a:solidFill>
              </a:defRPr>
            </a:lvl4pPr>
            <a:lvl5pPr>
              <a:buNone/>
              <a:defRPr sz="2850" b="1">
                <a:solidFill>
                  <a:srgbClr val="10263B"/>
                </a:solidFill>
              </a:defRPr>
            </a:lvl5pPr>
            <a:lvl6pPr>
              <a:buNone/>
              <a:defRPr sz="2850" b="1">
                <a:solidFill>
                  <a:srgbClr val="10263B"/>
                </a:solidFill>
              </a:defRPr>
            </a:lvl6pPr>
            <a:lvl7pPr>
              <a:buNone/>
              <a:defRPr sz="2850" b="1">
                <a:solidFill>
                  <a:srgbClr val="10263B"/>
                </a:solidFill>
              </a:defRPr>
            </a:lvl7pPr>
            <a:lvl8pPr>
              <a:buNone/>
              <a:defRPr sz="2850" b="1">
                <a:solidFill>
                  <a:srgbClr val="10263B"/>
                </a:solidFill>
              </a:defRPr>
            </a:lvl8pPr>
            <a:lvl9pPr>
              <a:buNone/>
              <a:defRPr sz="2850" b="1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2850" b="1">
                <a:solidFill>
                  <a:srgbClr val="10263B"/>
                </a:solidFill>
              </a:defRPr>
            </a:pPr>
            <a:r>
              <a:rPr sz="2850" b="1">
                <a:solidFill>
                  <a:srgbClr val="10263B"/>
                </a:solidFill>
              </a:rPr>
              <a:t>Project review: key conclusion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AF702E-AEB0-4C42-A0E4-A14F2A44A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381125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0263B"/>
                </a:solidFill>
              </a:defRPr>
            </a:defPPr>
            <a:lvl1pPr>
              <a:buNone/>
              <a:defRPr sz="1875" b="0">
                <a:solidFill>
                  <a:srgbClr val="10263B"/>
                </a:solidFill>
              </a:defRPr>
            </a:lvl1pPr>
            <a:lvl2pPr>
              <a:buNone/>
              <a:defRPr sz="1875" b="0">
                <a:solidFill>
                  <a:srgbClr val="10263B"/>
                </a:solidFill>
              </a:defRPr>
            </a:lvl2pPr>
            <a:lvl3pPr>
              <a:buNone/>
              <a:defRPr sz="1875" b="0">
                <a:solidFill>
                  <a:srgbClr val="10263B"/>
                </a:solidFill>
              </a:defRPr>
            </a:lvl3pPr>
            <a:lvl4pPr>
              <a:buNone/>
              <a:defRPr sz="1875" b="0">
                <a:solidFill>
                  <a:srgbClr val="10263B"/>
                </a:solidFill>
              </a:defRPr>
            </a:lvl4pPr>
            <a:lvl5pPr>
              <a:buNone/>
              <a:defRPr sz="1875" b="0">
                <a:solidFill>
                  <a:srgbClr val="10263B"/>
                </a:solidFill>
              </a:defRPr>
            </a:lvl5pPr>
            <a:lvl6pPr>
              <a:buNone/>
              <a:defRPr sz="1875" b="0">
                <a:solidFill>
                  <a:srgbClr val="10263B"/>
                </a:solidFill>
              </a:defRPr>
            </a:lvl6pPr>
            <a:lvl7pPr>
              <a:buNone/>
              <a:defRPr sz="1875" b="0">
                <a:solidFill>
                  <a:srgbClr val="10263B"/>
                </a:solidFill>
              </a:defRPr>
            </a:lvl7pPr>
            <a:lvl8pPr>
              <a:buNone/>
              <a:defRPr sz="1875" b="0">
                <a:solidFill>
                  <a:srgbClr val="10263B"/>
                </a:solidFill>
              </a:defRPr>
            </a:lvl8pPr>
            <a:lvl9pPr>
              <a:buNone/>
              <a:defRPr sz="1875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0263B"/>
                </a:solidFill>
              </a:defRPr>
            </a:pPr>
            <a:r>
              <a:rPr sz="1875" b="0">
                <a:solidFill>
                  <a:srgbClr val="10263B"/>
                </a:solidFill>
              </a:rPr>
              <a:t>We built an end-to-end research workflow for seven-class lesion classification.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3DA6E6-574D-45C9-BBC4-6E857061C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71700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0263B"/>
                </a:solidFill>
              </a:defRPr>
            </a:defPPr>
            <a:lvl1pPr>
              <a:buNone/>
              <a:defRPr sz="1875" b="0">
                <a:solidFill>
                  <a:srgbClr val="10263B"/>
                </a:solidFill>
              </a:defRPr>
            </a:lvl1pPr>
            <a:lvl2pPr>
              <a:buNone/>
              <a:defRPr sz="1875" b="0">
                <a:solidFill>
                  <a:srgbClr val="10263B"/>
                </a:solidFill>
              </a:defRPr>
            </a:lvl2pPr>
            <a:lvl3pPr>
              <a:buNone/>
              <a:defRPr sz="1875" b="0">
                <a:solidFill>
                  <a:srgbClr val="10263B"/>
                </a:solidFill>
              </a:defRPr>
            </a:lvl3pPr>
            <a:lvl4pPr>
              <a:buNone/>
              <a:defRPr sz="1875" b="0">
                <a:solidFill>
                  <a:srgbClr val="10263B"/>
                </a:solidFill>
              </a:defRPr>
            </a:lvl4pPr>
            <a:lvl5pPr>
              <a:buNone/>
              <a:defRPr sz="1875" b="0">
                <a:solidFill>
                  <a:srgbClr val="10263B"/>
                </a:solidFill>
              </a:defRPr>
            </a:lvl5pPr>
            <a:lvl6pPr>
              <a:buNone/>
              <a:defRPr sz="1875" b="0">
                <a:solidFill>
                  <a:srgbClr val="10263B"/>
                </a:solidFill>
              </a:defRPr>
            </a:lvl6pPr>
            <a:lvl7pPr>
              <a:buNone/>
              <a:defRPr sz="1875" b="0">
                <a:solidFill>
                  <a:srgbClr val="10263B"/>
                </a:solidFill>
              </a:defRPr>
            </a:lvl7pPr>
            <a:lvl8pPr>
              <a:buNone/>
              <a:defRPr sz="1875" b="0">
                <a:solidFill>
                  <a:srgbClr val="10263B"/>
                </a:solidFill>
              </a:defRPr>
            </a:lvl8pPr>
            <a:lvl9pPr>
              <a:buNone/>
              <a:defRPr sz="1875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0263B"/>
                </a:solidFill>
              </a:defRPr>
            </a:pPr>
            <a:r>
              <a:rPr sz="1875" b="0">
                <a:solidFill>
                  <a:srgbClr val="10263B"/>
                </a:solidFill>
              </a:rPr>
              <a:t>The project compared EfficientNet and PanDerm with several classifier families.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8A30E5-5EC9-4683-90A6-B2A3189A7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962275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0263B"/>
                </a:solidFill>
              </a:defRPr>
            </a:defPPr>
            <a:lvl1pPr>
              <a:buNone/>
              <a:defRPr sz="1875" b="0">
                <a:solidFill>
                  <a:srgbClr val="10263B"/>
                </a:solidFill>
              </a:defRPr>
            </a:lvl1pPr>
            <a:lvl2pPr>
              <a:buNone/>
              <a:defRPr sz="1875" b="0">
                <a:solidFill>
                  <a:srgbClr val="10263B"/>
                </a:solidFill>
              </a:defRPr>
            </a:lvl2pPr>
            <a:lvl3pPr>
              <a:buNone/>
              <a:defRPr sz="1875" b="0">
                <a:solidFill>
                  <a:srgbClr val="10263B"/>
                </a:solidFill>
              </a:defRPr>
            </a:lvl3pPr>
            <a:lvl4pPr>
              <a:buNone/>
              <a:defRPr sz="1875" b="0">
                <a:solidFill>
                  <a:srgbClr val="10263B"/>
                </a:solidFill>
              </a:defRPr>
            </a:lvl4pPr>
            <a:lvl5pPr>
              <a:buNone/>
              <a:defRPr sz="1875" b="0">
                <a:solidFill>
                  <a:srgbClr val="10263B"/>
                </a:solidFill>
              </a:defRPr>
            </a:lvl5pPr>
            <a:lvl6pPr>
              <a:buNone/>
              <a:defRPr sz="1875" b="0">
                <a:solidFill>
                  <a:srgbClr val="10263B"/>
                </a:solidFill>
              </a:defRPr>
            </a:lvl6pPr>
            <a:lvl7pPr>
              <a:buNone/>
              <a:defRPr sz="1875" b="0">
                <a:solidFill>
                  <a:srgbClr val="10263B"/>
                </a:solidFill>
              </a:defRPr>
            </a:lvl7pPr>
            <a:lvl8pPr>
              <a:buNone/>
              <a:defRPr sz="1875" b="0">
                <a:solidFill>
                  <a:srgbClr val="10263B"/>
                </a:solidFill>
              </a:defRPr>
            </a:lvl8pPr>
            <a:lvl9pPr>
              <a:buNone/>
              <a:defRPr sz="1875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0263B"/>
                </a:solidFill>
              </a:defRPr>
            </a:pPr>
            <a:r>
              <a:rPr sz="1875" b="0">
                <a:solidFill>
                  <a:srgbClr val="10263B"/>
                </a:solidFill>
              </a:rPr>
              <a:t>PanDerm Large with a linear head reached 73.8% macro F1 on the official test.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B54229-6B17-4814-987A-D78B9D30F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752850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0263B"/>
                </a:solidFill>
              </a:defRPr>
            </a:defPPr>
            <a:lvl1pPr>
              <a:buNone/>
              <a:defRPr sz="1875" b="0">
                <a:solidFill>
                  <a:srgbClr val="10263B"/>
                </a:solidFill>
              </a:defRPr>
            </a:lvl1pPr>
            <a:lvl2pPr>
              <a:buNone/>
              <a:defRPr sz="1875" b="0">
                <a:solidFill>
                  <a:srgbClr val="10263B"/>
                </a:solidFill>
              </a:defRPr>
            </a:lvl2pPr>
            <a:lvl3pPr>
              <a:buNone/>
              <a:defRPr sz="1875" b="0">
                <a:solidFill>
                  <a:srgbClr val="10263B"/>
                </a:solidFill>
              </a:defRPr>
            </a:lvl3pPr>
            <a:lvl4pPr>
              <a:buNone/>
              <a:defRPr sz="1875" b="0">
                <a:solidFill>
                  <a:srgbClr val="10263B"/>
                </a:solidFill>
              </a:defRPr>
            </a:lvl4pPr>
            <a:lvl5pPr>
              <a:buNone/>
              <a:defRPr sz="1875" b="0">
                <a:solidFill>
                  <a:srgbClr val="10263B"/>
                </a:solidFill>
              </a:defRPr>
            </a:lvl5pPr>
            <a:lvl6pPr>
              <a:buNone/>
              <a:defRPr sz="1875" b="0">
                <a:solidFill>
                  <a:srgbClr val="10263B"/>
                </a:solidFill>
              </a:defRPr>
            </a:lvl6pPr>
            <a:lvl7pPr>
              <a:buNone/>
              <a:defRPr sz="1875" b="0">
                <a:solidFill>
                  <a:srgbClr val="10263B"/>
                </a:solidFill>
              </a:defRPr>
            </a:lvl7pPr>
            <a:lvl8pPr>
              <a:buNone/>
              <a:defRPr sz="1875" b="0">
                <a:solidFill>
                  <a:srgbClr val="10263B"/>
                </a:solidFill>
              </a:defRPr>
            </a:lvl8pPr>
            <a:lvl9pPr>
              <a:buNone/>
              <a:defRPr sz="1875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0263B"/>
                </a:solidFill>
              </a:defRPr>
            </a:pPr>
            <a:r>
              <a:rPr sz="1875" b="0">
                <a:solidFill>
                  <a:srgbClr val="10263B"/>
                </a:solidFill>
              </a:rPr>
              <a:t>A fresh independent evaluation is needed before any clinical conclusion.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239420-E650-4B23-914E-FDCD69D67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4B6070"/>
                </a:solidFill>
              </a:defRPr>
            </a:defPPr>
            <a:lvl1pPr>
              <a:buNone/>
              <a:defRPr sz="1050" b="0">
                <a:solidFill>
                  <a:srgbClr val="4B6070"/>
                </a:solidFill>
              </a:defRPr>
            </a:lvl1pPr>
            <a:lvl2pPr>
              <a:buNone/>
              <a:defRPr sz="1050" b="0">
                <a:solidFill>
                  <a:srgbClr val="4B6070"/>
                </a:solidFill>
              </a:defRPr>
            </a:lvl2pPr>
            <a:lvl3pPr>
              <a:buNone/>
              <a:defRPr sz="1050" b="0">
                <a:solidFill>
                  <a:srgbClr val="4B6070"/>
                </a:solidFill>
              </a:defRPr>
            </a:lvl3pPr>
            <a:lvl4pPr>
              <a:buNone/>
              <a:defRPr sz="1050" b="0">
                <a:solidFill>
                  <a:srgbClr val="4B6070"/>
                </a:solidFill>
              </a:defRPr>
            </a:lvl4pPr>
            <a:lvl5pPr>
              <a:buNone/>
              <a:defRPr sz="1050" b="0">
                <a:solidFill>
                  <a:srgbClr val="4B6070"/>
                </a:solidFill>
              </a:defRPr>
            </a:lvl5pPr>
            <a:lvl6pPr>
              <a:buNone/>
              <a:defRPr sz="1050" b="0">
                <a:solidFill>
                  <a:srgbClr val="4B6070"/>
                </a:solidFill>
              </a:defRPr>
            </a:lvl6pPr>
            <a:lvl7pPr>
              <a:buNone/>
              <a:defRPr sz="1050" b="0">
                <a:solidFill>
                  <a:srgbClr val="4B6070"/>
                </a:solidFill>
              </a:defRPr>
            </a:lvl7pPr>
            <a:lvl8pPr>
              <a:buNone/>
              <a:defRPr sz="1050" b="0">
                <a:solidFill>
                  <a:srgbClr val="4B6070"/>
                </a:solidFill>
              </a:defRPr>
            </a:lvl8pPr>
            <a:lvl9pPr>
              <a:buNone/>
              <a:defRPr sz="1050" b="0">
                <a:solidFill>
                  <a:srgbClr val="4B6070"/>
                </a:solidFill>
              </a:defRPr>
            </a:lvl9pPr>
          </a:lstStyle>
          <a:p xmlns:a="http://schemas.openxmlformats.org/drawingml/2006/main">
            <a:pPr>
              <a:buNone/>
              <a:defRPr sz="1050" b="0">
                <a:solidFill>
                  <a:srgbClr val="4B6070"/>
                </a:solidFill>
              </a:defRPr>
            </a:pPr>
            <a:r>
              <a:rPr sz="1050" b="0">
                <a:solidFill>
                  <a:srgbClr val="4B6070"/>
                </a:solidFill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72073670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2026-10-28T05:22:21.9730000Z</dcterms:created>
  <dcterms:modified xsi:type="dcterms:W3CDTF">2026-10-28T05:22:21.9730000Z</dcterms:modified>
</coreProperties>
</file>