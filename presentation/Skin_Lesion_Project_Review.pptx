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dbf5749614d6d" /><Relationship Type="http://schemas.openxmlformats.org/officeDocument/2006/relationships/extended-properties" Target="/docProps/app.xml" Id="Rb133bf2d72344802" /><Relationship Type="http://schemas.openxmlformats.org/officeDocument/2006/relationships/officeDocument" Target="/ppt/presentation.xml" Id="R74fe4bb2cf5b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c486148b894d8e"/>
  </p:sldMasterIdLst>
  <p:notesMasterIdLst>
    <p:notesMasterId xmlns:r="http://schemas.openxmlformats.org/officeDocument/2006/relationships" r:id="R76c470e2c1c349b1"/>
  </p:notesMasterIdLst>
  <p:sldIdLst>
    <p:sldId xmlns:r="http://schemas.openxmlformats.org/officeDocument/2006/relationships" id="256" r:id="R44d054d80821466e"/>
    <p:sldId xmlns:r="http://schemas.openxmlformats.org/officeDocument/2006/relationships" id="257" r:id="Rabe4d81ecb59455e"/>
    <p:sldId xmlns:r="http://schemas.openxmlformats.org/officeDocument/2006/relationships" id="258" r:id="R4b8b67aab1324225"/>
    <p:sldId xmlns:r="http://schemas.openxmlformats.org/officeDocument/2006/relationships" id="259" r:id="R98fe8a849f6d4b98"/>
    <p:sldId xmlns:r="http://schemas.openxmlformats.org/officeDocument/2006/relationships" id="260" r:id="Rae8b49ec27fb461b"/>
    <p:sldId xmlns:r="http://schemas.openxmlformats.org/officeDocument/2006/relationships" id="261" r:id="Rad258131dc604510"/>
    <p:sldId xmlns:r="http://schemas.openxmlformats.org/officeDocument/2006/relationships" id="262" r:id="R8faef9fc023640ef"/>
    <p:sldId xmlns:r="http://schemas.openxmlformats.org/officeDocument/2006/relationships" id="263" r:id="Rea7d546d6629494d"/>
    <p:sldId xmlns:r="http://schemas.openxmlformats.org/officeDocument/2006/relationships" id="264" r:id="R688324420c374026"/>
    <p:sldId xmlns:r="http://schemas.openxmlformats.org/officeDocument/2006/relationships" id="265" r:id="R4a3a004dd23f4351"/>
    <p:sldId xmlns:r="http://schemas.openxmlformats.org/officeDocument/2006/relationships" id="266" r:id="Rc051ee0788554730"/>
    <p:sldId xmlns:r="http://schemas.openxmlformats.org/officeDocument/2006/relationships" id="267" r:id="R4873dc650f7740ba"/>
    <p:sldId xmlns:r="http://schemas.openxmlformats.org/officeDocument/2006/relationships" id="268" r:id="R1dc5de4ec2cd431e"/>
    <p:sldId xmlns:r="http://schemas.openxmlformats.org/officeDocument/2006/relationships" id="269" r:id="R33d6aab5b15943e2"/>
    <p:sldId xmlns:r="http://schemas.openxmlformats.org/officeDocument/2006/relationships" id="270" r:id="Rd155c11d119a41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8825fa131045b5" /><Relationship Type="http://schemas.openxmlformats.org/officeDocument/2006/relationships/slideMaster" Target="/ppt/slideMasters/slideMaster1.xml" Id="R91c486148b894d8e" /><Relationship Type="http://schemas.openxmlformats.org/officeDocument/2006/relationships/notesMaster" Target="/ppt/notesMasters/notesMaster1.xml" Id="R76c470e2c1c349b1" /><Relationship Type="http://schemas.openxmlformats.org/officeDocument/2006/relationships/presProps" Target="/ppt/presProps.xml" Id="R163c421848a543cb" /><Relationship Type="http://schemas.openxmlformats.org/officeDocument/2006/relationships/tableStyles" Target="/ppt/tableStyles.xml" Id="R9aaa9f3399054b2d" /><Relationship Type="http://schemas.openxmlformats.org/officeDocument/2006/relationships/slide" Target="/ppt/slides/slide1.xml" Id="R44d054d80821466e" /><Relationship Type="http://schemas.openxmlformats.org/officeDocument/2006/relationships/slide" Target="/ppt/slides/slide2.xml" Id="Rabe4d81ecb59455e" /><Relationship Type="http://schemas.openxmlformats.org/officeDocument/2006/relationships/slide" Target="/ppt/slides/slide3.xml" Id="R4b8b67aab1324225" /><Relationship Type="http://schemas.openxmlformats.org/officeDocument/2006/relationships/slide" Target="/ppt/slides/slide4.xml" Id="R98fe8a849f6d4b98" /><Relationship Type="http://schemas.openxmlformats.org/officeDocument/2006/relationships/slide" Target="/ppt/slides/slide5.xml" Id="Rae8b49ec27fb461b" /><Relationship Type="http://schemas.openxmlformats.org/officeDocument/2006/relationships/slide" Target="/ppt/slides/slide6.xml" Id="Rad258131dc604510" /><Relationship Type="http://schemas.openxmlformats.org/officeDocument/2006/relationships/slide" Target="/ppt/slides/slide7.xml" Id="R8faef9fc023640ef" /><Relationship Type="http://schemas.openxmlformats.org/officeDocument/2006/relationships/slide" Target="/ppt/slides/slide8.xml" Id="Rea7d546d6629494d" /><Relationship Type="http://schemas.openxmlformats.org/officeDocument/2006/relationships/slide" Target="/ppt/slides/slide9.xml" Id="R688324420c374026" /><Relationship Type="http://schemas.openxmlformats.org/officeDocument/2006/relationships/slide" Target="/ppt/slides/slide10.xml" Id="R4a3a004dd23f4351" /><Relationship Type="http://schemas.openxmlformats.org/officeDocument/2006/relationships/slide" Target="/ppt/slides/slide11.xml" Id="Rc051ee0788554730" /><Relationship Type="http://schemas.openxmlformats.org/officeDocument/2006/relationships/slide" Target="/ppt/slides/slide12.xml" Id="R4873dc650f7740ba" /><Relationship Type="http://schemas.openxmlformats.org/officeDocument/2006/relationships/slide" Target="/ppt/slides/slide13.xml" Id="R1dc5de4ec2cd431e" /><Relationship Type="http://schemas.openxmlformats.org/officeDocument/2006/relationships/slide" Target="/ppt/slides/slide14.xml" Id="R33d6aab5b15943e2" /><Relationship Type="http://schemas.openxmlformats.org/officeDocument/2006/relationships/slide" Target="/ppt/slides/slide15.xml" Id="Rd155c11d119a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2f1bc24eb54d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ff194a496a4ee3" /><Relationship Type="http://schemas.openxmlformats.org/officeDocument/2006/relationships/notesMaster" Target="/ppt/notesMasters/notesMaster1.xml" Id="R1fc672ba943949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cd2cf5629c4933" /><Relationship Type="http://schemas.openxmlformats.org/officeDocument/2006/relationships/notesMaster" Target="/ppt/notesMasters/notesMaster1.xml" Id="Ra3735790d32d4e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ee68a13884c5d" /><Relationship Type="http://schemas.openxmlformats.org/officeDocument/2006/relationships/notesMaster" Target="/ppt/notesMasters/notesMaster1.xml" Id="R7da4b80cfb3040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b0d3904a944c4" /><Relationship Type="http://schemas.openxmlformats.org/officeDocument/2006/relationships/notesMaster" Target="/ppt/notesMasters/notesMaster1.xml" Id="Rb009a6799068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4b93d695ca4c3e" /><Relationship Type="http://schemas.openxmlformats.org/officeDocument/2006/relationships/notesMaster" Target="/ppt/notesMasters/notesMaster1.xml" Id="Rb06594b9f3924d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549cf7028e4005" /><Relationship Type="http://schemas.openxmlformats.org/officeDocument/2006/relationships/notesMaster" Target="/ppt/notesMasters/notesMaster1.xml" Id="R85972b288abc47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bd0edd41f64c94" /><Relationship Type="http://schemas.openxmlformats.org/officeDocument/2006/relationships/notesMaster" Target="/ppt/notesMasters/notesMaster1.xml" Id="R3950c1a77737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2c582e9d72480c" /><Relationship Type="http://schemas.openxmlformats.org/officeDocument/2006/relationships/notesMaster" Target="/ppt/notesMasters/notesMaster1.xml" Id="R96ebf20e089141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04a86ae38e4cfe" /><Relationship Type="http://schemas.openxmlformats.org/officeDocument/2006/relationships/notesMaster" Target="/ppt/notesMasters/notesMaster1.xml" Id="R2d35dd98d34841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9360f85d14c16" /><Relationship Type="http://schemas.openxmlformats.org/officeDocument/2006/relationships/notesMaster" Target="/ppt/notesMasters/notesMaster1.xml" Id="Rf88975c73f554b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984f0f749c43df" /><Relationship Type="http://schemas.openxmlformats.org/officeDocument/2006/relationships/notesMaster" Target="/ppt/notesMasters/notesMaster1.xml" Id="Ref887b9b8e8149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866771fc7444cf" /><Relationship Type="http://schemas.openxmlformats.org/officeDocument/2006/relationships/notesMaster" Target="/ppt/notesMasters/notesMaster1.xml" Id="Rf27c521ed08b42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16c62bcde542dd" /><Relationship Type="http://schemas.openxmlformats.org/officeDocument/2006/relationships/notesMaster" Target="/ppt/notesMasters/notesMaster1.xml" Id="Rd1b02c5d3dd648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4bc793b6b94dda" /><Relationship Type="http://schemas.openxmlformats.org/officeDocument/2006/relationships/notesMaster" Target="/ppt/notesMasters/notesMaster1.xml" Id="R01f68fe9c8a145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e58e3db8014ef2" /><Relationship Type="http://schemas.openxmlformats.org/officeDocument/2006/relationships/notesMaster" Target="/ppt/notesMasters/notesMaster1.xml" Id="Re6062eecf5b248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README.md. This is a research prototype, not a clinical diagnostic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TRAINING.md. The federated and centralized feature experiments are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Yan et al., https://www.nature.com/articles/s41591-025-03747-y; Mahbod et al., https://pubmed.ncbi.nlm.nih.gov/32268255/; data/reference/research_papers.json. PanDerm published weighted F1 is not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outputs/feature_models/efficientnet_b0/REPORT.md. Official sets do not supply lesion IDs, so cross-set lesion separation cannot be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outputs/feature_models/panderm_large_comparison/REPORT.md. Large uses the authors’ released split, rather than the original internal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git history; TRAINING.md; outputs/feature_models reports; outputs/cnn_baseline/efficientnet_b0_finetuned/protocol.json. This is an approximate sequence of experiment families, not a claim about exact duration. Recorded durations are incomplete and do not support a complete wall-clock timeline.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outputs/feature_models/efficientnet_b0_improved/REPORT.md; outputs/cnn_baseline/efficientnet_b0_finetuned/history.json and protocol.json. Recorded epoch durations sum to approximately 21.8 minutes, excluding setup. Fine-tuning and frozen features are separate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outputs/feature_models/efficientnet_b0/REPORT.md; outputs/feature_models/efficientnet_b0_improved/REPORT.md; outputs/feature_models/efficientnet_b0_specialists/REPORT.md. Different test sets are labeled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https://www.nature.com/articles/s41591-025-03747-y.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outputs/diagnostics/panderm_paper_reference/REPORT.md. Base trained on 7,014 images; Large used 8,207 authors’ released training images. Tests had previously been examined.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outputs/feature_models/panderm_large_refined/REPORT.md; outputs/feature_models/panderm_large_capacity/REPORT.md. Released HAM test contains 1,232 images. Reused test results are exploratory; they are not fresh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config.yaml; src/client/client.py; src/server/strategy.py. Differential privacy accounting covers training-image updates, not a patient-level guarantee. Simulation is not evidence of real multi-hospital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outputs/feature_models/efficientnet_b0_improved/REPORT.md; outputs/feature_models/panderm_large_comparison/REPORT.md; outputs/diagnostics/specialist_audit/REPORT.md; outputs/diagnostics/panderm_paper_audit/REFERENCE_CORRECTION.md.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outputs/diagnostics/panderm_test_adaptation_once/REPORT.md; outputs/diagnostics/six_model_adaptation/REPORT.md; README.md; TRAINING.md. Pretraining overlap with downstream datasets has not been independently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outputs/feature_models/panderm_large_comparison/REPORT.md. The reported official-test score is exploratory after repeated test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91d45368e4f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cd5a5105446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5700db2ad4f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5174f68654c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f2baffb7f40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37942b3fc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62CBC-2D73-4F23-A0D7-73CD4800F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04C42F-AA34-46E2-BB47-E39CA05597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A9F23D-7C1A-40FF-956B-51DC5533A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238B2-78AD-4664-BEB1-DA7F5A4DA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CC1072-0721-4A1C-B23E-63CD05441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629BF0-B04B-432F-961A-ECDBF641B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5D955E-E577-43D6-B166-94189AC18C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A0BC22-F3A1-4346-9175-94D52CBC0C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CC014-5830-4432-AE58-D8145F302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A9A563-C8E8-4289-B84F-E5F98A5D5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07efe38e94a40" /><Relationship Type="http://schemas.openxmlformats.org/officeDocument/2006/relationships/slideLayout" Target="/ppt/slideLayouts/slideLayout1.xml" Id="R19ea1c2af32b47d8" /><Relationship Type="http://schemas.openxmlformats.org/officeDocument/2006/relationships/slideLayout" Target="/ppt/slideLayouts/slideLayout2.xml" Id="R1998ff0193d94f11" /><Relationship Type="http://schemas.openxmlformats.org/officeDocument/2006/relationships/slideLayout" Target="/ppt/slideLayouts/slideLayout3.xml" Id="Ra39dc3e7e74342e9" /><Relationship Type="http://schemas.openxmlformats.org/officeDocument/2006/relationships/slideLayout" Target="/ppt/slideLayouts/slideLayout4.xml" Id="Rba26ac8b4cc94f01" /><Relationship Type="http://schemas.openxmlformats.org/officeDocument/2006/relationships/slideLayout" Target="/ppt/slideLayouts/slideLayout5.xml" Id="R1915069d3fe44a21" /><Relationship Type="http://schemas.openxmlformats.org/officeDocument/2006/relationships/slideLayout" Target="/ppt/slideLayouts/slideLayout6.xml" Id="Rd08360007b384c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a1c2af32b47d8"/>
    <p:sldLayoutId xmlns:r="http://schemas.openxmlformats.org/officeDocument/2006/relationships" id="2147483650" r:id="R1998ff0193d94f11"/>
    <p:sldLayoutId xmlns:r="http://schemas.openxmlformats.org/officeDocument/2006/relationships" id="2147483651" r:id="Ra39dc3e7e74342e9"/>
    <p:sldLayoutId xmlns:r="http://schemas.openxmlformats.org/officeDocument/2006/relationships" id="2147483652" r:id="Rba26ac8b4cc94f01"/>
    <p:sldLayoutId xmlns:r="http://schemas.openxmlformats.org/officeDocument/2006/relationships" id="2147483653" r:id="R1915069d3fe44a21"/>
    <p:sldLayoutId xmlns:r="http://schemas.openxmlformats.org/officeDocument/2006/relationships" id="2147483654" r:id="Rd08360007b384c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d79ee2c9b46f0" /><Relationship Type="http://schemas.openxmlformats.org/officeDocument/2006/relationships/notesSlide" Target="/ppt/notesSlides/notesSlide1.xml" Id="R1aaa787657054f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fabd1d0744b60" /><Relationship Type="http://schemas.openxmlformats.org/officeDocument/2006/relationships/notesSlide" Target="/ppt/notesSlides/notesSlide2.xml" Id="Rfd129736df5b49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45335fd644cfa" /><Relationship Type="http://schemas.openxmlformats.org/officeDocument/2006/relationships/notesSlide" Target="/ppt/notesSlides/notesSlide3.xml" Id="R59f0174fefa3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324ca23d24244" /><Relationship Type="http://schemas.openxmlformats.org/officeDocument/2006/relationships/notesSlide" Target="/ppt/notesSlides/notesSlide4.xml" Id="Refe0b3221266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13e15926a4f38" /><Relationship Type="http://schemas.openxmlformats.org/officeDocument/2006/relationships/notesSlide" Target="/ppt/notesSlides/notesSlide5.xml" Id="Rfa5d172d2ee14c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50d4f924c4c5a" /><Relationship Type="http://schemas.openxmlformats.org/officeDocument/2006/relationships/notesSlide" Target="/ppt/notesSlides/notesSlide6.xml" Id="R6a1e373f1cf34a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ccd1105054523" /><Relationship Type="http://schemas.openxmlformats.org/officeDocument/2006/relationships/notesSlide" Target="/ppt/notesSlides/notesSlide7.xml" Id="Rfb6fd8bcbbc14c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7379c30da41bf" /><Relationship Type="http://schemas.openxmlformats.org/officeDocument/2006/relationships/notesSlide" Target="/ppt/notesSlides/notesSlide8.xml" Id="R7315b7a74a3948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aa9d4fa7f4b6a" /><Relationship Type="http://schemas.openxmlformats.org/officeDocument/2006/relationships/notesSlide" Target="/ppt/notesSlides/notesSlide9.xml" Id="R7b96ecccc88942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25e45ce744699" /><Relationship Type="http://schemas.openxmlformats.org/officeDocument/2006/relationships/notesSlide" Target="/ppt/notesSlides/notesSlide10.xml" Id="Rd98c0ac63f0c4f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4d3034f384853" /><Relationship Type="http://schemas.openxmlformats.org/officeDocument/2006/relationships/notesSlide" Target="/ppt/notesSlides/notesSlide11.xml" Id="Rd5f4782bc0f04f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6e79f01094bc7" /><Relationship Type="http://schemas.openxmlformats.org/officeDocument/2006/relationships/notesSlide" Target="/ppt/notesSlides/notesSlide12.xml" Id="R43ee309b79804b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89e193ea44d6f" /><Relationship Type="http://schemas.openxmlformats.org/officeDocument/2006/relationships/notesSlide" Target="/ppt/notesSlides/notesSlide13.xml" Id="R2471e9335d4247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1ee2d4b0f4602" /><Relationship Type="http://schemas.openxmlformats.org/officeDocument/2006/relationships/notesSlide" Target="/ppt/notesSlides/notesSlide14.xml" Id="R8b570b815c1044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c31e70fe74e48" /><Relationship Type="http://schemas.openxmlformats.org/officeDocument/2006/relationships/notesSlide" Target="/ppt/notesSlides/notesSlide15.xml" Id="R2e85ab8c4dd34b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EB382-32E4-444B-89F1-0008853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  <a:lvl1pPr>
              <a:defRPr sz="3750" b="1">
                <a:solidFill>
                  <a:srgbClr val="FFFFFF"/>
                </a:solidFill>
              </a:defRPr>
            </a:lvl1pPr>
            <a:lvl2pPr>
              <a:defRPr sz="3750" b="1">
                <a:solidFill>
                  <a:srgbClr val="FFFFFF"/>
                </a:solidFill>
              </a:defRPr>
            </a:lvl2pPr>
            <a:lvl3pPr>
              <a:defRPr sz="3750" b="1">
                <a:solidFill>
                  <a:srgbClr val="FFFFFF"/>
                </a:solidFill>
              </a:defRPr>
            </a:lvl3pPr>
            <a:lvl4pPr>
              <a:defRPr sz="3750" b="1">
                <a:solidFill>
                  <a:srgbClr val="FFFFFF"/>
                </a:solidFill>
              </a:defRPr>
            </a:lvl4pPr>
            <a:lvl5pPr>
              <a:defRPr sz="3750" b="1">
                <a:solidFill>
                  <a:srgbClr val="FFFFFF"/>
                </a:solidFill>
              </a:defRPr>
            </a:lvl5pPr>
            <a:lvl6pPr>
              <a:defRPr sz="3750" b="1">
                <a:solidFill>
                  <a:srgbClr val="FFFFFF"/>
                </a:solidFill>
              </a:defRPr>
            </a:lvl6pPr>
            <a:lvl7pPr>
              <a:defRPr sz="3750" b="1">
                <a:solidFill>
                  <a:srgbClr val="FFFFFF"/>
                </a:solidFill>
              </a:defRPr>
            </a:lvl7pPr>
            <a:lvl8pPr>
              <a:defRPr sz="3750" b="1">
                <a:solidFill>
                  <a:srgbClr val="FFFFFF"/>
                </a:solidFill>
              </a:defRPr>
            </a:lvl8pPr>
            <a:lvl9pPr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Skin lesion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A6F20-AD0C-482B-9219-22E6E3F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DE5E4"/>
                </a:solidFill>
              </a:defRPr>
            </a:defPPr>
            <a:lvl1pPr>
              <a:defRPr sz="2175" b="0">
                <a:solidFill>
                  <a:srgbClr val="BDE5E4"/>
                </a:solidFill>
              </a:defRPr>
            </a:lvl1pPr>
            <a:lvl2pPr>
              <a:defRPr sz="2175" b="0">
                <a:solidFill>
                  <a:srgbClr val="BDE5E4"/>
                </a:solidFill>
              </a:defRPr>
            </a:lvl2pPr>
            <a:lvl3pPr>
              <a:defRPr sz="2175" b="0">
                <a:solidFill>
                  <a:srgbClr val="BDE5E4"/>
                </a:solidFill>
              </a:defRPr>
            </a:lvl3pPr>
            <a:lvl4pPr>
              <a:defRPr sz="2175" b="0">
                <a:solidFill>
                  <a:srgbClr val="BDE5E4"/>
                </a:solidFill>
              </a:defRPr>
            </a:lvl4pPr>
            <a:lvl5pPr>
              <a:defRPr sz="2175" b="0">
                <a:solidFill>
                  <a:srgbClr val="BDE5E4"/>
                </a:solidFill>
              </a:defRPr>
            </a:lvl5pPr>
            <a:lvl6pPr>
              <a:defRPr sz="2175" b="0">
                <a:solidFill>
                  <a:srgbClr val="BDE5E4"/>
                </a:solidFill>
              </a:defRPr>
            </a:lvl6pPr>
            <a:lvl7pPr>
              <a:defRPr sz="2175" b="0">
                <a:solidFill>
                  <a:srgbClr val="BDE5E4"/>
                </a:solidFill>
              </a:defRPr>
            </a:lvl7pPr>
            <a:lvl8pPr>
              <a:defRPr sz="2175" b="0">
                <a:solidFill>
                  <a:srgbClr val="BDE5E4"/>
                </a:solidFill>
              </a:defRPr>
            </a:lvl8pPr>
            <a:lvl9pPr>
              <a:defRPr sz="2175" b="0">
                <a:solidFill>
                  <a:srgbClr val="BDE5E4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DE5E4"/>
                </a:solidFill>
              </a:defRPr>
            </a:pPr>
            <a:r>
              <a:rPr sz="2175" b="0">
                <a:solidFill>
                  <a:srgbClr val="BDE5E4"/>
                </a:solidFill>
              </a:rPr>
              <a:t>Project review: models, methods and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B077-8DF5-47D5-9659-E55E4A8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Academic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41177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990A1-740C-4CA5-803C-0851B79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The problem and project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E5A56-0F0D-429D-BE1F-A57C4D5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Skin images contain visual patterns that can help classify seven lesion types.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67C48-414C-4705-909A-D36704A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data is imbalanced, and patient images raise privacy concerns.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10C3B-219F-4E1B-9170-7DD3976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goal: compare image models and explore privacy-preserving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C086C-1E1C-4916-B700-136F85B6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5124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D7FF-7DAC-4980-87C3-29A19B0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Research that shaped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3EAD-7A93-492E-9536-7AFF3E5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PanDerm: a dermatology foundation encoder can transfer to lesion classification with a trained 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5763-4678-4631-9711-5D3B6BF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Multi-scale CNN research motivated looking at images in multiple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0F15A-1BC2-4114-BD6A-E17DC5B4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Published scores use different datasets, splits and metrics, so direct rankings can mislead.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40F0-B7E7-477F-9FBA-FB1E2FD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4241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F42ED-89CD-47B8-8E81-57C845B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Dataset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94ECD-5DDC-4B08-89FD-24B204FF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HAM10000: 10,015 dermoscopic images across seven diagnoses.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43DF-256D-4B10-A645-132DEB2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internal split: 7,014 training, 1,509 validation and 1,492 test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93D7-142B-4DF0-8019-DA94325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Images of the same lesion stay together within these internal splits.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6A2CD-D660-4391-BEA1-0FDCF9A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Separate ISIC sets: 193 validation and 1,512 test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DD2C5-58D9-4B89-9A39-07A77DE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7167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A9ED-6BCF-40A7-B15E-A53774E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Our model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6549A-1B43-4DE8-BE30-06556C2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1   Prepare images and split by lesion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246FD-63BA-44C3-8127-7662D6FD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2   Extract features with a pretrained image 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14AB-FD2E-4CB9-AB95-3521AEB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3   Train and select a classifier using training and validation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CFC09-39D3-496F-9BE6-2985138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4   Evaluate saved models on held-out sets and inspect class-level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2F11E-2184-4B20-8240-C9BB816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0874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81264-DFE5-4557-B3BE-4C08878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Relative training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F417-3253-45D6-A15F-1F2C6F7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Early   Centralized and federated CNN prototype; EfficientNet feature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CD11-EF29-4C37-B9DA-867C359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050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Next   Class balancing, multiple views and lesion-specific classifiers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B1676-7E6E-4EBE-8DBE-A4BC940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289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Then   Frozen PanDerm Base with linear, neural and XGBoost heads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BA48-8BFC-4041-A97D-765BF81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52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Later   PanDerm Large author probe, tuned heads and capacity searches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A636-80B6-4D0D-B20C-6CA6BAEC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Recent   Fine-tuned EfficientNet and diagnostic adaptation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F71C-D0EF-41A0-87A5-732D121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97415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D5CC3-6AB6-4728-B354-7928A511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EfficientNet-B0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7217C-BDAC-4A89-A90A-90A2397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pretrained ImageNet encoder converts each image into reusable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DD3EC-E331-45D9-A86A-B4661714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Compared logistic regression, a neural network and XGBoost.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A3D13-7BF5-4D7A-8DE1-50E734B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Tested class weighting, SMOTE and multi-view image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5C48C-C35A-4022-85D3-69ACDF1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Also trained a separate fine-tuned EfficientNet CNN; its recorded run lasted 15 epochs.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E80F4-CAF9-412F-BB35-E644F26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0260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C9211-08C8-4F9D-8C95-4159FCFF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the EfficientNet experiments showed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A6B82-6EC6-4CB7-8270-69DFE817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Original neural head: 61.6% internal test macro F1.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576E-1B3F-4D27-A082-E10E6579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Improved multi-view linear head: 61.5% macro F1 on the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4008F-89D7-4D9E-8E23-4F37CE0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SMOTE helped some heads but reduced XGBoost macro F1 in the original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091C3-F635-46A9-9FB3-B42A885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Seven specialist classifiers did not beat the improved linear model overall.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081C-25C9-4F1C-A41A-598B03B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4861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8B861-05CF-4418-A139-8FE79B9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PanDerm: why we tested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3C892-CBED-4B59-A796-EB6BE6D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is pretrained for dermatology, while EfficientNet starts with general ImageNet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B4E7B-820F-4030-9E45-7DABC14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froze the encoder and trained small classifiers on its image embeddings.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5559-073D-4FB9-82E5-1E6463F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produces 768 features per image; Large produces 1,024.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214C6-F5CB-475F-8626-B95C7A0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bare encoder cannot predict seven diagnoses without a trained readout.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4BF15-B3A4-4597-8C13-E92F26B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8155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90886-C85B-470F-BD70-D0B1B2C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Base and Large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5A67B-68F3-4705-B4BC-E8037A0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+ neural head: 70.3% macro F1 on the 1,512-image official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BB027-24FC-4C98-9493-724C2AFE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linear head: 73.8% macro F1 on the same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9E188-25EC-4A52-BDDC-10D8325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author-style probe: 71.6% macro F1 on that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A0E0D-8949-448A-A7EF-3A619E2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splits and head selection differ, so this is not an encoder-only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53FF6-5136-4345-80CA-D2B7A3D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340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32E49-2027-4A04-B021-C6B2EE1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Large: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16AEF-CC09-4704-A88F-A0CA568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Author-style probe: 80.98% macro F1 on the released HAM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F6224-C6EC-40D6-A603-3E9F45CF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Smaller neural head (192–64): 81.73% macro F1 on the same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8168E-76E0-4924-925A-AED964D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Linear head led the shown Large models on official-test macro F1: 73.80%.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AFE0-C019-4570-AA80-8B8A838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Wider or more complex heads did not consistently improve every test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D8B4-67E5-49A0-A8F4-CA4C568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1817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F5430-EB38-4306-8CE0-73326CA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Privacy-preserving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E906-2AEB-41E1-B4E4-203D517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federated prototype simulates separate clients that train locally.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D7066-A3D9-475C-BA7B-DC7F5F3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server combines model updates into a shared model using FedAvg or FedProx.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AB98F-F728-46B2-A886-9D37B41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Optional differential privacy adds noise during local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D0045-6DF2-4FE9-98C4-C17DCA3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feature-model results shown here are centralized and do not claim DP.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117A3-E93E-49A7-8625-785B3B3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9487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438E5-C20C-4417-9901-7D55B9F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we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2F63-8C06-4406-8125-394F0AD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Macro F1 matters because it gives rare lesion classes equal weight.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B93F5-6882-4327-8055-C227491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features improved the reported official-test results in our experiments.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7705C-DF2D-4DB9-940E-DF01D53B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Specialists and larger heads can overfit or improve one split while losing on another.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4CDF8-173A-46B5-A3D1-79D7CEA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authors’ published weighted F1 and our macro F1 measure different things.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EA549-CCD0-4E05-8FFA-0B0ADA35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077430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4709-1D13-4BF0-8B6B-814A189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Limitations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835CF-CB0A-42C3-A909-B41C98B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Repeated examination of test sets makes the comparisons exploratory.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C7073-6936-4F97-AAD8-83A23626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Later adaptation used former test images for training; those scores are fitting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F53F-114F-43FF-BE74-5BFFAC26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Evaluate a locked model on a fresh, independent dataset with lesion identifiers.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CF08-3D1B-4047-914E-EB9F64F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 privacy and utility together before claiming a private clinical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D2B78-9C34-47FD-86B4-8334F6E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96886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1FB3F-A977-4653-B358-2F71AA1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Project review: key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F702E-AEB0-4C42-A0E4-A14F2A4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built an end-to-end research workflow for seven-class lesion classification.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A6E6-574D-45C9-BBC4-6E85706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project compared EfficientNet and PanDerm with several classifier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A30E5-5EC9-4683-90A6-B2A3189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Large with a linear head reached 73.8% macro F1 on the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4229-6B17-4814-987A-D78B9D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defRPr sz="1875" b="0">
                <a:solidFill>
                  <a:srgbClr val="10263B"/>
                </a:solidFill>
              </a:defRPr>
            </a:lvl1pPr>
            <a:lvl2pPr>
              <a:defRPr sz="1875" b="0">
                <a:solidFill>
                  <a:srgbClr val="10263B"/>
                </a:solidFill>
              </a:defRPr>
            </a:lvl2pPr>
            <a:lvl3pPr>
              <a:defRPr sz="1875" b="0">
                <a:solidFill>
                  <a:srgbClr val="10263B"/>
                </a:solidFill>
              </a:defRPr>
            </a:lvl3pPr>
            <a:lvl4pPr>
              <a:defRPr sz="1875" b="0">
                <a:solidFill>
                  <a:srgbClr val="10263B"/>
                </a:solidFill>
              </a:defRPr>
            </a:lvl4pPr>
            <a:lvl5pPr>
              <a:defRPr sz="1875" b="0">
                <a:solidFill>
                  <a:srgbClr val="10263B"/>
                </a:solidFill>
              </a:defRPr>
            </a:lvl5pPr>
            <a:lvl6pPr>
              <a:defRPr sz="1875" b="0">
                <a:solidFill>
                  <a:srgbClr val="10263B"/>
                </a:solidFill>
              </a:defRPr>
            </a:lvl6pPr>
            <a:lvl7pPr>
              <a:defRPr sz="1875" b="0">
                <a:solidFill>
                  <a:srgbClr val="10263B"/>
                </a:solidFill>
              </a:defRPr>
            </a:lvl7pPr>
            <a:lvl8pPr>
              <a:defRPr sz="1875" b="0">
                <a:solidFill>
                  <a:srgbClr val="10263B"/>
                </a:solidFill>
              </a:defRPr>
            </a:lvl8pPr>
            <a:lvl9pPr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fresh independent evaluation is needed before any clinical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39420-E650-4B23-914E-FDCD69D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defRPr sz="1050" b="0">
                <a:solidFill>
                  <a:srgbClr val="4B6070"/>
                </a:solidFill>
              </a:defRPr>
            </a:lvl1pPr>
            <a:lvl2pPr>
              <a:defRPr sz="1050" b="0">
                <a:solidFill>
                  <a:srgbClr val="4B6070"/>
                </a:solidFill>
              </a:defRPr>
            </a:lvl2pPr>
            <a:lvl3pPr>
              <a:defRPr sz="1050" b="0">
                <a:solidFill>
                  <a:srgbClr val="4B6070"/>
                </a:solidFill>
              </a:defRPr>
            </a:lvl3pPr>
            <a:lvl4pPr>
              <a:defRPr sz="1050" b="0">
                <a:solidFill>
                  <a:srgbClr val="4B6070"/>
                </a:solidFill>
              </a:defRPr>
            </a:lvl4pPr>
            <a:lvl5pPr>
              <a:defRPr sz="1050" b="0">
                <a:solidFill>
                  <a:srgbClr val="4B6070"/>
                </a:solidFill>
              </a:defRPr>
            </a:lvl5pPr>
            <a:lvl6pPr>
              <a:defRPr sz="1050" b="0">
                <a:solidFill>
                  <a:srgbClr val="4B6070"/>
                </a:solidFill>
              </a:defRPr>
            </a:lvl6pPr>
            <a:lvl7pPr>
              <a:defRPr sz="1050" b="0">
                <a:solidFill>
                  <a:srgbClr val="4B6070"/>
                </a:solidFill>
              </a:defRPr>
            </a:lvl7pPr>
            <a:lvl8pPr>
              <a:defRPr sz="1050" b="0">
                <a:solidFill>
                  <a:srgbClr val="4B6070"/>
                </a:solidFill>
              </a:defRPr>
            </a:lvl8pPr>
            <a:lvl9pPr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0736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2026-10-28T05:15:06.5660000Z</dcterms:created>
  <dcterms:modified xsi:type="dcterms:W3CDTF">2026-10-28T05:15:06.5660000Z</dcterms:modified>
</coreProperties>
</file>