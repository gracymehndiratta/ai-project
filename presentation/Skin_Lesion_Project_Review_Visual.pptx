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116710e4654082" /><Relationship Type="http://schemas.openxmlformats.org/officeDocument/2006/relationships/extended-properties" Target="/docProps/app.xml" Id="R3c391254cb664871" /><Relationship Type="http://schemas.openxmlformats.org/officeDocument/2006/relationships/officeDocument" Target="/ppt/presentation.xml" Id="Rf61705e078d948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1ded97bf6a4432"/>
  </p:sldMasterIdLst>
  <p:notesMasterIdLst>
    <p:notesMasterId xmlns:r="http://schemas.openxmlformats.org/officeDocument/2006/relationships" r:id="R7ab4fef6a49f4980"/>
  </p:notesMasterIdLst>
  <p:sldIdLst>
    <p:sldId xmlns:r="http://schemas.openxmlformats.org/officeDocument/2006/relationships" id="256" r:id="R38b9cb5bd2074bd0"/>
    <p:sldId xmlns:r="http://schemas.openxmlformats.org/officeDocument/2006/relationships" id="257" r:id="R0a0aad3752fc49a1"/>
    <p:sldId xmlns:r="http://schemas.openxmlformats.org/officeDocument/2006/relationships" id="258" r:id="R2dfb44c614cd4716"/>
    <p:sldId xmlns:r="http://schemas.openxmlformats.org/officeDocument/2006/relationships" id="259" r:id="R2cc62e204c0447a0"/>
    <p:sldId xmlns:r="http://schemas.openxmlformats.org/officeDocument/2006/relationships" id="260" r:id="R6bed00c167064141"/>
    <p:sldId xmlns:r="http://schemas.openxmlformats.org/officeDocument/2006/relationships" id="261" r:id="R1ef46647a68d4eb9"/>
    <p:sldId xmlns:r="http://schemas.openxmlformats.org/officeDocument/2006/relationships" id="262" r:id="R1cd96b58fe0a4dee"/>
    <p:sldId xmlns:r="http://schemas.openxmlformats.org/officeDocument/2006/relationships" id="263" r:id="R8f14d29f839f4dab"/>
    <p:sldId xmlns:r="http://schemas.openxmlformats.org/officeDocument/2006/relationships" id="264" r:id="R0b4521b324474f36"/>
    <p:sldId xmlns:r="http://schemas.openxmlformats.org/officeDocument/2006/relationships" id="265" r:id="R519126f43afc4b22"/>
    <p:sldId xmlns:r="http://schemas.openxmlformats.org/officeDocument/2006/relationships" id="266" r:id="R4456fbe743cd4792"/>
    <p:sldId xmlns:r="http://schemas.openxmlformats.org/officeDocument/2006/relationships" id="267" r:id="R1fd5cbcea1bb49a7"/>
    <p:sldId xmlns:r="http://schemas.openxmlformats.org/officeDocument/2006/relationships" id="268" r:id="Rc190b94cc11c4586"/>
    <p:sldId xmlns:r="http://schemas.openxmlformats.org/officeDocument/2006/relationships" id="269" r:id="Rc00adc91c1fd4257"/>
    <p:sldId xmlns:r="http://schemas.openxmlformats.org/officeDocument/2006/relationships" id="270" r:id="Rf732a0c11c38455b"/>
    <p:sldId xmlns:r="http://schemas.openxmlformats.org/officeDocument/2006/relationships" id="271" r:id="R4f0926fa0d794433"/>
    <p:sldId xmlns:r="http://schemas.openxmlformats.org/officeDocument/2006/relationships" id="272" r:id="R63d847c7f6a94bab"/>
    <p:sldId xmlns:r="http://schemas.openxmlformats.org/officeDocument/2006/relationships" id="273" r:id="R13118220cb214e32"/>
    <p:sldId xmlns:r="http://schemas.openxmlformats.org/officeDocument/2006/relationships" id="274" r:id="Rda93df1b89f44c31"/>
    <p:sldId xmlns:r="http://schemas.openxmlformats.org/officeDocument/2006/relationships" id="275" r:id="R46c6c27ebb9448cd"/>
    <p:sldId xmlns:r="http://schemas.openxmlformats.org/officeDocument/2006/relationships" id="276" r:id="R30c757ae0f6747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ae17c20cfb42c7" /><Relationship Type="http://schemas.openxmlformats.org/officeDocument/2006/relationships/slideMaster" Target="/ppt/slideMasters/slideMaster1.xml" Id="R691ded97bf6a4432" /><Relationship Type="http://schemas.openxmlformats.org/officeDocument/2006/relationships/notesMaster" Target="/ppt/notesMasters/notesMaster1.xml" Id="R7ab4fef6a49f4980" /><Relationship Type="http://schemas.openxmlformats.org/officeDocument/2006/relationships/presProps" Target="/ppt/presProps.xml" Id="Rc46cd01b6243439b" /><Relationship Type="http://schemas.openxmlformats.org/officeDocument/2006/relationships/tableStyles" Target="/ppt/tableStyles.xml" Id="Rae114f78aa614d4f" /><Relationship Type="http://schemas.openxmlformats.org/officeDocument/2006/relationships/slide" Target="/ppt/slides/slide1.xml" Id="R38b9cb5bd2074bd0" /><Relationship Type="http://schemas.openxmlformats.org/officeDocument/2006/relationships/slide" Target="/ppt/slides/slide2.xml" Id="R0a0aad3752fc49a1" /><Relationship Type="http://schemas.openxmlformats.org/officeDocument/2006/relationships/slide" Target="/ppt/slides/slide3.xml" Id="R2dfb44c614cd4716" /><Relationship Type="http://schemas.openxmlformats.org/officeDocument/2006/relationships/slide" Target="/ppt/slides/slide4.xml" Id="R2cc62e204c0447a0" /><Relationship Type="http://schemas.openxmlformats.org/officeDocument/2006/relationships/slide" Target="/ppt/slides/slide5.xml" Id="R6bed00c167064141" /><Relationship Type="http://schemas.openxmlformats.org/officeDocument/2006/relationships/slide" Target="/ppt/slides/slide6.xml" Id="R1ef46647a68d4eb9" /><Relationship Type="http://schemas.openxmlformats.org/officeDocument/2006/relationships/slide" Target="/ppt/slides/slide7.xml" Id="R1cd96b58fe0a4dee" /><Relationship Type="http://schemas.openxmlformats.org/officeDocument/2006/relationships/slide" Target="/ppt/slides/slide8.xml" Id="R8f14d29f839f4dab" /><Relationship Type="http://schemas.openxmlformats.org/officeDocument/2006/relationships/slide" Target="/ppt/slides/slide9.xml" Id="R0b4521b324474f36" /><Relationship Type="http://schemas.openxmlformats.org/officeDocument/2006/relationships/slide" Target="/ppt/slides/slide10.xml" Id="R519126f43afc4b22" /><Relationship Type="http://schemas.openxmlformats.org/officeDocument/2006/relationships/slide" Target="/ppt/slides/slide11.xml" Id="R4456fbe743cd4792" /><Relationship Type="http://schemas.openxmlformats.org/officeDocument/2006/relationships/slide" Target="/ppt/slides/slide12.xml" Id="R1fd5cbcea1bb49a7" /><Relationship Type="http://schemas.openxmlformats.org/officeDocument/2006/relationships/slide" Target="/ppt/slides/slide13.xml" Id="Rc190b94cc11c4586" /><Relationship Type="http://schemas.openxmlformats.org/officeDocument/2006/relationships/slide" Target="/ppt/slides/slide14.xml" Id="Rc00adc91c1fd4257" /><Relationship Type="http://schemas.openxmlformats.org/officeDocument/2006/relationships/slide" Target="/ppt/slides/slide15.xml" Id="Rf732a0c11c38455b" /><Relationship Type="http://schemas.openxmlformats.org/officeDocument/2006/relationships/slide" Target="/ppt/slides/slide16.xml" Id="R4f0926fa0d794433" /><Relationship Type="http://schemas.openxmlformats.org/officeDocument/2006/relationships/slide" Target="/ppt/slides/slide17.xml" Id="R63d847c7f6a94bab" /><Relationship Type="http://schemas.openxmlformats.org/officeDocument/2006/relationships/slide" Target="/ppt/slides/slide18.xml" Id="R13118220cb214e32" /><Relationship Type="http://schemas.openxmlformats.org/officeDocument/2006/relationships/slide" Target="/ppt/slides/slide19.xml" Id="Rda93df1b89f44c31" /><Relationship Type="http://schemas.openxmlformats.org/officeDocument/2006/relationships/slide" Target="/ppt/slides/slide20.xml" Id="R46c6c27ebb9448cd" /><Relationship Type="http://schemas.openxmlformats.org/officeDocument/2006/relationships/slide" Target="/ppt/slides/slide21.xml" Id="R30c757ae0f6747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937d2898634e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b27d6685754e98" /><Relationship Type="http://schemas.openxmlformats.org/officeDocument/2006/relationships/notesMaster" Target="/ppt/notesMasters/notesMaster1.xml" Id="Rd7ce7d632c614c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613acd101c420a" /><Relationship Type="http://schemas.openxmlformats.org/officeDocument/2006/relationships/notesMaster" Target="/ppt/notesMasters/notesMaster1.xml" Id="R88c7ca7ceb7046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98d7b8bdb648c3" /><Relationship Type="http://schemas.openxmlformats.org/officeDocument/2006/relationships/notesMaster" Target="/ppt/notesMasters/notesMaster1.xml" Id="R69f190f2e0f142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b589e460a34343" /><Relationship Type="http://schemas.openxmlformats.org/officeDocument/2006/relationships/notesMaster" Target="/ppt/notesMasters/notesMaster1.xml" Id="Reca2ef8806cb46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5157b14e2c4b39" /><Relationship Type="http://schemas.openxmlformats.org/officeDocument/2006/relationships/notesMaster" Target="/ppt/notesMasters/notesMaster1.xml" Id="Rf6c30cc33ca84f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886b78f7244044" /><Relationship Type="http://schemas.openxmlformats.org/officeDocument/2006/relationships/notesMaster" Target="/ppt/notesMasters/notesMaster1.xml" Id="Rdb337d2822304c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f1bff2bb3049cf" /><Relationship Type="http://schemas.openxmlformats.org/officeDocument/2006/relationships/notesMaster" Target="/ppt/notesMasters/notesMaster1.xml" Id="Rcc3696020d5848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d5256ac0714bac" /><Relationship Type="http://schemas.openxmlformats.org/officeDocument/2006/relationships/notesMaster" Target="/ppt/notesMasters/notesMaster1.xml" Id="R7e271b16e78c4a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7dbaf7b77448c0" /><Relationship Type="http://schemas.openxmlformats.org/officeDocument/2006/relationships/notesMaster" Target="/ppt/notesMasters/notesMaster1.xml" Id="Rcb995267a2db47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5299d076ad480e" /><Relationship Type="http://schemas.openxmlformats.org/officeDocument/2006/relationships/notesMaster" Target="/ppt/notesMasters/notesMaster1.xml" Id="R0624e35cac5047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114ae03aeb415e" /><Relationship Type="http://schemas.openxmlformats.org/officeDocument/2006/relationships/notesMaster" Target="/ppt/notesMasters/notesMaster1.xml" Id="R8d9631c885b847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9f365ac2db4430" /><Relationship Type="http://schemas.openxmlformats.org/officeDocument/2006/relationships/notesMaster" Target="/ppt/notesMasters/notesMaster1.xml" Id="Reccefeb9ede24d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80c35aceea4e8e" /><Relationship Type="http://schemas.openxmlformats.org/officeDocument/2006/relationships/notesMaster" Target="/ppt/notesMasters/notesMaster1.xml" Id="R7a50d277ef2840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25c7896a8e4758" /><Relationship Type="http://schemas.openxmlformats.org/officeDocument/2006/relationships/notesMaster" Target="/ppt/notesMasters/notesMaster1.xml" Id="R78cc2e7dd3254f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d63f64d78e4f0d" /><Relationship Type="http://schemas.openxmlformats.org/officeDocument/2006/relationships/notesMaster" Target="/ppt/notesMasters/notesMaster1.xml" Id="R2d654beb3cb841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9fab7937c74c84" /><Relationship Type="http://schemas.openxmlformats.org/officeDocument/2006/relationships/notesMaster" Target="/ppt/notesMasters/notesMaster1.xml" Id="R9611e52d365b4d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8925cc1ab9a4051" /><Relationship Type="http://schemas.openxmlformats.org/officeDocument/2006/relationships/notesMaster" Target="/ppt/notesMasters/notesMaster1.xml" Id="R75ab97bdf92b41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333710b0cf4721" /><Relationship Type="http://schemas.openxmlformats.org/officeDocument/2006/relationships/notesMaster" Target="/ppt/notesMasters/notesMaster1.xml" Id="R7fe2d94b19084d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bf3c910c6e414b" /><Relationship Type="http://schemas.openxmlformats.org/officeDocument/2006/relationships/notesMaster" Target="/ppt/notesMasters/notesMaster1.xml" Id="R5b8e92adf9544c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43eb2331fd14558" /><Relationship Type="http://schemas.openxmlformats.org/officeDocument/2006/relationships/notesMaster" Target="/ppt/notesMasters/notesMaster1.xml" Id="Rc3e61089c49b499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850b5c00ad4a82" /><Relationship Type="http://schemas.openxmlformats.org/officeDocument/2006/relationships/notesMaster" Target="/ppt/notesMasters/notesMaster1.xml" Id="R8c17e60703964b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scope: README.md. This is a research prototype, not a clinical diagnostic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TRAINING.md. The federated and centralized feature experiments are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Yan et al., https://www.nature.com/articles/s41591-025-03747-y; Mahbod et al., https://pubmed.ncbi.nlm.nih.gov/32268255/; data/reference/research_papers.json. PanDerm published weighted F1 is not macro F1.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outputs/feature_models/efficientnet_b0/REPORT.md. Official sets do not supply lesion IDs, so cross-set lesion separation cannot be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Examples from data/raw/images/ISIC_0024306.jpg, ISIC_0024307.jpg and ISIC_0024308.jpg. Images come from HAM10000; examples are illustrative and are not shown as a diagnosis. Dataset citation: https://doi.org/10.1038/sdata.2018.161.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outputs/feature_models/panderm_large_comparison/REPORT.md. Large uses the authors’ released split, rather than the original internal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src/models/panderm.py; outputs/feature_models/panderm_large_comparison/REPORT.md. Feature dimensions describe the single-view encoder output. Improved EfficientNet concatenates canonical and averaged full-image views, producing 2,560 features. The bare encoder has no seven-class head.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git history; TRAINING.md; outputs/feature_models reports; outputs/cnn_baseline/efficientnet_b0_finetuned/protocol.json. This is an approximate sequence of experiment families, not a claim about exact duration. Recorded durations are incomplete and do not support a complete wall-clock timeline.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outputs/feature_models/efficientnet_b0_improved/REPORT.md; outputs/cnn_baseline/efficientnet_b0_finetuned/history.json and protocol.json. Recorded epoch durations sum to approximately 21.8 minutes, excluding setup. Fine-tuning and frozen features are separate experiments.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TRAINING.md; outputs/cnn_baseline/efficientnet_b0_finetuned/protocol.json and REPORT.md. The CNN uses ImageNet V1 weights; the fine-tuning run uses cross-entropy, class weights, augmentation, AdamW, and a 7-class linear head. Stopped after 15 epochs; best epoch selected on validation macro F1.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outputs/feature_models/efficientnet_b0/REPORT.md; outputs/feature_models/efficientnet_b0_improved/REPORT.md; outputs/feature_models/efficientnet_b0_specialists/REPORT.md. Different test sets are labeled explicitly.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outputs/feature_models/panderm_base_comparison/REPORT.md; outputs/feature_models/panderm_large_comparison/REPORT.md; https://www.nature.com/articles/s41591-025-03747-y.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outputs/cnn_baseline/efficientnet_b0_finetuned/REPORT.md. The model uses 7,014 training images; selected checkpoint epoch 11. Official test macro F1 .7178, accuracy .8161. Official test lesion identifiers are unavailable. This comparison is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src/models/panderm.py; outputs/feature_models/panderm_base_comparison/REPORT.md; outputs/feature_models/panderm_large_comparison/REPORT.md; https://www.nature.com/articles/s41591-025-03747-y. Both use patch16 224-pixel vision transformers. The Large and Base runs use different training splits, so results do not isolate the encoder.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outputs/feature_models/panderm_base_comparison/REPORT.md; outputs/feature_models/panderm_large_comparison/REPORT.md; outputs/diagnostics/panderm_paper_reference/REPORT.md. Base trained on 7,014 images; Large used 8,207 authors’ released training images. Tests had previously been examined.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outputs/feature_models/panderm_large_refined/REPORT.md; outputs/feature_models/panderm_large_capacity/REPORT.md. Released HAM test contains 1,232 images. Reused test results are exploratory; they are not fresh independent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config.yaml; src/client/client.py; src/server/strategy.py. Differential privacy accounting covers training-image updates, not a patient-level guarantee. Simulation is not evidence of real multi-hospital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src/client/client.py; src/server/strategy.py. This is a simulation; the feature-model results shown are centralized. FedProx optionally limits local drift. Differential privacy accounting concerns training-image updates, not patient-level privacy. The arrows summarize a repeated communication cycle; global model returns to clients each round.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outputs/feature_models/efficientnet_b0_improved/REPORT.md; outputs/feature_models/panderm_large_comparison/REPORT.md; outputs/diagnostics/specialist_audit/REPORT.md; outputs/diagnostics/panderm_paper_audit/REFERENCE_CORRECTION.md.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outputs/diagnostics/panderm_test_adaptation_once/REPORT.md; outputs/diagnostics/six_model_adaptation/REPORT.md; README.md; TRAINING.md. Pretraining overlap with downstream datasets has not been independently excluded.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outputs/feature_models/panderm_large_comparison/REPORT.md. The reported official-test score is exploratory after repeated test inspection.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815fa16d445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9dff430154f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9e60c9ce7d46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88e6ac7244e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710acfe0742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1004aed66344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462CBC-2D73-4F23-A0D7-73CD4800FB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04C42F-AA34-46E2-BB47-E39CA05597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A9F23D-7C1A-40FF-956B-51DC5533A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C238B2-78AD-4664-BEB1-DA7F5A4DA9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CC1072-0721-4A1C-B23E-63CD054412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629BF0-B04B-432F-961A-ECDBF641B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5D955E-E577-43D6-B166-94189AC18C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FA0BC22-F3A1-4346-9175-94D52CBC0C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0CC014-5830-4432-AE58-D8145F302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A9A563-C8E8-4289-B84F-E5F98A5D5B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2e5f30577f4721" /><Relationship Type="http://schemas.openxmlformats.org/officeDocument/2006/relationships/slideLayout" Target="/ppt/slideLayouts/slideLayout1.xml" Id="R42646fb59dd94ef5" /><Relationship Type="http://schemas.openxmlformats.org/officeDocument/2006/relationships/slideLayout" Target="/ppt/slideLayouts/slideLayout2.xml" Id="R9fe565391e2c4cd8" /><Relationship Type="http://schemas.openxmlformats.org/officeDocument/2006/relationships/slideLayout" Target="/ppt/slideLayouts/slideLayout3.xml" Id="R171d922067744dc2" /><Relationship Type="http://schemas.openxmlformats.org/officeDocument/2006/relationships/slideLayout" Target="/ppt/slideLayouts/slideLayout4.xml" Id="R67fbd9d3a7194d46" /><Relationship Type="http://schemas.openxmlformats.org/officeDocument/2006/relationships/slideLayout" Target="/ppt/slideLayouts/slideLayout5.xml" Id="Re8141836a91e4c44" /><Relationship Type="http://schemas.openxmlformats.org/officeDocument/2006/relationships/slideLayout" Target="/ppt/slideLayouts/slideLayout6.xml" Id="R11995932421f4a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646fb59dd94ef5"/>
    <p:sldLayoutId xmlns:r="http://schemas.openxmlformats.org/officeDocument/2006/relationships" id="2147483650" r:id="R9fe565391e2c4cd8"/>
    <p:sldLayoutId xmlns:r="http://schemas.openxmlformats.org/officeDocument/2006/relationships" id="2147483651" r:id="R171d922067744dc2"/>
    <p:sldLayoutId xmlns:r="http://schemas.openxmlformats.org/officeDocument/2006/relationships" id="2147483652" r:id="R67fbd9d3a7194d46"/>
    <p:sldLayoutId xmlns:r="http://schemas.openxmlformats.org/officeDocument/2006/relationships" id="2147483653" r:id="Re8141836a91e4c44"/>
    <p:sldLayoutId xmlns:r="http://schemas.openxmlformats.org/officeDocument/2006/relationships" id="2147483654" r:id="R11995932421f4a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d5a6583ca54bb2" /><Relationship Type="http://schemas.openxmlformats.org/officeDocument/2006/relationships/notesSlide" Target="/ppt/notesSlides/notesSlide1.xml" Id="Rd12e8fa4bbc440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f849d607414dfd" /><Relationship Type="http://schemas.openxmlformats.org/officeDocument/2006/relationships/notesSlide" Target="/ppt/notesSlides/notesSlide2.xml" Id="Re6097d0621584c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9963136be94108" /><Relationship Type="http://schemas.openxmlformats.org/officeDocument/2006/relationships/notesSlide" Target="/ppt/notesSlides/notesSlide3.xml" Id="R74230fa74e5949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17fe7d09649e9" /><Relationship Type="http://schemas.openxmlformats.org/officeDocument/2006/relationships/notesSlide" Target="/ppt/notesSlides/notesSlide4.xml" Id="R82cd229a55f641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29a169ec8499b" /><Relationship Type="http://schemas.openxmlformats.org/officeDocument/2006/relationships/image" Target="/ppt/media/image.jpeg" Id="R5aece861fb7342e1" /><Relationship Type="http://schemas.openxmlformats.org/officeDocument/2006/relationships/image" Target="/ppt/media/image2.jpeg" Id="R9cdc5c49bb8a482b" /><Relationship Type="http://schemas.openxmlformats.org/officeDocument/2006/relationships/image" Target="/ppt/media/image3.jpeg" Id="Re8f10407af9942ed" /><Relationship Type="http://schemas.openxmlformats.org/officeDocument/2006/relationships/notesSlide" Target="/ppt/notesSlides/notesSlide5.xml" Id="Rd6d2f9efae834a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490b956ab94e7f" /><Relationship Type="http://schemas.openxmlformats.org/officeDocument/2006/relationships/notesSlide" Target="/ppt/notesSlides/notesSlide6.xml" Id="Rc06e971427d742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68278a83348a6" /><Relationship Type="http://schemas.openxmlformats.org/officeDocument/2006/relationships/notesSlide" Target="/ppt/notesSlides/notesSlide7.xml" Id="R71299749020140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b1677cc054ebc" /><Relationship Type="http://schemas.openxmlformats.org/officeDocument/2006/relationships/notesSlide" Target="/ppt/notesSlides/notesSlide8.xml" Id="R8696a2ad47974d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5f6f0031224cce" /><Relationship Type="http://schemas.openxmlformats.org/officeDocument/2006/relationships/notesSlide" Target="/ppt/notesSlides/notesSlide9.xml" Id="Rf8836a63ca0943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7838832f8431b" /><Relationship Type="http://schemas.openxmlformats.org/officeDocument/2006/relationships/notesSlide" Target="/ppt/notesSlides/notesSlide10.xml" Id="R5485c87ba5d34b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9a6971def44ee6" /><Relationship Type="http://schemas.openxmlformats.org/officeDocument/2006/relationships/notesSlide" Target="/ppt/notesSlides/notesSlide11.xml" Id="R497b6970b28343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279bac2fb4d9f" /><Relationship Type="http://schemas.openxmlformats.org/officeDocument/2006/relationships/notesSlide" Target="/ppt/notesSlides/notesSlide12.xml" Id="R291a165179684c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8ea7eb75a0417c" /><Relationship Type="http://schemas.openxmlformats.org/officeDocument/2006/relationships/notesSlide" Target="/ppt/notesSlides/notesSlide13.xml" Id="Re05c9576822643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414fb870b4cb5" /><Relationship Type="http://schemas.openxmlformats.org/officeDocument/2006/relationships/notesSlide" Target="/ppt/notesSlides/notesSlide14.xml" Id="R1b8fbbcbc6b84d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a2521ba19474b" /><Relationship Type="http://schemas.openxmlformats.org/officeDocument/2006/relationships/notesSlide" Target="/ppt/notesSlides/notesSlide15.xml" Id="R24de970522f345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0c0b705eb4807" /><Relationship Type="http://schemas.openxmlformats.org/officeDocument/2006/relationships/notesSlide" Target="/ppt/notesSlides/notesSlide16.xml" Id="R7e50ce7b0f9d447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11b0e55130495c" /><Relationship Type="http://schemas.openxmlformats.org/officeDocument/2006/relationships/notesSlide" Target="/ppt/notesSlides/notesSlide17.xml" Id="Re7dbfbff8edf47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c90e3d71a42d9" /><Relationship Type="http://schemas.openxmlformats.org/officeDocument/2006/relationships/notesSlide" Target="/ppt/notesSlides/notesSlide18.xml" Id="R13a10e476f1147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878feccd2f4ffe" /><Relationship Type="http://schemas.openxmlformats.org/officeDocument/2006/relationships/notesSlide" Target="/ppt/notesSlides/notesSlide19.xml" Id="Rc5217e3e10874e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8e965efa4e46f3" /><Relationship Type="http://schemas.openxmlformats.org/officeDocument/2006/relationships/notesSlide" Target="/ppt/notesSlides/notesSlide20.xml" Id="R9d77a9850ff04ea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7337eebcf4eed" /><Relationship Type="http://schemas.openxmlformats.org/officeDocument/2006/relationships/notesSlide" Target="/ppt/notesSlides/notesSlide21.xml" Id="Ra656fa150e6347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EB382-32E4-444B-89F1-00088536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FFFF"/>
                </a:solidFill>
              </a:defRPr>
            </a:defPPr>
            <a:lvl1pPr>
              <a:buNone/>
              <a:defRPr sz="3750" b="1">
                <a:solidFill>
                  <a:srgbClr val="FFFFFF"/>
                </a:solidFill>
              </a:defRPr>
            </a:lvl1pPr>
            <a:lvl2pPr>
              <a:buNone/>
              <a:defRPr sz="3750" b="1">
                <a:solidFill>
                  <a:srgbClr val="FFFFFF"/>
                </a:solidFill>
              </a:defRPr>
            </a:lvl2pPr>
            <a:lvl3pPr>
              <a:buNone/>
              <a:defRPr sz="3750" b="1">
                <a:solidFill>
                  <a:srgbClr val="FFFFFF"/>
                </a:solidFill>
              </a:defRPr>
            </a:lvl3pPr>
            <a:lvl4pPr>
              <a:buNone/>
              <a:defRPr sz="3750" b="1">
                <a:solidFill>
                  <a:srgbClr val="FFFFFF"/>
                </a:solidFill>
              </a:defRPr>
            </a:lvl4pPr>
            <a:lvl5pPr>
              <a:buNone/>
              <a:defRPr sz="3750" b="1">
                <a:solidFill>
                  <a:srgbClr val="FFFFFF"/>
                </a:solidFill>
              </a:defRPr>
            </a:lvl5pPr>
            <a:lvl6pPr>
              <a:buNone/>
              <a:defRPr sz="3750" b="1">
                <a:solidFill>
                  <a:srgbClr val="FFFFFF"/>
                </a:solidFill>
              </a:defRPr>
            </a:lvl6pPr>
            <a:lvl7pPr>
              <a:buNone/>
              <a:defRPr sz="3750" b="1">
                <a:solidFill>
                  <a:srgbClr val="FFFFFF"/>
                </a:solidFill>
              </a:defRPr>
            </a:lvl7pPr>
            <a:lvl8pPr>
              <a:buNone/>
              <a:defRPr sz="3750" b="1">
                <a:solidFill>
                  <a:srgbClr val="FFFFFF"/>
                </a:solidFill>
              </a:defRPr>
            </a:lvl8pPr>
            <a:lvl9pPr>
              <a:buNone/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Skin lesion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A6F20-AD0C-482B-9219-22E6E3F0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BDE5E4"/>
                </a:solidFill>
              </a:defRPr>
            </a:defPPr>
            <a:lvl1pPr>
              <a:buNone/>
              <a:defRPr sz="2175" b="0">
                <a:solidFill>
                  <a:srgbClr val="BDE5E4"/>
                </a:solidFill>
              </a:defRPr>
            </a:lvl1pPr>
            <a:lvl2pPr>
              <a:buNone/>
              <a:defRPr sz="2175" b="0">
                <a:solidFill>
                  <a:srgbClr val="BDE5E4"/>
                </a:solidFill>
              </a:defRPr>
            </a:lvl2pPr>
            <a:lvl3pPr>
              <a:buNone/>
              <a:defRPr sz="2175" b="0">
                <a:solidFill>
                  <a:srgbClr val="BDE5E4"/>
                </a:solidFill>
              </a:defRPr>
            </a:lvl3pPr>
            <a:lvl4pPr>
              <a:buNone/>
              <a:defRPr sz="2175" b="0">
                <a:solidFill>
                  <a:srgbClr val="BDE5E4"/>
                </a:solidFill>
              </a:defRPr>
            </a:lvl4pPr>
            <a:lvl5pPr>
              <a:buNone/>
              <a:defRPr sz="2175" b="0">
                <a:solidFill>
                  <a:srgbClr val="BDE5E4"/>
                </a:solidFill>
              </a:defRPr>
            </a:lvl5pPr>
            <a:lvl6pPr>
              <a:buNone/>
              <a:defRPr sz="2175" b="0">
                <a:solidFill>
                  <a:srgbClr val="BDE5E4"/>
                </a:solidFill>
              </a:defRPr>
            </a:lvl6pPr>
            <a:lvl7pPr>
              <a:buNone/>
              <a:defRPr sz="2175" b="0">
                <a:solidFill>
                  <a:srgbClr val="BDE5E4"/>
                </a:solidFill>
              </a:defRPr>
            </a:lvl7pPr>
            <a:lvl8pPr>
              <a:buNone/>
              <a:defRPr sz="2175" b="0">
                <a:solidFill>
                  <a:srgbClr val="BDE5E4"/>
                </a:solidFill>
              </a:defRPr>
            </a:lvl8pPr>
            <a:lvl9pPr>
              <a:buNone/>
              <a:defRPr sz="2175" b="0">
                <a:solidFill>
                  <a:srgbClr val="BDE5E4"/>
                </a:solidFill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BDE5E4"/>
                </a:solidFill>
              </a:defRPr>
            </a:pPr>
            <a:r>
              <a:rPr sz="2175" b="0">
                <a:solidFill>
                  <a:srgbClr val="BDE5E4"/>
                </a:solidFill>
              </a:rPr>
              <a:t>Project review: models, methods and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0B077-8DF5-47D5-9659-E55E4A83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  <a:lvl1pPr>
              <a:buNone/>
              <a:defRPr sz="1500" b="0">
                <a:solidFill>
                  <a:srgbClr val="FFFFFF"/>
                </a:solidFill>
              </a:defRPr>
            </a:lvl1pPr>
            <a:lvl2pPr>
              <a:buNone/>
              <a:defRPr sz="1500" b="0">
                <a:solidFill>
                  <a:srgbClr val="FFFFFF"/>
                </a:solidFill>
              </a:defRPr>
            </a:lvl2pPr>
            <a:lvl3pPr>
              <a:buNone/>
              <a:defRPr sz="1500" b="0">
                <a:solidFill>
                  <a:srgbClr val="FFFFFF"/>
                </a:solidFill>
              </a:defRPr>
            </a:lvl3pPr>
            <a:lvl4pPr>
              <a:buNone/>
              <a:defRPr sz="1500" b="0">
                <a:solidFill>
                  <a:srgbClr val="FFFFFF"/>
                </a:solidFill>
              </a:defRPr>
            </a:lvl4pPr>
            <a:lvl5pPr>
              <a:buNone/>
              <a:defRPr sz="1500" b="0">
                <a:solidFill>
                  <a:srgbClr val="FFFFFF"/>
                </a:solidFill>
              </a:defRPr>
            </a:lvl5pPr>
            <a:lvl6pPr>
              <a:buNone/>
              <a:defRPr sz="1500" b="0">
                <a:solidFill>
                  <a:srgbClr val="FFFFFF"/>
                </a:solidFill>
              </a:defRPr>
            </a:lvl6pPr>
            <a:lvl7pPr>
              <a:buNone/>
              <a:defRPr sz="1500" b="0">
                <a:solidFill>
                  <a:srgbClr val="FFFFFF"/>
                </a:solidFill>
              </a:defRPr>
            </a:lvl7pPr>
            <a:lvl8pPr>
              <a:buNone/>
              <a:defRPr sz="1500" b="0">
                <a:solidFill>
                  <a:srgbClr val="FFFFFF"/>
                </a:solidFill>
              </a:defRPr>
            </a:lvl8pPr>
            <a:lvl9pPr>
              <a:buNone/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Academic research prototype</a:t>
            </a:r>
          </a:p>
        </p:txBody>
      </p:sp>
    </p:spTree>
    <p:extLst>
      <p:ext uri="{BB962C8B-B14F-4D97-AF65-F5344CB8AC3E}">
        <p14:creationId xmlns:p14="http://schemas.microsoft.com/office/powerpoint/2010/main" val="411773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990A1-740C-4CA5-803C-0851B79B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The problem and project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E5A56-0F0D-429D-BE1F-A57C4D55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Skin images contain visual patterns that can help classify seven lesion types.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67C48-414C-4705-909A-D36704A2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Training data is imbalanced, and patient images raise privacy concerns.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10C3B-219F-4E1B-9170-7DD39767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Our goal: compare image models and explore privacy-preserving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C086C-1E1C-4916-B700-136F85B6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5124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6D7FF-7DAC-4980-87C3-29A19B06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Research that shaped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83EAD-7A93-492E-9536-7AFF3E5E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PanDerm: a dermatology foundation encoder can transfer to lesion classification with a trained head.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45763-4678-4631-9711-5D3B6BF3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Multi-scale CNN research motivated looking at images in multiple 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0F15A-1BC2-4114-BD6A-E17DC5B4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Published scores use different datasets, splits and metrics, so direct rankings can mislead.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840F0-B7E7-477F-9FBA-FB1E2FDF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4241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F42ED-89CD-47B8-8E81-57C845B9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Dataset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94ECD-5DDC-4B08-89FD-24B204FF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HAM10000: 10,015 dermoscopic images across seven diagnoses.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B43DF-256D-4B10-A645-132DEB26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Our internal split: 7,014 training, 1,509 validation and 1,492 test images.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293D7-142B-4DF0-8019-DA943251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Images of the same lesion stay together within these internal splits.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6A2CD-D660-4391-BEA1-0FDCF9A2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Separate ISIC sets: 193 validation and 1,512 test images.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DD2C5-58D9-4B89-9A39-07A77DEF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71679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D1CCF-E0AB-49BF-A176-823BB85B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What the models see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CCAAA-C4AF-4D30-8517-F50F10C14F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ce861fb7342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1524000"/>
            <a:ext cx="3238500" cy="24288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E115A-3231-4055-8C5F-A06F81C77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c5c49bb8a48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524000"/>
            <a:ext cx="3238500" cy="24288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1625A-655B-4288-8B0C-132E7D87D1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f10407af9942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43875" y="1524000"/>
            <a:ext cx="3238500" cy="2428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B042B-AC2C-4A1F-AE6E-E906357F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005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0263B"/>
                </a:solidFill>
              </a:defRPr>
            </a:defPPr>
            <a:lvl1pPr>
              <a:defRPr sz="1950" b="1">
                <a:solidFill>
                  <a:srgbClr val="10263B"/>
                </a:solidFill>
              </a:defRPr>
            </a:lvl1pPr>
            <a:lvl2pPr>
              <a:defRPr sz="1950" b="1">
                <a:solidFill>
                  <a:srgbClr val="10263B"/>
                </a:solidFill>
              </a:defRPr>
            </a:lvl2pPr>
            <a:lvl3pPr>
              <a:defRPr sz="1950" b="1">
                <a:solidFill>
                  <a:srgbClr val="10263B"/>
                </a:solidFill>
              </a:defRPr>
            </a:lvl3pPr>
            <a:lvl4pPr>
              <a:defRPr sz="1950" b="1">
                <a:solidFill>
                  <a:srgbClr val="10263B"/>
                </a:solidFill>
              </a:defRPr>
            </a:lvl4pPr>
            <a:lvl5pPr>
              <a:defRPr sz="1950" b="1">
                <a:solidFill>
                  <a:srgbClr val="10263B"/>
                </a:solidFill>
              </a:defRPr>
            </a:lvl5pPr>
            <a:lvl6pPr>
              <a:defRPr sz="1950" b="1">
                <a:solidFill>
                  <a:srgbClr val="10263B"/>
                </a:solidFill>
              </a:defRPr>
            </a:lvl6pPr>
            <a:lvl7pPr>
              <a:defRPr sz="1950" b="1">
                <a:solidFill>
                  <a:srgbClr val="10263B"/>
                </a:solidFill>
              </a:defRPr>
            </a:lvl7pPr>
            <a:lvl8pPr>
              <a:defRPr sz="1950" b="1">
                <a:solidFill>
                  <a:srgbClr val="10263B"/>
                </a:solidFill>
              </a:defRPr>
            </a:lvl8pPr>
            <a:lvl9pPr>
              <a:defRPr sz="19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0263B"/>
                </a:solidFill>
              </a:defRPr>
            </a:pPr>
            <a:r>
              <a:rPr sz="1950" b="1">
                <a:solidFill>
                  <a:srgbClr val="10263B"/>
                </a:solidFill>
              </a:rPr>
              <a:t>Dermoscopic images vary in color, shape and texture.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F3CD5-427D-418A-9874-58E8BA1F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0263B"/>
                </a:solidFill>
              </a:defRPr>
            </a:defPPr>
            <a:lvl1pPr>
              <a:defRPr sz="1725" b="0">
                <a:solidFill>
                  <a:srgbClr val="10263B"/>
                </a:solidFill>
              </a:defRPr>
            </a:lvl1pPr>
            <a:lvl2pPr>
              <a:defRPr sz="1725" b="0">
                <a:solidFill>
                  <a:srgbClr val="10263B"/>
                </a:solidFill>
              </a:defRPr>
            </a:lvl2pPr>
            <a:lvl3pPr>
              <a:defRPr sz="1725" b="0">
                <a:solidFill>
                  <a:srgbClr val="10263B"/>
                </a:solidFill>
              </a:defRPr>
            </a:lvl3pPr>
            <a:lvl4pPr>
              <a:defRPr sz="1725" b="0">
                <a:solidFill>
                  <a:srgbClr val="10263B"/>
                </a:solidFill>
              </a:defRPr>
            </a:lvl4pPr>
            <a:lvl5pPr>
              <a:defRPr sz="1725" b="0">
                <a:solidFill>
                  <a:srgbClr val="10263B"/>
                </a:solidFill>
              </a:defRPr>
            </a:lvl5pPr>
            <a:lvl6pPr>
              <a:defRPr sz="1725" b="0">
                <a:solidFill>
                  <a:srgbClr val="10263B"/>
                </a:solidFill>
              </a:defRPr>
            </a:lvl6pPr>
            <a:lvl7pPr>
              <a:defRPr sz="1725" b="0">
                <a:solidFill>
                  <a:srgbClr val="10263B"/>
                </a:solidFill>
              </a:defRPr>
            </a:lvl7pPr>
            <a:lvl8pPr>
              <a:defRPr sz="1725" b="0">
                <a:solidFill>
                  <a:srgbClr val="10263B"/>
                </a:solidFill>
              </a:defRPr>
            </a:lvl8pPr>
            <a:lvl9pPr>
              <a:defRPr sz="172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63B"/>
                </a:solidFill>
              </a:defRPr>
            </a:pPr>
            <a:r>
              <a:rPr sz="1725" b="0">
                <a:solidFill>
                  <a:srgbClr val="10263B"/>
                </a:solidFill>
              </a:rPr>
              <a:t>The model learns visual features from images, then predicts one of seven classes.</a:t>
            </a:r>
          </a:p>
        </p:txBody>
      </p:sp>
    </p:spTree>
    <p:extLst>
      <p:ext uri="{BB962C8B-B14F-4D97-AF65-F5344CB8AC3E}">
        <p14:creationId xmlns:p14="http://schemas.microsoft.com/office/powerpoint/2010/main" val="2425165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4A9ED-6BCF-40A7-B15E-A53774E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Our model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6549A-1B43-4DE8-BE30-06556C29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1   Prepare images and split by lesion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246FD-63BA-44C3-8127-7662D6FD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2   Extract features with a pretrained image 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714AB-FD2E-4CB9-AB95-3521AEB9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3   Train and select a classifier using training and validation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CFC09-39D3-496F-9BE6-29851382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4   Evaluate saved models on held-out sets and inspect class-level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2F11E-2184-4B20-8240-C9BB8166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0874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66C10-CC81-4CF7-ACFD-B0EB48CC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Architecture: frozen feature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F1B48-F1D2-4604-9F50-A8F19879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1905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Input image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224 × 224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026B8-F7C7-48C3-AEFB-5CEC26B0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2669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6AD57-94EC-48F2-B3B0-7BD4B618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05000"/>
            <a:ext cx="1905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Pretrained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encoder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70A6F-0D06-43F9-8AEE-DA3F59D0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669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35690-7073-473C-967D-CDF33AA9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05000"/>
            <a:ext cx="1905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Feature vector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(embedding)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58974-8A69-4BC1-98D7-4502B02C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700E1-F66E-46ED-82CF-FD9EA81B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05000"/>
            <a:ext cx="1619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Classifier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2DEDF-ADA6-4DCF-9E0C-8DC3655C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669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41C1F-102B-4D97-B0D6-23327A7B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905000"/>
            <a:ext cx="12858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7 class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F0C2F-C5F4-4CBF-96D9-16249125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defRPr sz="1875" b="1">
                <a:solidFill>
                  <a:srgbClr val="10263B"/>
                </a:solidFill>
              </a:defRPr>
            </a:lvl1pPr>
            <a:lvl2pPr>
              <a:defRPr sz="1875" b="1">
                <a:solidFill>
                  <a:srgbClr val="10263B"/>
                </a:solidFill>
              </a:defRPr>
            </a:lvl2pPr>
            <a:lvl3pPr>
              <a:defRPr sz="1875" b="1">
                <a:solidFill>
                  <a:srgbClr val="10263B"/>
                </a:solidFill>
              </a:defRPr>
            </a:lvl3pPr>
            <a:lvl4pPr>
              <a:defRPr sz="1875" b="1">
                <a:solidFill>
                  <a:srgbClr val="10263B"/>
                </a:solidFill>
              </a:defRPr>
            </a:lvl4pPr>
            <a:lvl5pPr>
              <a:defRPr sz="1875" b="1">
                <a:solidFill>
                  <a:srgbClr val="10263B"/>
                </a:solidFill>
              </a:defRPr>
            </a:lvl5pPr>
            <a:lvl6pPr>
              <a:defRPr sz="1875" b="1">
                <a:solidFill>
                  <a:srgbClr val="10263B"/>
                </a:solidFill>
              </a:defRPr>
            </a:lvl6pPr>
            <a:lvl7pPr>
              <a:defRPr sz="1875" b="1">
                <a:solidFill>
                  <a:srgbClr val="10263B"/>
                </a:solidFill>
              </a:defRPr>
            </a:lvl7pPr>
            <a:lvl8pPr>
              <a:defRPr sz="1875" b="1">
                <a:solidFill>
                  <a:srgbClr val="10263B"/>
                </a:solidFill>
              </a:defRPr>
            </a:lvl8pPr>
            <a:lvl9pPr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Frozen encoder: learn the image representation once.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96788-251B-4878-A80B-CF4825BF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Train the head on labeled features; select settings with validation macro F1.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D9AAB-65EE-48DF-AC58-2F2FB875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4B6070"/>
                </a:solidFill>
              </a:defRPr>
            </a:defPPr>
            <a:lvl1pPr>
              <a:defRPr sz="1575" b="0">
                <a:solidFill>
                  <a:srgbClr val="4B6070"/>
                </a:solidFill>
              </a:defRPr>
            </a:lvl1pPr>
            <a:lvl2pPr>
              <a:defRPr sz="1575" b="0">
                <a:solidFill>
                  <a:srgbClr val="4B6070"/>
                </a:solidFill>
              </a:defRPr>
            </a:lvl2pPr>
            <a:lvl3pPr>
              <a:defRPr sz="1575" b="0">
                <a:solidFill>
                  <a:srgbClr val="4B6070"/>
                </a:solidFill>
              </a:defRPr>
            </a:lvl3pPr>
            <a:lvl4pPr>
              <a:defRPr sz="1575" b="0">
                <a:solidFill>
                  <a:srgbClr val="4B6070"/>
                </a:solidFill>
              </a:defRPr>
            </a:lvl4pPr>
            <a:lvl5pPr>
              <a:defRPr sz="1575" b="0">
                <a:solidFill>
                  <a:srgbClr val="4B6070"/>
                </a:solidFill>
              </a:defRPr>
            </a:lvl5pPr>
            <a:lvl6pPr>
              <a:defRPr sz="1575" b="0">
                <a:solidFill>
                  <a:srgbClr val="4B6070"/>
                </a:solidFill>
              </a:defRPr>
            </a:lvl6pPr>
            <a:lvl7pPr>
              <a:defRPr sz="1575" b="0">
                <a:solidFill>
                  <a:srgbClr val="4B6070"/>
                </a:solidFill>
              </a:defRPr>
            </a:lvl7pPr>
            <a:lvl8pPr>
              <a:defRPr sz="1575" b="0">
                <a:solidFill>
                  <a:srgbClr val="4B6070"/>
                </a:solidFill>
              </a:defRPr>
            </a:lvl8pPr>
            <a:lvl9pPr>
              <a:defRPr sz="1575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4B6070"/>
                </a:solidFill>
              </a:defRPr>
            </a:pPr>
            <a:r>
              <a:rPr sz="1575" b="0">
                <a:solidFill>
                  <a:srgbClr val="4B6070"/>
                </a:solidFill>
              </a:rPr>
              <a:t>EfficientNet: 1,280 features  |  PanDerm Base: 768  |  PanDerm Large: 1,024</a:t>
            </a:r>
          </a:p>
        </p:txBody>
      </p:sp>
    </p:spTree>
    <p:extLst>
      <p:ext uri="{BB962C8B-B14F-4D97-AF65-F5344CB8AC3E}">
        <p14:creationId xmlns:p14="http://schemas.microsoft.com/office/powerpoint/2010/main" val="1182742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81264-DFE5-4557-B3BE-4C08878E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Relative training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4F417-3253-45D6-A15F-1F2C6F78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Early   Centralized and federated CNN prototype; EfficientNet feature baselines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7CD11-EF29-4C37-B9DA-867C3590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050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Next   Class balancing, multiple views and lesion-specific classifiers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B1676-7E6E-4EBE-8DBE-A4BC9405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289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Then   Frozen PanDerm Base with linear, neural and XGBoost heads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BBA48-8BFC-4041-A97D-765BF815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52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Later   PanDerm Large author probe, tuned heads and capacity searches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CA636-80B6-4D0D-B20C-6CA6BAEC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76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buNone/>
              <a:defRPr sz="1800" b="0">
                <a:solidFill>
                  <a:srgbClr val="10263B"/>
                </a:solidFill>
              </a:defRPr>
            </a:lvl1pPr>
            <a:lvl2pPr>
              <a:buNone/>
              <a:defRPr sz="1800" b="0">
                <a:solidFill>
                  <a:srgbClr val="10263B"/>
                </a:solidFill>
              </a:defRPr>
            </a:lvl2pPr>
            <a:lvl3pPr>
              <a:buNone/>
              <a:defRPr sz="1800" b="0">
                <a:solidFill>
                  <a:srgbClr val="10263B"/>
                </a:solidFill>
              </a:defRPr>
            </a:lvl3pPr>
            <a:lvl4pPr>
              <a:buNone/>
              <a:defRPr sz="1800" b="0">
                <a:solidFill>
                  <a:srgbClr val="10263B"/>
                </a:solidFill>
              </a:defRPr>
            </a:lvl4pPr>
            <a:lvl5pPr>
              <a:buNone/>
              <a:defRPr sz="1800" b="0">
                <a:solidFill>
                  <a:srgbClr val="10263B"/>
                </a:solidFill>
              </a:defRPr>
            </a:lvl5pPr>
            <a:lvl6pPr>
              <a:buNone/>
              <a:defRPr sz="1800" b="0">
                <a:solidFill>
                  <a:srgbClr val="10263B"/>
                </a:solidFill>
              </a:defRPr>
            </a:lvl6pPr>
            <a:lvl7pPr>
              <a:buNone/>
              <a:defRPr sz="1800" b="0">
                <a:solidFill>
                  <a:srgbClr val="10263B"/>
                </a:solidFill>
              </a:defRPr>
            </a:lvl7pPr>
            <a:lvl8pPr>
              <a:buNone/>
              <a:defRPr sz="1800" b="0">
                <a:solidFill>
                  <a:srgbClr val="10263B"/>
                </a:solidFill>
              </a:defRPr>
            </a:lvl8pPr>
            <a:lvl9pPr>
              <a:buNone/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Recent   Fine-tuned EfficientNet and diagnostic adaptation experiments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CF71C-D0EF-41A0-87A5-732D121C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97415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D5CC3-6AB6-4728-B354-7928A511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EfficientNet-B0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7217C-BDAC-4A89-A90A-90A2397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pretrained ImageNet encoder converts each image into reusable features.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DD3EC-E331-45D9-A86A-B4661714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Compared logistic regression, a neural network and XGBoost.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A3D13-7BF5-4D7A-8DE1-50E734B6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Tested class weighting, SMOTE and multi-view image features.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5C48C-C35A-4022-85D3-69ACDF19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Also trained a separate fine-tuned EfficientNet CNN; its recorded run lasted 15 epochs.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E80F4-CAF9-412F-BB35-E644F266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02606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8D467-EA8A-4EF8-88AE-78096AC0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EfficientNet-B0 architecture and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031EC-38F7-4053-8567-B540A77A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5716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Image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3870F-4703-4E23-ACBB-D7E6AB83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9240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73BC7-E520-45B5-9187-A697AB6C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19250"/>
            <a:ext cx="20478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CNN feature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blocks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964EB-D3C5-4387-BA6C-D3CCD44E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240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13867-1CA9-4573-AC82-95C6F4C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Pooling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1,280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2B027-5AAB-462D-9035-99E261C7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71F49-45FF-4F35-BF70-C7E25FA0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143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7-class 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66C7E-80C2-4493-A86D-AB2552CF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95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8C"/>
                </a:solidFill>
              </a:defRPr>
            </a:defPPr>
            <a:lvl1pPr>
              <a:defRPr sz="1950" b="1">
                <a:solidFill>
                  <a:srgbClr val="087F8C"/>
                </a:solidFill>
              </a:defRPr>
            </a:lvl1pPr>
            <a:lvl2pPr>
              <a:defRPr sz="1950" b="1">
                <a:solidFill>
                  <a:srgbClr val="087F8C"/>
                </a:solidFill>
              </a:defRPr>
            </a:lvl2pPr>
            <a:lvl3pPr>
              <a:defRPr sz="1950" b="1">
                <a:solidFill>
                  <a:srgbClr val="087F8C"/>
                </a:solidFill>
              </a:defRPr>
            </a:lvl3pPr>
            <a:lvl4pPr>
              <a:defRPr sz="1950" b="1">
                <a:solidFill>
                  <a:srgbClr val="087F8C"/>
                </a:solidFill>
              </a:defRPr>
            </a:lvl4pPr>
            <a:lvl5pPr>
              <a:defRPr sz="1950" b="1">
                <a:solidFill>
                  <a:srgbClr val="087F8C"/>
                </a:solidFill>
              </a:defRPr>
            </a:lvl5pPr>
            <a:lvl6pPr>
              <a:defRPr sz="1950" b="1">
                <a:solidFill>
                  <a:srgbClr val="087F8C"/>
                </a:solidFill>
              </a:defRPr>
            </a:lvl6pPr>
            <a:lvl7pPr>
              <a:defRPr sz="1950" b="1">
                <a:solidFill>
                  <a:srgbClr val="087F8C"/>
                </a:solidFill>
              </a:defRPr>
            </a:lvl7pPr>
            <a:lvl8pPr>
              <a:defRPr sz="1950" b="1">
                <a:solidFill>
                  <a:srgbClr val="087F8C"/>
                </a:solidFill>
              </a:defRPr>
            </a:lvl8pPr>
            <a:lvl9pPr>
              <a:defRPr sz="195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F8C"/>
                </a:solidFill>
              </a:defRPr>
            </a:pPr>
            <a:r>
              <a:rPr sz="1950" b="1">
                <a:solidFill>
                  <a:srgbClr val="087F8C"/>
                </a:solidFill>
              </a:rPr>
              <a:t>Frozen-feature runs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EF5D2-B2F6-4859-A251-2BA0788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718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Trained logistic regression, MLP or XGBoost on cached features.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C79E7-4D18-47BB-8B52-3D0B7AFD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8C"/>
                </a:solidFill>
              </a:defRPr>
            </a:defPPr>
            <a:lvl1pPr>
              <a:defRPr sz="1950" b="1">
                <a:solidFill>
                  <a:srgbClr val="087F8C"/>
                </a:solidFill>
              </a:defRPr>
            </a:lvl1pPr>
            <a:lvl2pPr>
              <a:defRPr sz="1950" b="1">
                <a:solidFill>
                  <a:srgbClr val="087F8C"/>
                </a:solidFill>
              </a:defRPr>
            </a:lvl2pPr>
            <a:lvl3pPr>
              <a:defRPr sz="1950" b="1">
                <a:solidFill>
                  <a:srgbClr val="087F8C"/>
                </a:solidFill>
              </a:defRPr>
            </a:lvl3pPr>
            <a:lvl4pPr>
              <a:defRPr sz="1950" b="1">
                <a:solidFill>
                  <a:srgbClr val="087F8C"/>
                </a:solidFill>
              </a:defRPr>
            </a:lvl4pPr>
            <a:lvl5pPr>
              <a:defRPr sz="1950" b="1">
                <a:solidFill>
                  <a:srgbClr val="087F8C"/>
                </a:solidFill>
              </a:defRPr>
            </a:lvl5pPr>
            <a:lvl6pPr>
              <a:defRPr sz="1950" b="1">
                <a:solidFill>
                  <a:srgbClr val="087F8C"/>
                </a:solidFill>
              </a:defRPr>
            </a:lvl6pPr>
            <a:lvl7pPr>
              <a:defRPr sz="1950" b="1">
                <a:solidFill>
                  <a:srgbClr val="087F8C"/>
                </a:solidFill>
              </a:defRPr>
            </a:lvl7pPr>
            <a:lvl8pPr>
              <a:defRPr sz="1950" b="1">
                <a:solidFill>
                  <a:srgbClr val="087F8C"/>
                </a:solidFill>
              </a:defRPr>
            </a:lvl8pPr>
            <a:lvl9pPr>
              <a:defRPr sz="195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F8C"/>
                </a:solidFill>
              </a:defRPr>
            </a:pPr>
            <a:r>
              <a:rPr sz="1950" b="1">
                <a:solidFill>
                  <a:srgbClr val="087F8C"/>
                </a:solidFill>
              </a:rPr>
              <a:t>Fine-tuning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902F3-5285-4526-AD56-2D555242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Updated the EfficientNet backbone and a linear head; best checkpoint was epoch 11.</a:t>
            </a:r>
          </a:p>
        </p:txBody>
      </p:sp>
    </p:spTree>
    <p:extLst>
      <p:ext uri="{BB962C8B-B14F-4D97-AF65-F5344CB8AC3E}">
        <p14:creationId xmlns:p14="http://schemas.microsoft.com/office/powerpoint/2010/main" val="8073794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C9211-08C8-4F9D-8C95-4159FCFF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What the EfficientNet experiments showed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A6B82-6EC6-4CB7-8270-69DFE817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Original neural head: 61.6% internal test macro F1.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2576E-1B3F-4D27-A082-E10E6579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Improved multi-view linear head: 61.5% macro F1 on the official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4008F-89D7-4D9E-8E23-4F37CE0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SMOTE helped some heads but reduced XGBoost macro F1 in the original comparison.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091C3-F635-46A9-9FB3-B42A8855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Seven specialist classifiers did not beat the improved linear model overall.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B081C-25C9-4F1C-A41A-598B03B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648618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8B861-05CF-4418-A139-8FE79B9E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PanDerm: why we tested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3C892-CBED-4B59-A796-EB6BE6D5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 is pretrained for dermatology, while EfficientNet starts with general ImageNet features.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B4E7B-820F-4030-9E45-7DABC14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We froze the encoder and trained small classifiers on its image embeddings.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F5559-073D-4FB9-82E5-1E6463F3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Base produces 768 features per image; Large produces 1,024.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214C6-F5CB-475F-8626-B95C7A07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bare encoder cannot predict seven diagnoses without a trained readout.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4BF15-B3A4-4597-8C13-E92F26BE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481551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2B34E-A38D-47F6-BA4C-EC1B1A8C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Fine-tuned EfficientNet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57AD7-4E47-4030-A510-AAFB9656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250" b="1">
                <a:solidFill>
                  <a:srgbClr val="087F8C"/>
                </a:solidFill>
              </a:defRPr>
            </a:defPPr>
            <a:lvl1pPr>
              <a:defRPr sz="5250" b="1">
                <a:solidFill>
                  <a:srgbClr val="087F8C"/>
                </a:solidFill>
              </a:defRPr>
            </a:lvl1pPr>
            <a:lvl2pPr>
              <a:defRPr sz="5250" b="1">
                <a:solidFill>
                  <a:srgbClr val="087F8C"/>
                </a:solidFill>
              </a:defRPr>
            </a:lvl2pPr>
            <a:lvl3pPr>
              <a:defRPr sz="5250" b="1">
                <a:solidFill>
                  <a:srgbClr val="087F8C"/>
                </a:solidFill>
              </a:defRPr>
            </a:lvl3pPr>
            <a:lvl4pPr>
              <a:defRPr sz="5250" b="1">
                <a:solidFill>
                  <a:srgbClr val="087F8C"/>
                </a:solidFill>
              </a:defRPr>
            </a:lvl4pPr>
            <a:lvl5pPr>
              <a:defRPr sz="5250" b="1">
                <a:solidFill>
                  <a:srgbClr val="087F8C"/>
                </a:solidFill>
              </a:defRPr>
            </a:lvl5pPr>
            <a:lvl6pPr>
              <a:defRPr sz="5250" b="1">
                <a:solidFill>
                  <a:srgbClr val="087F8C"/>
                </a:solidFill>
              </a:defRPr>
            </a:lvl6pPr>
            <a:lvl7pPr>
              <a:defRPr sz="5250" b="1">
                <a:solidFill>
                  <a:srgbClr val="087F8C"/>
                </a:solidFill>
              </a:defRPr>
            </a:lvl7pPr>
            <a:lvl8pPr>
              <a:defRPr sz="5250" b="1">
                <a:solidFill>
                  <a:srgbClr val="087F8C"/>
                </a:solidFill>
              </a:defRPr>
            </a:lvl8pPr>
            <a:lvl9pPr>
              <a:defRPr sz="5250" b="1">
                <a:solidFill>
                  <a:srgbClr val="087F8C"/>
                </a:solidFill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087F8C"/>
                </a:solidFill>
              </a:defRPr>
            </a:pPr>
            <a:r>
              <a:rPr sz="5250" b="1">
                <a:solidFill>
                  <a:srgbClr val="087F8C"/>
                </a:solidFill>
              </a:rPr>
              <a:t>71.8%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62685-E73F-4BC4-911D-FC923505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63B"/>
                </a:solidFill>
              </a:defRPr>
            </a:defPPr>
            <a:lvl1pPr>
              <a:defRPr sz="2025" b="1">
                <a:solidFill>
                  <a:srgbClr val="10263B"/>
                </a:solidFill>
              </a:defRPr>
            </a:lvl1pPr>
            <a:lvl2pPr>
              <a:defRPr sz="2025" b="1">
                <a:solidFill>
                  <a:srgbClr val="10263B"/>
                </a:solidFill>
              </a:defRPr>
            </a:lvl2pPr>
            <a:lvl3pPr>
              <a:defRPr sz="2025" b="1">
                <a:solidFill>
                  <a:srgbClr val="10263B"/>
                </a:solidFill>
              </a:defRPr>
            </a:lvl3pPr>
            <a:lvl4pPr>
              <a:defRPr sz="2025" b="1">
                <a:solidFill>
                  <a:srgbClr val="10263B"/>
                </a:solidFill>
              </a:defRPr>
            </a:lvl4pPr>
            <a:lvl5pPr>
              <a:defRPr sz="2025" b="1">
                <a:solidFill>
                  <a:srgbClr val="10263B"/>
                </a:solidFill>
              </a:defRPr>
            </a:lvl5pPr>
            <a:lvl6pPr>
              <a:defRPr sz="2025" b="1">
                <a:solidFill>
                  <a:srgbClr val="10263B"/>
                </a:solidFill>
              </a:defRPr>
            </a:lvl6pPr>
            <a:lvl7pPr>
              <a:defRPr sz="2025" b="1">
                <a:solidFill>
                  <a:srgbClr val="10263B"/>
                </a:solidFill>
              </a:defRPr>
            </a:lvl7pPr>
            <a:lvl8pPr>
              <a:defRPr sz="2025" b="1">
                <a:solidFill>
                  <a:srgbClr val="10263B"/>
                </a:solidFill>
              </a:defRPr>
            </a:lvl8pPr>
            <a:lvl9pPr>
              <a:defRPr sz="202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63B"/>
                </a:solidFill>
              </a:defRPr>
            </a:pPr>
            <a:r>
              <a:rPr sz="2025" b="1">
                <a:solidFill>
                  <a:srgbClr val="10263B"/>
                </a:solidFill>
              </a:rPr>
              <a:t>macro F1 on the official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E95AC-45C5-4EA1-8F55-3DC7E38A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0263B"/>
                </a:solidFill>
              </a:defRPr>
            </a:defPPr>
            <a:lvl1pPr>
              <a:defRPr sz="1950" b="0">
                <a:solidFill>
                  <a:srgbClr val="10263B"/>
                </a:solidFill>
              </a:defRPr>
            </a:lvl1pPr>
            <a:lvl2pPr>
              <a:defRPr sz="1950" b="0">
                <a:solidFill>
                  <a:srgbClr val="10263B"/>
                </a:solidFill>
              </a:defRPr>
            </a:lvl2pPr>
            <a:lvl3pPr>
              <a:defRPr sz="1950" b="0">
                <a:solidFill>
                  <a:srgbClr val="10263B"/>
                </a:solidFill>
              </a:defRPr>
            </a:lvl3pPr>
            <a:lvl4pPr>
              <a:defRPr sz="1950" b="0">
                <a:solidFill>
                  <a:srgbClr val="10263B"/>
                </a:solidFill>
              </a:defRPr>
            </a:lvl4pPr>
            <a:lvl5pPr>
              <a:defRPr sz="1950" b="0">
                <a:solidFill>
                  <a:srgbClr val="10263B"/>
                </a:solidFill>
              </a:defRPr>
            </a:lvl5pPr>
            <a:lvl6pPr>
              <a:defRPr sz="1950" b="0">
                <a:solidFill>
                  <a:srgbClr val="10263B"/>
                </a:solidFill>
              </a:defRPr>
            </a:lvl6pPr>
            <a:lvl7pPr>
              <a:defRPr sz="1950" b="0">
                <a:solidFill>
                  <a:srgbClr val="10263B"/>
                </a:solidFill>
              </a:defRPr>
            </a:lvl7pPr>
            <a:lvl8pPr>
              <a:defRPr sz="1950" b="0">
                <a:solidFill>
                  <a:srgbClr val="10263B"/>
                </a:solidFill>
              </a:defRPr>
            </a:lvl8pPr>
            <a:lvl9pPr>
              <a:defRPr sz="195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63B"/>
                </a:solidFill>
              </a:defRPr>
            </a:pPr>
            <a:r>
              <a:rPr sz="1950" b="0">
                <a:solidFill>
                  <a:srgbClr val="10263B"/>
                </a:solidFill>
              </a:rPr>
              <a:t>81.6% accuracy on the same 1,512 images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1EE5A-0670-49E8-92E8-0C663891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The model used the original lesion-separated training split.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8C83B-3CF1-4610-8980-103D3122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B6070"/>
                </a:solidFill>
              </a:defRPr>
            </a:defPPr>
            <a:lvl1pPr>
              <a:defRPr sz="1650" b="0">
                <a:solidFill>
                  <a:srgbClr val="4B6070"/>
                </a:solidFill>
              </a:defRPr>
            </a:lvl1pPr>
            <a:lvl2pPr>
              <a:defRPr sz="1650" b="0">
                <a:solidFill>
                  <a:srgbClr val="4B6070"/>
                </a:solidFill>
              </a:defRPr>
            </a:lvl2pPr>
            <a:lvl3pPr>
              <a:defRPr sz="1650" b="0">
                <a:solidFill>
                  <a:srgbClr val="4B6070"/>
                </a:solidFill>
              </a:defRPr>
            </a:lvl3pPr>
            <a:lvl4pPr>
              <a:defRPr sz="1650" b="0">
                <a:solidFill>
                  <a:srgbClr val="4B6070"/>
                </a:solidFill>
              </a:defRPr>
            </a:lvl4pPr>
            <a:lvl5pPr>
              <a:defRPr sz="1650" b="0">
                <a:solidFill>
                  <a:srgbClr val="4B6070"/>
                </a:solidFill>
              </a:defRPr>
            </a:lvl5pPr>
            <a:lvl6pPr>
              <a:defRPr sz="1650" b="0">
                <a:solidFill>
                  <a:srgbClr val="4B6070"/>
                </a:solidFill>
              </a:defRPr>
            </a:lvl6pPr>
            <a:lvl7pPr>
              <a:defRPr sz="1650" b="0">
                <a:solidFill>
                  <a:srgbClr val="4B6070"/>
                </a:solidFill>
              </a:defRPr>
            </a:lvl7pPr>
            <a:lvl8pPr>
              <a:defRPr sz="1650" b="0">
                <a:solidFill>
                  <a:srgbClr val="4B6070"/>
                </a:solidFill>
              </a:defRPr>
            </a:lvl8pPr>
            <a:lvl9pPr>
              <a:defRPr sz="16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B6070"/>
                </a:solidFill>
              </a:defRPr>
            </a:pPr>
            <a:r>
              <a:rPr sz="1650" b="0">
                <a:solidFill>
                  <a:srgbClr val="4B6070"/>
                </a:solidFill>
              </a:rPr>
              <a:t>These test images had been examined in earlier experiments.</a:t>
            </a:r>
          </a:p>
        </p:txBody>
      </p:sp>
    </p:spTree>
    <p:extLst>
      <p:ext uri="{BB962C8B-B14F-4D97-AF65-F5344CB8AC3E}">
        <p14:creationId xmlns:p14="http://schemas.microsoft.com/office/powerpoint/2010/main" val="178991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7556B-8880-4C0C-BC60-D7F13FC8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 architecture and classifier heads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4BFA7-FA24-4485-9193-F943EC50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Image patches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16 ×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6C1D8-3D5E-4BA6-889B-8AFFD762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36ED9-545F-482F-8883-ADA65FD4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66875"/>
            <a:ext cx="2619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Vision Transformer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PanDerm Base / Large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85E13-B80A-4ABE-9971-88B8953B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AEE44-E872-4123-BF1B-5A985E76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20478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Embedding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768 / 1,024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0D62F-952A-4A13-96E1-7C228F71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383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6BC39-E293-4CAE-AC65-F97FC5C3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66875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Trained head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7 classes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19A4C-6563-41B0-B7BB-9F717EDB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63B"/>
                </a:solidFill>
              </a:defRPr>
            </a:defPPr>
            <a:lvl1pPr>
              <a:defRPr sz="1875" b="1">
                <a:solidFill>
                  <a:srgbClr val="10263B"/>
                </a:solidFill>
              </a:defRPr>
            </a:lvl1pPr>
            <a:lvl2pPr>
              <a:defRPr sz="1875" b="1">
                <a:solidFill>
                  <a:srgbClr val="10263B"/>
                </a:solidFill>
              </a:defRPr>
            </a:lvl2pPr>
            <a:lvl3pPr>
              <a:defRPr sz="1875" b="1">
                <a:solidFill>
                  <a:srgbClr val="10263B"/>
                </a:solidFill>
              </a:defRPr>
            </a:lvl3pPr>
            <a:lvl4pPr>
              <a:defRPr sz="1875" b="1">
                <a:solidFill>
                  <a:srgbClr val="10263B"/>
                </a:solidFill>
              </a:defRPr>
            </a:lvl4pPr>
            <a:lvl5pPr>
              <a:defRPr sz="1875" b="1">
                <a:solidFill>
                  <a:srgbClr val="10263B"/>
                </a:solidFill>
              </a:defRPr>
            </a:lvl5pPr>
            <a:lvl6pPr>
              <a:defRPr sz="1875" b="1">
                <a:solidFill>
                  <a:srgbClr val="10263B"/>
                </a:solidFill>
              </a:defRPr>
            </a:lvl6pPr>
            <a:lvl7pPr>
              <a:defRPr sz="1875" b="1">
                <a:solidFill>
                  <a:srgbClr val="10263B"/>
                </a:solidFill>
              </a:defRPr>
            </a:lvl7pPr>
            <a:lvl8pPr>
              <a:defRPr sz="1875" b="1">
                <a:solidFill>
                  <a:srgbClr val="10263B"/>
                </a:solidFill>
              </a:defRPr>
            </a:lvl8pPr>
            <a:lvl9pPr>
              <a:defRPr sz="18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63B"/>
                </a:solidFill>
              </a:defRPr>
            </a:pPr>
            <a:r>
              <a:rPr sz="1875" b="1">
                <a:solidFill>
                  <a:srgbClr val="10263B"/>
                </a:solidFill>
              </a:rPr>
              <a:t>The transformer combines information across image patches.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B6E4E-5E67-4591-92C4-CB2C235F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We kept the encoder frozen and compared linear, neural and XGBoost heads.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E746B-BAA0-4B2A-95E8-09CC3C63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053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63B"/>
                </a:solidFill>
              </a:defRPr>
            </a:defPPr>
            <a:lvl1pPr>
              <a:defRPr sz="1800" b="0">
                <a:solidFill>
                  <a:srgbClr val="10263B"/>
                </a:solidFill>
              </a:defRPr>
            </a:lvl1pPr>
            <a:lvl2pPr>
              <a:defRPr sz="1800" b="0">
                <a:solidFill>
                  <a:srgbClr val="10263B"/>
                </a:solidFill>
              </a:defRPr>
            </a:lvl2pPr>
            <a:lvl3pPr>
              <a:defRPr sz="1800" b="0">
                <a:solidFill>
                  <a:srgbClr val="10263B"/>
                </a:solidFill>
              </a:defRPr>
            </a:lvl3pPr>
            <a:lvl4pPr>
              <a:defRPr sz="1800" b="0">
                <a:solidFill>
                  <a:srgbClr val="10263B"/>
                </a:solidFill>
              </a:defRPr>
            </a:lvl4pPr>
            <a:lvl5pPr>
              <a:defRPr sz="1800" b="0">
                <a:solidFill>
                  <a:srgbClr val="10263B"/>
                </a:solidFill>
              </a:defRPr>
            </a:lvl5pPr>
            <a:lvl6pPr>
              <a:defRPr sz="1800" b="0">
                <a:solidFill>
                  <a:srgbClr val="10263B"/>
                </a:solidFill>
              </a:defRPr>
            </a:lvl6pPr>
            <a:lvl7pPr>
              <a:defRPr sz="1800" b="0">
                <a:solidFill>
                  <a:srgbClr val="10263B"/>
                </a:solidFill>
              </a:defRPr>
            </a:lvl7pPr>
            <a:lvl8pPr>
              <a:defRPr sz="1800" b="0">
                <a:solidFill>
                  <a:srgbClr val="10263B"/>
                </a:solidFill>
              </a:defRPr>
            </a:lvl8pPr>
            <a:lvl9pPr>
              <a:defRPr sz="180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63B"/>
                </a:solidFill>
              </a:defRPr>
            </a:pPr>
            <a:r>
              <a:rPr sz="1800" b="0">
                <a:solidFill>
                  <a:srgbClr val="10263B"/>
                </a:solidFill>
              </a:rPr>
              <a:t>Large also used the authors’ linear-probe recipe as a reference.</a:t>
            </a:r>
          </a:p>
        </p:txBody>
      </p:sp>
    </p:spTree>
    <p:extLst>
      <p:ext uri="{BB962C8B-B14F-4D97-AF65-F5344CB8AC3E}">
        <p14:creationId xmlns:p14="http://schemas.microsoft.com/office/powerpoint/2010/main" val="14507825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90886-C85B-470F-BD70-D0B1B2C0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 Base and Large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5A67B-68F3-4705-B4BC-E8037A0F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Base + neural head: 70.3% macro F1 on the 1,512-image official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BB027-24FC-4C98-9493-724C2AFE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Large + linear head: 73.8% macro F1 on the same official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9E188-25EC-4A52-BDDC-10D8325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Large + author-style probe: 71.6% macro F1 on that official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A0E0D-8949-448A-A7EF-3A619E27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Training splits and head selection differ, so this is not an encoder-only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53FF6-5136-4345-80CA-D2B7A3D8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3405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32E49-2027-4A04-B021-C6B2EE1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PanDerm Large: model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16AEF-CC09-4704-A88F-A0CA5685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Author-style probe: 80.98% macro F1 on the released HAM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F6224-C6EC-40D6-A603-3E9F45CF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Smaller neural head (192–64): 81.73% macro F1 on the same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8168E-76E0-4924-925A-AED964D5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Linear head led the shown Large models on official-test macro F1: 73.80%.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AAFE0-C019-4570-AA80-8B8A838A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Wider or more complex heads did not consistently improve every test 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9D8B4-67E5-49A0-A8F4-CA4C568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618175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F5430-EB38-4306-8CE0-73326CA0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Privacy-preserving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8E906-2AEB-41E1-B4E4-203D5174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federated prototype simulates separate clients that train locally.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D7066-A3D9-475C-BA7B-DC7F5F3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server combines model updates into a shared model using FedAvg or FedProx.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AB98F-F728-46B2-A886-9D37B417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Optional differential privacy adds noise during local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D0045-6DF2-4FE9-98C4-C17DCA3A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feature-model results shown here are centralized and do not claim DP.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117A3-E93E-49A7-8625-785B3B31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394872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3C59C-3C79-4B83-B82D-54206788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defRPr sz="2850" b="1">
                <a:solidFill>
                  <a:srgbClr val="10263B"/>
                </a:solidFill>
              </a:defRPr>
            </a:lvl1pPr>
            <a:lvl2pPr>
              <a:defRPr sz="2850" b="1">
                <a:solidFill>
                  <a:srgbClr val="10263B"/>
                </a:solidFill>
              </a:defRPr>
            </a:lvl2pPr>
            <a:lvl3pPr>
              <a:defRPr sz="2850" b="1">
                <a:solidFill>
                  <a:srgbClr val="10263B"/>
                </a:solidFill>
              </a:defRPr>
            </a:lvl3pPr>
            <a:lvl4pPr>
              <a:defRPr sz="2850" b="1">
                <a:solidFill>
                  <a:srgbClr val="10263B"/>
                </a:solidFill>
              </a:defRPr>
            </a:lvl4pPr>
            <a:lvl5pPr>
              <a:defRPr sz="2850" b="1">
                <a:solidFill>
                  <a:srgbClr val="10263B"/>
                </a:solidFill>
              </a:defRPr>
            </a:lvl5pPr>
            <a:lvl6pPr>
              <a:defRPr sz="2850" b="1">
                <a:solidFill>
                  <a:srgbClr val="10263B"/>
                </a:solidFill>
              </a:defRPr>
            </a:lvl6pPr>
            <a:lvl7pPr>
              <a:defRPr sz="2850" b="1">
                <a:solidFill>
                  <a:srgbClr val="10263B"/>
                </a:solidFill>
              </a:defRPr>
            </a:lvl7pPr>
            <a:lvl8pPr>
              <a:defRPr sz="2850" b="1">
                <a:solidFill>
                  <a:srgbClr val="10263B"/>
                </a:solidFill>
              </a:defRPr>
            </a:lvl8pPr>
            <a:lvl9pPr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Federated learning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1C433-D58E-458B-AA7D-45B9C749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2143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Client 1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local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839D1-B2C0-4CB3-8476-30E15196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2143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Client 2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local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C1E83-B370-4D34-8F54-058FE05F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2143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Client 3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local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2EA86-3DEE-4F7E-B663-94B7B1A6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0A2CF-ACAE-4B5E-A19F-31006D0F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24125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Server aggregates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model updates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8E103-C135-4A71-802C-62D5E0ED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476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B961E-04B1-477F-91B8-995BCA49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4125"/>
            <a:ext cx="2619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4F3F2"/>
          </a:solidFill>
          <a:ln xmlns:a="http://schemas.openxmlformats.org/drawingml/2006/main" w="19050">
            <a:solidFill>
              <a:srgbClr val="087F8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10263B"/>
                </a:solidFill>
              </a:defRPr>
            </a:defPPr>
            <a:lvl1pPr algn="ctr">
              <a:defRPr sz="1575" b="1">
                <a:solidFill>
                  <a:srgbClr val="10263B"/>
                </a:solidFill>
              </a:defRPr>
            </a:lvl1pPr>
            <a:lvl2pPr algn="ctr">
              <a:defRPr sz="1575" b="1">
                <a:solidFill>
                  <a:srgbClr val="10263B"/>
                </a:solidFill>
              </a:defRPr>
            </a:lvl2pPr>
            <a:lvl3pPr algn="ctr">
              <a:defRPr sz="1575" b="1">
                <a:solidFill>
                  <a:srgbClr val="10263B"/>
                </a:solidFill>
              </a:defRPr>
            </a:lvl3pPr>
            <a:lvl4pPr algn="ctr">
              <a:defRPr sz="1575" b="1">
                <a:solidFill>
                  <a:srgbClr val="10263B"/>
                </a:solidFill>
              </a:defRPr>
            </a:lvl4pPr>
            <a:lvl5pPr algn="ctr">
              <a:defRPr sz="1575" b="1">
                <a:solidFill>
                  <a:srgbClr val="10263B"/>
                </a:solidFill>
              </a:defRPr>
            </a:lvl5pPr>
            <a:lvl6pPr algn="ctr">
              <a:defRPr sz="1575" b="1">
                <a:solidFill>
                  <a:srgbClr val="10263B"/>
                </a:solidFill>
              </a:defRPr>
            </a:lvl6pPr>
            <a:lvl7pPr algn="ctr">
              <a:defRPr sz="1575" b="1">
                <a:solidFill>
                  <a:srgbClr val="10263B"/>
                </a:solidFill>
              </a:defRPr>
            </a:lvl7pPr>
            <a:lvl8pPr algn="ctr">
              <a:defRPr sz="1575" b="1">
                <a:solidFill>
                  <a:srgbClr val="10263B"/>
                </a:solidFill>
              </a:defRPr>
            </a:lvl8pPr>
            <a:lvl9pPr algn="ctr">
              <a:defRPr sz="1575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Shared global</a:t>
            </a:r>
          </a:p>
          <a:p xmlns:a="http://schemas.openxmlformats.org/drawingml/2006/main">
            <a:pPr algn="ctr">
              <a:defRPr sz="1575" b="1">
                <a:solidFill>
                  <a:srgbClr val="10263B"/>
                </a:solidFill>
              </a:defRPr>
            </a:pPr>
            <a:r>
              <a:rPr sz="1575" b="1">
                <a:solidFill>
                  <a:srgbClr val="10263B"/>
                </a:solidFill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7EED6-C957-44E3-859A-5F018475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63B"/>
                </a:solidFill>
              </a:defRPr>
            </a:defPPr>
            <a:lvl1pPr>
              <a:defRPr sz="1800" b="1">
                <a:solidFill>
                  <a:srgbClr val="10263B"/>
                </a:solidFill>
              </a:defRPr>
            </a:lvl1pPr>
            <a:lvl2pPr>
              <a:defRPr sz="1800" b="1">
                <a:solidFill>
                  <a:srgbClr val="10263B"/>
                </a:solidFill>
              </a:defRPr>
            </a:lvl2pPr>
            <a:lvl3pPr>
              <a:defRPr sz="1800" b="1">
                <a:solidFill>
                  <a:srgbClr val="10263B"/>
                </a:solidFill>
              </a:defRPr>
            </a:lvl3pPr>
            <a:lvl4pPr>
              <a:defRPr sz="1800" b="1">
                <a:solidFill>
                  <a:srgbClr val="10263B"/>
                </a:solidFill>
              </a:defRPr>
            </a:lvl4pPr>
            <a:lvl5pPr>
              <a:defRPr sz="1800" b="1">
                <a:solidFill>
                  <a:srgbClr val="10263B"/>
                </a:solidFill>
              </a:defRPr>
            </a:lvl5pPr>
            <a:lvl6pPr>
              <a:defRPr sz="1800" b="1">
                <a:solidFill>
                  <a:srgbClr val="10263B"/>
                </a:solidFill>
              </a:defRPr>
            </a:lvl6pPr>
            <a:lvl7pPr>
              <a:defRPr sz="1800" b="1">
                <a:solidFill>
                  <a:srgbClr val="10263B"/>
                </a:solidFill>
              </a:defRPr>
            </a:lvl7pPr>
            <a:lvl8pPr>
              <a:defRPr sz="1800" b="1">
                <a:solidFill>
                  <a:srgbClr val="10263B"/>
                </a:solidFill>
              </a:defRPr>
            </a:lvl8pPr>
            <a:lvl9pPr>
              <a:defRPr sz="180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63B"/>
                </a:solidFill>
              </a:defRPr>
            </a:pPr>
            <a:r>
              <a:rPr sz="1800" b="1">
                <a:solidFill>
                  <a:srgbClr val="10263B"/>
                </a:solidFill>
              </a:rPr>
              <a:t>Clients train locally, then send model updates for aggregation.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69B07-E966-4B3B-8B0C-BA9FF4BF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0263B"/>
                </a:solidFill>
              </a:defRPr>
            </a:defPPr>
            <a:lvl1pPr>
              <a:defRPr sz="1650" b="0">
                <a:solidFill>
                  <a:srgbClr val="10263B"/>
                </a:solidFill>
              </a:defRPr>
            </a:lvl1pPr>
            <a:lvl2pPr>
              <a:defRPr sz="1650" b="0">
                <a:solidFill>
                  <a:srgbClr val="10263B"/>
                </a:solidFill>
              </a:defRPr>
            </a:lvl2pPr>
            <a:lvl3pPr>
              <a:defRPr sz="1650" b="0">
                <a:solidFill>
                  <a:srgbClr val="10263B"/>
                </a:solidFill>
              </a:defRPr>
            </a:lvl3pPr>
            <a:lvl4pPr>
              <a:defRPr sz="1650" b="0">
                <a:solidFill>
                  <a:srgbClr val="10263B"/>
                </a:solidFill>
              </a:defRPr>
            </a:lvl4pPr>
            <a:lvl5pPr>
              <a:defRPr sz="1650" b="0">
                <a:solidFill>
                  <a:srgbClr val="10263B"/>
                </a:solidFill>
              </a:defRPr>
            </a:lvl5pPr>
            <a:lvl6pPr>
              <a:defRPr sz="1650" b="0">
                <a:solidFill>
                  <a:srgbClr val="10263B"/>
                </a:solidFill>
              </a:defRPr>
            </a:lvl6pPr>
            <a:lvl7pPr>
              <a:defRPr sz="1650" b="0">
                <a:solidFill>
                  <a:srgbClr val="10263B"/>
                </a:solidFill>
              </a:defRPr>
            </a:lvl7pPr>
            <a:lvl8pPr>
              <a:defRPr sz="1650" b="0">
                <a:solidFill>
                  <a:srgbClr val="10263B"/>
                </a:solidFill>
              </a:defRPr>
            </a:lvl8pPr>
            <a:lvl9pPr>
              <a:defRPr sz="1650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0263B"/>
                </a:solidFill>
              </a:defRPr>
            </a:pPr>
            <a:r>
              <a:rPr sz="1650" b="0">
                <a:solidFill>
                  <a:srgbClr val="10263B"/>
                </a:solidFill>
              </a:rPr>
              <a:t>Optional noise during local training provides differential privacy accounting.</a:t>
            </a:r>
          </a:p>
        </p:txBody>
      </p:sp>
    </p:spTree>
    <p:extLst>
      <p:ext uri="{BB962C8B-B14F-4D97-AF65-F5344CB8AC3E}">
        <p14:creationId xmlns:p14="http://schemas.microsoft.com/office/powerpoint/2010/main" val="17817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438E5-C20C-4417-9901-7D55B9F0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What we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32F63-8C06-4406-8125-394F0AD3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Macro F1 matters because it gives rare lesion classes equal weight.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B93F5-6882-4327-8055-C227491E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 features improved the reported official-test results in our experiments.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7705C-DF2D-4DB9-940E-DF01D53B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Specialists and larger heads can overfit or improve one split while losing on another.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4CDF8-173A-46B5-A3D1-79D7CEA4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authors’ published weighted F1 and our macro F1 measure different things.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EA549-CCD0-4E05-8FFA-0B0ADA35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077430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A4709-1D13-4BF0-8B6B-814A1897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Limitations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835CF-CB0A-42C3-A909-B41C98BF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Repeated examination of test sets makes the comparisons exploratory.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C7073-6936-4F97-AAD8-83A23626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Later adaptation used former test images for training; those scores are fitting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4F53F-114F-43FF-BE74-5BFFAC26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Evaluate a locked model on a fresh, independent dataset with lesion identifiers.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DCF08-3D1B-4047-914E-EB9F64F4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Test privacy and utility together before claiming a private clinical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D2B78-9C34-47FD-86B4-8334F6ED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896886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1FB3F-A977-4653-B358-2F71AA1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0263B"/>
                </a:solidFill>
              </a:defRPr>
            </a:defPPr>
            <a:lvl1pPr>
              <a:buNone/>
              <a:defRPr sz="2850" b="1">
                <a:solidFill>
                  <a:srgbClr val="10263B"/>
                </a:solidFill>
              </a:defRPr>
            </a:lvl1pPr>
            <a:lvl2pPr>
              <a:buNone/>
              <a:defRPr sz="2850" b="1">
                <a:solidFill>
                  <a:srgbClr val="10263B"/>
                </a:solidFill>
              </a:defRPr>
            </a:lvl2pPr>
            <a:lvl3pPr>
              <a:buNone/>
              <a:defRPr sz="2850" b="1">
                <a:solidFill>
                  <a:srgbClr val="10263B"/>
                </a:solidFill>
              </a:defRPr>
            </a:lvl3pPr>
            <a:lvl4pPr>
              <a:buNone/>
              <a:defRPr sz="2850" b="1">
                <a:solidFill>
                  <a:srgbClr val="10263B"/>
                </a:solidFill>
              </a:defRPr>
            </a:lvl4pPr>
            <a:lvl5pPr>
              <a:buNone/>
              <a:defRPr sz="2850" b="1">
                <a:solidFill>
                  <a:srgbClr val="10263B"/>
                </a:solidFill>
              </a:defRPr>
            </a:lvl5pPr>
            <a:lvl6pPr>
              <a:buNone/>
              <a:defRPr sz="2850" b="1">
                <a:solidFill>
                  <a:srgbClr val="10263B"/>
                </a:solidFill>
              </a:defRPr>
            </a:lvl6pPr>
            <a:lvl7pPr>
              <a:buNone/>
              <a:defRPr sz="2850" b="1">
                <a:solidFill>
                  <a:srgbClr val="10263B"/>
                </a:solidFill>
              </a:defRPr>
            </a:lvl7pPr>
            <a:lvl8pPr>
              <a:buNone/>
              <a:defRPr sz="2850" b="1">
                <a:solidFill>
                  <a:srgbClr val="10263B"/>
                </a:solidFill>
              </a:defRPr>
            </a:lvl8pPr>
            <a:lvl9pPr>
              <a:buNone/>
              <a:defRPr sz="2850" b="1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0263B"/>
                </a:solidFill>
              </a:defRPr>
            </a:pPr>
            <a:r>
              <a:rPr sz="2850" b="1">
                <a:solidFill>
                  <a:srgbClr val="10263B"/>
                </a:solidFill>
              </a:rPr>
              <a:t>Project review: key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F702E-AEB0-4C42-A0E4-A14F2A44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We built an end-to-end research workflow for seven-class lesion classification.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DA6E6-574D-45C9-BBC4-6E857061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The project compared EfficientNet and PanDerm with several classifier families.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A30E5-5EC9-4683-90A6-B2A3189A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22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PanDerm Large with a linear head reached 73.8% macro F1 on the official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54229-6B17-4814-987A-D78B9D30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52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63B"/>
                </a:solidFill>
              </a:defRPr>
            </a:defPPr>
            <a:lvl1pPr>
              <a:buNone/>
              <a:defRPr sz="1875" b="0">
                <a:solidFill>
                  <a:srgbClr val="10263B"/>
                </a:solidFill>
              </a:defRPr>
            </a:lvl1pPr>
            <a:lvl2pPr>
              <a:buNone/>
              <a:defRPr sz="1875" b="0">
                <a:solidFill>
                  <a:srgbClr val="10263B"/>
                </a:solidFill>
              </a:defRPr>
            </a:lvl2pPr>
            <a:lvl3pPr>
              <a:buNone/>
              <a:defRPr sz="1875" b="0">
                <a:solidFill>
                  <a:srgbClr val="10263B"/>
                </a:solidFill>
              </a:defRPr>
            </a:lvl3pPr>
            <a:lvl4pPr>
              <a:buNone/>
              <a:defRPr sz="1875" b="0">
                <a:solidFill>
                  <a:srgbClr val="10263B"/>
                </a:solidFill>
              </a:defRPr>
            </a:lvl4pPr>
            <a:lvl5pPr>
              <a:buNone/>
              <a:defRPr sz="1875" b="0">
                <a:solidFill>
                  <a:srgbClr val="10263B"/>
                </a:solidFill>
              </a:defRPr>
            </a:lvl5pPr>
            <a:lvl6pPr>
              <a:buNone/>
              <a:defRPr sz="1875" b="0">
                <a:solidFill>
                  <a:srgbClr val="10263B"/>
                </a:solidFill>
              </a:defRPr>
            </a:lvl6pPr>
            <a:lvl7pPr>
              <a:buNone/>
              <a:defRPr sz="1875" b="0">
                <a:solidFill>
                  <a:srgbClr val="10263B"/>
                </a:solidFill>
              </a:defRPr>
            </a:lvl7pPr>
            <a:lvl8pPr>
              <a:buNone/>
              <a:defRPr sz="1875" b="0">
                <a:solidFill>
                  <a:srgbClr val="10263B"/>
                </a:solidFill>
              </a:defRPr>
            </a:lvl8pPr>
            <a:lvl9pPr>
              <a:buNone/>
              <a:defRPr sz="1875" b="0">
                <a:solidFill>
                  <a:srgbClr val="10263B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10263B"/>
                </a:solidFill>
              </a:defRPr>
            </a:pPr>
            <a:r>
              <a:rPr sz="1875" b="0">
                <a:solidFill>
                  <a:srgbClr val="10263B"/>
                </a:solidFill>
              </a:rPr>
              <a:t>A fresh independent evaluation is needed before any clinical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39420-E650-4B23-914E-FDCD69D6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4B6070"/>
                </a:solidFill>
              </a:defRPr>
            </a:defPPr>
            <a:lvl1pPr>
              <a:buNone/>
              <a:defRPr sz="1050" b="0">
                <a:solidFill>
                  <a:srgbClr val="4B6070"/>
                </a:solidFill>
              </a:defRPr>
            </a:lvl1pPr>
            <a:lvl2pPr>
              <a:buNone/>
              <a:defRPr sz="1050" b="0">
                <a:solidFill>
                  <a:srgbClr val="4B6070"/>
                </a:solidFill>
              </a:defRPr>
            </a:lvl2pPr>
            <a:lvl3pPr>
              <a:buNone/>
              <a:defRPr sz="1050" b="0">
                <a:solidFill>
                  <a:srgbClr val="4B6070"/>
                </a:solidFill>
              </a:defRPr>
            </a:lvl3pPr>
            <a:lvl4pPr>
              <a:buNone/>
              <a:defRPr sz="1050" b="0">
                <a:solidFill>
                  <a:srgbClr val="4B6070"/>
                </a:solidFill>
              </a:defRPr>
            </a:lvl4pPr>
            <a:lvl5pPr>
              <a:buNone/>
              <a:defRPr sz="1050" b="0">
                <a:solidFill>
                  <a:srgbClr val="4B6070"/>
                </a:solidFill>
              </a:defRPr>
            </a:lvl5pPr>
            <a:lvl6pPr>
              <a:buNone/>
              <a:defRPr sz="1050" b="0">
                <a:solidFill>
                  <a:srgbClr val="4B6070"/>
                </a:solidFill>
              </a:defRPr>
            </a:lvl6pPr>
            <a:lvl7pPr>
              <a:buNone/>
              <a:defRPr sz="1050" b="0">
                <a:solidFill>
                  <a:srgbClr val="4B6070"/>
                </a:solidFill>
              </a:defRPr>
            </a:lvl7pPr>
            <a:lvl8pPr>
              <a:buNone/>
              <a:defRPr sz="1050" b="0">
                <a:solidFill>
                  <a:srgbClr val="4B6070"/>
                </a:solidFill>
              </a:defRPr>
            </a:lvl8pPr>
            <a:lvl9pPr>
              <a:buNone/>
              <a:defRPr sz="1050" b="0">
                <a:solidFill>
                  <a:srgbClr val="4B6070"/>
                </a:solidFill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4B6070"/>
                </a:solidFill>
              </a:defRPr>
            </a:pPr>
            <a:r>
              <a:rPr sz="1050" b="0">
                <a:solidFill>
                  <a:srgbClr val="4B607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20736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2026-10-28T05:16:53.3790000Z</dcterms:created>
  <dcterms:modified xsi:type="dcterms:W3CDTF">2026-10-28T05:16:53.3790000Z</dcterms:modified>
</coreProperties>
</file>