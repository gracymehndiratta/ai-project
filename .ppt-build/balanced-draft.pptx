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6a82fbc7744b9e" /><Relationship Type="http://schemas.openxmlformats.org/officeDocument/2006/relationships/extended-properties" Target="/docProps/app.xml" Id="R1b78ef0a5c0f4ed7" /><Relationship Type="http://schemas.openxmlformats.org/officeDocument/2006/relationships/officeDocument" Target="/ppt/presentation.xml" Id="R4b7891201b3b43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d345831fa74510"/>
  </p:sldMasterIdLst>
  <p:notesMasterIdLst>
    <p:notesMasterId xmlns:r="http://schemas.openxmlformats.org/officeDocument/2006/relationships" r:id="Rfada0e6b154b4ca9"/>
  </p:notesMasterIdLst>
  <p:sldIdLst>
    <p:sldId xmlns:r="http://schemas.openxmlformats.org/officeDocument/2006/relationships" id="256" r:id="Rd0630d00931b4a08"/>
    <p:sldId xmlns:r="http://schemas.openxmlformats.org/officeDocument/2006/relationships" id="257" r:id="R5c12a40f76cc4c80"/>
    <p:sldId xmlns:r="http://schemas.openxmlformats.org/officeDocument/2006/relationships" id="258" r:id="Rea549ef349f34af6"/>
    <p:sldId xmlns:r="http://schemas.openxmlformats.org/officeDocument/2006/relationships" id="259" r:id="R0fd6fd49316c496e"/>
    <p:sldId xmlns:r="http://schemas.openxmlformats.org/officeDocument/2006/relationships" id="260" r:id="R7d12e3f3ff4a448f"/>
    <p:sldId xmlns:r="http://schemas.openxmlformats.org/officeDocument/2006/relationships" id="261" r:id="R0d994fb09b92434a"/>
    <p:sldId xmlns:r="http://schemas.openxmlformats.org/officeDocument/2006/relationships" id="262" r:id="R00d6f23f77f145e4"/>
    <p:sldId xmlns:r="http://schemas.openxmlformats.org/officeDocument/2006/relationships" id="263" r:id="R4f7ac4e496cb4f1b"/>
    <p:sldId xmlns:r="http://schemas.openxmlformats.org/officeDocument/2006/relationships" id="264" r:id="R049aa111cf344c5e"/>
    <p:sldId xmlns:r="http://schemas.openxmlformats.org/officeDocument/2006/relationships" id="265" r:id="R6c533fe5508842b5"/>
    <p:sldId xmlns:r="http://schemas.openxmlformats.org/officeDocument/2006/relationships" id="266" r:id="Rd2520aa6e3064c6d"/>
    <p:sldId xmlns:r="http://schemas.openxmlformats.org/officeDocument/2006/relationships" id="267" r:id="R59594503526047f1"/>
    <p:sldId xmlns:r="http://schemas.openxmlformats.org/officeDocument/2006/relationships" id="268" r:id="R8c8c28c5ae3e435c"/>
    <p:sldId xmlns:r="http://schemas.openxmlformats.org/officeDocument/2006/relationships" id="269" r:id="Ra5d32c6b55144c6b"/>
    <p:sldId xmlns:r="http://schemas.openxmlformats.org/officeDocument/2006/relationships" id="270" r:id="R890ff82dcc3b4537"/>
    <p:sldId xmlns:r="http://schemas.openxmlformats.org/officeDocument/2006/relationships" id="271" r:id="Rcdfd49d677284b80"/>
    <p:sldId xmlns:r="http://schemas.openxmlformats.org/officeDocument/2006/relationships" id="272" r:id="Ra2bc3d0a9a104bb1"/>
    <p:sldId xmlns:r="http://schemas.openxmlformats.org/officeDocument/2006/relationships" id="273" r:id="Rc73deecf340f4b1a"/>
    <p:sldId xmlns:r="http://schemas.openxmlformats.org/officeDocument/2006/relationships" id="274" r:id="R48522e1c58204237"/>
    <p:sldId xmlns:r="http://schemas.openxmlformats.org/officeDocument/2006/relationships" id="275" r:id="Rff17b930e07a454f"/>
    <p:sldId xmlns:r="http://schemas.openxmlformats.org/officeDocument/2006/relationships" id="276" r:id="Rea2b15fe7e984877"/>
    <p:sldId xmlns:r="http://schemas.openxmlformats.org/officeDocument/2006/relationships" id="277" r:id="R16897d5d08f947e2"/>
    <p:sldId xmlns:r="http://schemas.openxmlformats.org/officeDocument/2006/relationships" id="278" r:id="R91e54cbfb9564857"/>
    <p:sldId xmlns:r="http://schemas.openxmlformats.org/officeDocument/2006/relationships" id="279" r:id="R62a9093864c84bb7"/>
    <p:sldId xmlns:r="http://schemas.openxmlformats.org/officeDocument/2006/relationships" id="280" r:id="R5456d09c2c5c43da"/>
    <p:sldId xmlns:r="http://schemas.openxmlformats.org/officeDocument/2006/relationships" id="281" r:id="R17cd9919cc3449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f99c4ad0f64717" /><Relationship Type="http://schemas.openxmlformats.org/officeDocument/2006/relationships/slideMaster" Target="/ppt/slideMasters/slideMaster1.xml" Id="R00d345831fa74510" /><Relationship Type="http://schemas.openxmlformats.org/officeDocument/2006/relationships/notesMaster" Target="/ppt/notesMasters/notesMaster1.xml" Id="Rfada0e6b154b4ca9" /><Relationship Type="http://schemas.openxmlformats.org/officeDocument/2006/relationships/presProps" Target="/ppt/presProps.xml" Id="R1a85203489fe49e6" /><Relationship Type="http://schemas.openxmlformats.org/officeDocument/2006/relationships/tableStyles" Target="/ppt/tableStyles.xml" Id="Rb66d4d6493304ca2" /><Relationship Type="http://schemas.openxmlformats.org/officeDocument/2006/relationships/slide" Target="/ppt/slides/slide1.xml" Id="Rd0630d00931b4a08" /><Relationship Type="http://schemas.openxmlformats.org/officeDocument/2006/relationships/slide" Target="/ppt/slides/slide2.xml" Id="R5c12a40f76cc4c80" /><Relationship Type="http://schemas.openxmlformats.org/officeDocument/2006/relationships/slide" Target="/ppt/slides/slide3.xml" Id="Rea549ef349f34af6" /><Relationship Type="http://schemas.openxmlformats.org/officeDocument/2006/relationships/slide" Target="/ppt/slides/slide4.xml" Id="R0fd6fd49316c496e" /><Relationship Type="http://schemas.openxmlformats.org/officeDocument/2006/relationships/slide" Target="/ppt/slides/slide5.xml" Id="R7d12e3f3ff4a448f" /><Relationship Type="http://schemas.openxmlformats.org/officeDocument/2006/relationships/slide" Target="/ppt/slides/slide6.xml" Id="R0d994fb09b92434a" /><Relationship Type="http://schemas.openxmlformats.org/officeDocument/2006/relationships/slide" Target="/ppt/slides/slide7.xml" Id="R00d6f23f77f145e4" /><Relationship Type="http://schemas.openxmlformats.org/officeDocument/2006/relationships/slide" Target="/ppt/slides/slide8.xml" Id="R4f7ac4e496cb4f1b" /><Relationship Type="http://schemas.openxmlformats.org/officeDocument/2006/relationships/slide" Target="/ppt/slides/slide9.xml" Id="R049aa111cf344c5e" /><Relationship Type="http://schemas.openxmlformats.org/officeDocument/2006/relationships/slide" Target="/ppt/slides/slide10.xml" Id="R6c533fe5508842b5" /><Relationship Type="http://schemas.openxmlformats.org/officeDocument/2006/relationships/slide" Target="/ppt/slides/slide11.xml" Id="Rd2520aa6e3064c6d" /><Relationship Type="http://schemas.openxmlformats.org/officeDocument/2006/relationships/slide" Target="/ppt/slides/slide12.xml" Id="R59594503526047f1" /><Relationship Type="http://schemas.openxmlformats.org/officeDocument/2006/relationships/slide" Target="/ppt/slides/slide13.xml" Id="R8c8c28c5ae3e435c" /><Relationship Type="http://schemas.openxmlformats.org/officeDocument/2006/relationships/slide" Target="/ppt/slides/slide14.xml" Id="Ra5d32c6b55144c6b" /><Relationship Type="http://schemas.openxmlformats.org/officeDocument/2006/relationships/slide" Target="/ppt/slides/slide15.xml" Id="R890ff82dcc3b4537" /><Relationship Type="http://schemas.openxmlformats.org/officeDocument/2006/relationships/slide" Target="/ppt/slides/slide16.xml" Id="Rcdfd49d677284b80" /><Relationship Type="http://schemas.openxmlformats.org/officeDocument/2006/relationships/slide" Target="/ppt/slides/slide17.xml" Id="Ra2bc3d0a9a104bb1" /><Relationship Type="http://schemas.openxmlformats.org/officeDocument/2006/relationships/slide" Target="/ppt/slides/slide18.xml" Id="Rc73deecf340f4b1a" /><Relationship Type="http://schemas.openxmlformats.org/officeDocument/2006/relationships/slide" Target="/ppt/slides/slide19.xml" Id="R48522e1c58204237" /><Relationship Type="http://schemas.openxmlformats.org/officeDocument/2006/relationships/slide" Target="/ppt/slides/slide20.xml" Id="Rff17b930e07a454f" /><Relationship Type="http://schemas.openxmlformats.org/officeDocument/2006/relationships/slide" Target="/ppt/slides/slide21.xml" Id="Rea2b15fe7e984877" /><Relationship Type="http://schemas.openxmlformats.org/officeDocument/2006/relationships/slide" Target="/ppt/slides/slide22.xml" Id="R16897d5d08f947e2" /><Relationship Type="http://schemas.openxmlformats.org/officeDocument/2006/relationships/slide" Target="/ppt/slides/slide23.xml" Id="R91e54cbfb9564857" /><Relationship Type="http://schemas.openxmlformats.org/officeDocument/2006/relationships/slide" Target="/ppt/slides/slide24.xml" Id="R62a9093864c84bb7" /><Relationship Type="http://schemas.openxmlformats.org/officeDocument/2006/relationships/slide" Target="/ppt/slides/slide25.xml" Id="R5456d09c2c5c43da" /><Relationship Type="http://schemas.openxmlformats.org/officeDocument/2006/relationships/slide" Target="/ppt/slides/slide26.xml" Id="R17cd9919cc3449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dca68341514b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9372dc28104355" /><Relationship Type="http://schemas.openxmlformats.org/officeDocument/2006/relationships/notesMaster" Target="/ppt/notesMasters/notesMaster1.xml" Id="R0f3f86b6e10540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f95831ccdc499f" /><Relationship Type="http://schemas.openxmlformats.org/officeDocument/2006/relationships/notesMaster" Target="/ppt/notesMasters/notesMaster1.xml" Id="R559438323a9246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2b15a255a14d31" /><Relationship Type="http://schemas.openxmlformats.org/officeDocument/2006/relationships/notesMaster" Target="/ppt/notesMasters/notesMaster1.xml" Id="Rc422340d94ad49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88816fb75d4224" /><Relationship Type="http://schemas.openxmlformats.org/officeDocument/2006/relationships/notesMaster" Target="/ppt/notesMasters/notesMaster1.xml" Id="Rc28ccd83ebce4e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47f33f85704d52" /><Relationship Type="http://schemas.openxmlformats.org/officeDocument/2006/relationships/notesMaster" Target="/ppt/notesMasters/notesMaster1.xml" Id="Reb53f26c878544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1a20d999c34df3" /><Relationship Type="http://schemas.openxmlformats.org/officeDocument/2006/relationships/notesMaster" Target="/ppt/notesMasters/notesMaster1.xml" Id="Ref3e7f94bd6c43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30700ad4474a1f" /><Relationship Type="http://schemas.openxmlformats.org/officeDocument/2006/relationships/notesMaster" Target="/ppt/notesMasters/notesMaster1.xml" Id="R1d3c3f2147a84f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a85dd4eeaa46b7" /><Relationship Type="http://schemas.openxmlformats.org/officeDocument/2006/relationships/notesMaster" Target="/ppt/notesMasters/notesMaster1.xml" Id="R44a1c9c6f64c4e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3af29bdfe444f1" /><Relationship Type="http://schemas.openxmlformats.org/officeDocument/2006/relationships/notesMaster" Target="/ppt/notesMasters/notesMaster1.xml" Id="R6c5dd317845b43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6eaea8f9114bdd" /><Relationship Type="http://schemas.openxmlformats.org/officeDocument/2006/relationships/notesMaster" Target="/ppt/notesMasters/notesMaster1.xml" Id="R5ca66db69ce64a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3351b3be414212" /><Relationship Type="http://schemas.openxmlformats.org/officeDocument/2006/relationships/notesMaster" Target="/ppt/notesMasters/notesMaster1.xml" Id="Rb2af09d29dea4b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b14ee4a683f47c9" /><Relationship Type="http://schemas.openxmlformats.org/officeDocument/2006/relationships/notesMaster" Target="/ppt/notesMasters/notesMaster1.xml" Id="Rdf5db29f961a421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5f8ea320824f57" /><Relationship Type="http://schemas.openxmlformats.org/officeDocument/2006/relationships/notesMaster" Target="/ppt/notesMasters/notesMaster1.xml" Id="R729cbd8f271344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60f3ff214af4079" /><Relationship Type="http://schemas.openxmlformats.org/officeDocument/2006/relationships/notesMaster" Target="/ppt/notesMasters/notesMaster1.xml" Id="R624ab5d461a042d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d87b9f402bc46f4" /><Relationship Type="http://schemas.openxmlformats.org/officeDocument/2006/relationships/notesMaster" Target="/ppt/notesMasters/notesMaster1.xml" Id="Rc0a76383ed6d43a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6d2220e10d8461c" /><Relationship Type="http://schemas.openxmlformats.org/officeDocument/2006/relationships/notesMaster" Target="/ppt/notesMasters/notesMaster1.xml" Id="R2d23276e3f5847b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4146ec90c9e4d58" /><Relationship Type="http://schemas.openxmlformats.org/officeDocument/2006/relationships/notesMaster" Target="/ppt/notesMasters/notesMaster1.xml" Id="R83a609c382a842c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a3531027da24fb7" /><Relationship Type="http://schemas.openxmlformats.org/officeDocument/2006/relationships/notesMaster" Target="/ppt/notesMasters/notesMaster1.xml" Id="R50c167082df94ad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bd4114bd907499d" /><Relationship Type="http://schemas.openxmlformats.org/officeDocument/2006/relationships/notesMaster" Target="/ppt/notesMasters/notesMaster1.xml" Id="Rd1688ce045c94fa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bba8c22a4ce4f1d" /><Relationship Type="http://schemas.openxmlformats.org/officeDocument/2006/relationships/notesMaster" Target="/ppt/notesMasters/notesMaster1.xml" Id="R7f850c79818a4f4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a52bf876e8f4af1" /><Relationship Type="http://schemas.openxmlformats.org/officeDocument/2006/relationships/notesMaster" Target="/ppt/notesMasters/notesMaster1.xml" Id="R34a7d099900a41c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ef54083bd704118" /><Relationship Type="http://schemas.openxmlformats.org/officeDocument/2006/relationships/notesMaster" Target="/ppt/notesMasters/notesMaster1.xml" Id="Re6b7b418fe3e42b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7217781fedf4f57" /><Relationship Type="http://schemas.openxmlformats.org/officeDocument/2006/relationships/notesMaster" Target="/ppt/notesMasters/notesMaster1.xml" Id="Re16402f1a357432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22dca4c991045c9" /><Relationship Type="http://schemas.openxmlformats.org/officeDocument/2006/relationships/notesMaster" Target="/ppt/notesMasters/notesMaster1.xml" Id="Rc80db8891ded4ab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affcddcfc8c4e76" /><Relationship Type="http://schemas.openxmlformats.org/officeDocument/2006/relationships/notesMaster" Target="/ppt/notesMasters/notesMaster1.xml" Id="R4756f988cbe14d1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dfb6f281fe84108" /><Relationship Type="http://schemas.openxmlformats.org/officeDocument/2006/relationships/notesMaster" Target="/ppt/notesMasters/notesMaster1.xml" Id="R743c04736f2b47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scope: README.md. This is a research prototype, not a clinical diagnostic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TRAINING.md. The federated and centralized feature experiments are separate.</a:t>
            </a:r>
          </a:p>
          <a:p xmlns:a="http://schemas.openxmlformats.org/drawingml/2006/main">
            <a:br/>
            <a:r>
              <a:t>Illustration is AI-generated and conceptual; visual details are not project measurements.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Yan et al., https://www.nature.com/articles/s41591-025-03747-y; Mahbod et al., https://pubmed.ncbi.nlm.nih.gov/32268255/; data/reference/research_papers.json. PanDerm published weighted F1 is not macro F1.</a:t>
            </a:r>
          </a:p>
          <a:p xmlns:a="http://schemas.openxmlformats.org/drawingml/2006/main">
            <a:br/>
            <a:r>
              <a:t>Illustration is AI-generated and conceptual; visual details are not project measurements.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TRAINING.md; outputs/feature_models/efficientnet_b0/REPORT.md. Official sets do not supply lesion IDs, so cross-set lesion separation cannot be established.</a:t>
            </a:r>
          </a:p>
          <a:p xmlns:a="http://schemas.openxmlformats.org/drawingml/2006/main">
            <a:br/>
            <a:r>
              <a:t>Illustration is AI-generated and conceptual; visual details are not project measurements.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Examples from data/raw/images/ISIC_0024306.jpg, ISIC_0024307.jpg and ISIC_0024308.jpg. Images come from HAM10000; examples are illustrative and are not shown as a diagnosis. Dataset citation: https://doi.org/10.1038/sdata.2018.161.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AI-generated conceptual illustration, not a clinical image or a literal rendering of model activations. The actual encoders and classifiers are documented in TRAINING.md and src/models/panderm.py.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TRAINING.md; outputs/feature_models/panderm_large_comparison/REPORT.md. Large uses the authors’ released split, rather than the original internal split.</a:t>
            </a:r>
          </a:p>
          <a:p xmlns:a="http://schemas.openxmlformats.org/drawingml/2006/main">
            <a:br/>
            <a:r>
              <a:t>Illustration is AI-generated and conceptual; visual details are not project measurements.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TRAINING.md; src/models/panderm.py; outputs/feature_models/panderm_large_comparison/REPORT.md. Feature dimensions describe the single-view encoder output. Improved EfficientNet concatenates canonical and averaged full-image views, producing 2,560 features. The bare encoder has no seven-class head.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git history; TRAINING.md; outputs/feature_models reports; outputs/cnn_baseline/efficientnet_b0_finetuned/protocol.json. This is an approximate sequence of experiment families, not a claim about exact duration. Recorded durations are incomplete and do not support a complete wall-clock timeline.</a:t>
            </a:r>
          </a:p>
          <a:p xmlns:a="http://schemas.openxmlformats.org/drawingml/2006/main">
            <a:br/>
            <a:r>
              <a:t>Illustration is AI-generated and conceptual; visual details are not project measurements.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TRAINING.md; outputs/feature_models/efficientnet_b0_improved/REPORT.md; outputs/cnn_baseline/efficientnet_b0_finetuned/history.json and protocol.json. Recorded epoch durations sum to approximately 21.8 minutes, excluding setup. Fine-tuning and frozen features are separate experiments.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TRAINING.md; outputs/cnn_baseline/efficientnet_b0_finetuned/protocol.json and REPORT.md. The CNN uses ImageNet V1 weights; the fine-tuning run uses cross-entropy, class weights, augmentation, AdamW, and a 7-class linear head. Stopped after 15 epochs; best epoch selected on validation macro F1.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torchvision EfficientNet-B0 implementation used in src/models/model.py and scripts/train_cnn_baseline.py; TRAINING.md. MBConv includes depthwise convolution and squeeze-and-excitation. The feature pipeline retained the original ImageNet backbone and its standard preprocessing. The fine-tuned CNN uses a linear seven-class head. Diagram is simplified and not to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outputs/feature_models/efficientnet_b0/REPORT.md; outputs/feature_models/efficientnet_b0_improved/REPORT.md; outputs/feature_models/efficientnet_b0_specialists/REPORT.md. Different test sets are labeled explicitly.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outputs/feature_models/panderm_base_comparison/REPORT.md; outputs/feature_models/panderm_large_comparison/REPORT.md; https://www.nature.com/articles/s41591-025-03747-y.</a:t>
            </a:r>
          </a:p>
          <a:p xmlns:a="http://schemas.openxmlformats.org/drawingml/2006/main">
            <a:br/>
            <a:r>
              <a:t>Illustration is AI-generated and conceptual; visual details are not project measurements.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outputs/feature_models/efficientnet_b0/comparison.png and REPORT.md. Internal test macro F1: linear .5832, MLP .6156, XGBoost .5764. The chart is from the original baseline and does not include later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outputs/cnn_baseline/efficientnet_b0_finetuned/REPORT.md. The model uses 7,014 training images; selected checkpoint epoch 11. Official test macro F1 .7178, accuracy .8161. Official test lesion identifiers are unavailable. This comparison is exploratory.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outputs/feature_models/efficientnet_b0_improved/linear/official_test_confusion_matrix.png and REPORT.md. Counts are raw, so common classes have larger cells. Classes: akiec, bcc, bkl, df, mel, nv and vasc. The set was used repeatedly in research and is not fresh independent confirmation.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src/models/panderm.py; outputs/feature_models/panderm_base_comparison/REPORT.md; outputs/feature_models/panderm_large_comparison/REPORT.md; https://www.nature.com/articles/s41591-025-03747-y. Both use patch16 224-pixel vision transformers. The Large and Base runs use different training splits, so results do not isolate the encoder.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outputs/feature_models/panderm_base_comparison/REPORT.md; outputs/feature_models/panderm_large_comparison/REPORT.md; outputs/diagnostics/panderm_paper_reference/REPORT.md. Base trained on 7,014 images; Large used 8,207 authors’ released training images. Tests had previously been examined.</a:t>
            </a:r>
          </a:p>
          <a:p xmlns:a="http://schemas.openxmlformats.org/drawingml/2006/main">
            <a:br/>
            <a:r>
              <a:t>Illustration is AI-generated and conceptual; visual details are not project measurements.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outputs/feature_models/panderm_large_refined/REPORT.md; outputs/feature_models/panderm_large_capacity/REPORT.md. Released HAM test contains 1,232 images. Reused test results are exploratory; they are not fresh independent confirmation.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config.yaml; src/client/client.py; src/server/strategy.py. Differential privacy accounting covers training-image updates, not a patient-level guarantee. Simulation is not evidence of real multi-hospital deployment.</a:t>
            </a:r>
          </a:p>
          <a:p xmlns:a="http://schemas.openxmlformats.org/drawingml/2006/main">
            <a:br/>
            <a:r>
              <a:t>Illustration is AI-generated and conceptual; visual details are not project measurements.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src/client/client.py; src/server/strategy.py. This is a simulation; the feature-model results shown are centralized. FedProx optionally limits local drift. Differential privacy accounting concerns training-image updates, not patient-level privacy. The arrows summarize a repeated communication cycle; global model returns to clients each 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artifacts/improved-app.jpg; README.md; scripts/app.py. Screenshot is an earlier state of the research prototype. Model outputs should not be used for diagnosis; some feature-model scores are not calibrated probabilities.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outputs/feature_models/efficientnet_b0_improved/REPORT.md; outputs/feature_models/panderm_large_comparison/REPORT.md; outputs/diagnostics/specialist_audit/REPORT.md; outputs/diagnostics/panderm_paper_audit/REFERENCE_CORRECTION.md.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outputs/diagnostics/panderm_test_adaptation_once/REPORT.md; outputs/diagnostics/six_model_adaptation/REPORT.md; README.md; TRAINING.md. Pretraining overlap with downstream datasets has not been independently excluded.</a:t>
            </a:r>
          </a:p>
          <a:p xmlns:a="http://schemas.openxmlformats.org/drawingml/2006/main">
            <a:br/>
            <a:r>
              <a:t>Illustration is AI-generated and conceptual; visual details are not project measurements.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outputs/feature_models/panderm_large_comparison/REPORT.md. The reported official-test score is exploratory after repeated test inspection.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1c9f259fc54db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7ed00a230f421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c6bcbe20c147c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949f6e4726412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ab832420cb4eb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ab226446924f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462CBC-2D73-4F23-A0D7-73CD4800FB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204C42F-AA34-46E2-BB47-E39CA055971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FA9F23D-7C1A-40FF-956B-51DC5533AE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C238B2-78AD-4664-BEB1-DA7F5A4DA9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8CC1072-0721-4A1C-B23E-63CD054412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8629BF0-B04B-432F-961A-ECDBF641B2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5D955E-E577-43D6-B166-94189AC18C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FA0BC22-F3A1-4346-9175-94D52CBC0C7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0CC014-5830-4432-AE58-D8145F302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A9A563-C8E8-4289-B84F-E5F98A5D5B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65c0d1d0d54bb1" /><Relationship Type="http://schemas.openxmlformats.org/officeDocument/2006/relationships/slideLayout" Target="/ppt/slideLayouts/slideLayout1.xml" Id="R4bf08156c9b0480b" /><Relationship Type="http://schemas.openxmlformats.org/officeDocument/2006/relationships/slideLayout" Target="/ppt/slideLayouts/slideLayout2.xml" Id="Rc9ef63a761824ef4" /><Relationship Type="http://schemas.openxmlformats.org/officeDocument/2006/relationships/slideLayout" Target="/ppt/slideLayouts/slideLayout3.xml" Id="Rdde503cf6dcb4ecb" /><Relationship Type="http://schemas.openxmlformats.org/officeDocument/2006/relationships/slideLayout" Target="/ppt/slideLayouts/slideLayout4.xml" Id="R3d5bcae73f0543d3" /><Relationship Type="http://schemas.openxmlformats.org/officeDocument/2006/relationships/slideLayout" Target="/ppt/slideLayouts/slideLayout5.xml" Id="R5bbe06a0993547a3" /><Relationship Type="http://schemas.openxmlformats.org/officeDocument/2006/relationships/slideLayout" Target="/ppt/slideLayouts/slideLayout6.xml" Id="Rc395b83defa144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f08156c9b0480b"/>
    <p:sldLayoutId xmlns:r="http://schemas.openxmlformats.org/officeDocument/2006/relationships" id="2147483650" r:id="Rc9ef63a761824ef4"/>
    <p:sldLayoutId xmlns:r="http://schemas.openxmlformats.org/officeDocument/2006/relationships" id="2147483651" r:id="Rdde503cf6dcb4ecb"/>
    <p:sldLayoutId xmlns:r="http://schemas.openxmlformats.org/officeDocument/2006/relationships" id="2147483652" r:id="R3d5bcae73f0543d3"/>
    <p:sldLayoutId xmlns:r="http://schemas.openxmlformats.org/officeDocument/2006/relationships" id="2147483653" r:id="R5bbe06a0993547a3"/>
    <p:sldLayoutId xmlns:r="http://schemas.openxmlformats.org/officeDocument/2006/relationships" id="2147483654" r:id="Rc395b83defa144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d8cba8ed7149fb" /><Relationship Type="http://schemas.openxmlformats.org/officeDocument/2006/relationships/notesSlide" Target="/ppt/notesSlides/notesSlide1.xml" Id="R4914a4f04cb847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923d151b064330" /><Relationship Type="http://schemas.openxmlformats.org/officeDocument/2006/relationships/image" Target="/ppt/media/image.png" Id="R8df71dd15c62441b" /><Relationship Type="http://schemas.openxmlformats.org/officeDocument/2006/relationships/notesSlide" Target="/ppt/notesSlides/notesSlide2.xml" Id="R9caeffb3a16142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cddcd50f954f46" /><Relationship Type="http://schemas.openxmlformats.org/officeDocument/2006/relationships/image" Target="/ppt/media/image2.png" Id="Rdaad20f8e0134496" /><Relationship Type="http://schemas.openxmlformats.org/officeDocument/2006/relationships/notesSlide" Target="/ppt/notesSlides/notesSlide3.xml" Id="Rf714b69abac24b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7bcc9a3a27405e" /><Relationship Type="http://schemas.openxmlformats.org/officeDocument/2006/relationships/image" Target="/ppt/media/image3.png" Id="Rcd903e41af5a46ad" /><Relationship Type="http://schemas.openxmlformats.org/officeDocument/2006/relationships/notesSlide" Target="/ppt/notesSlides/notesSlide4.xml" Id="R504338e01d4d40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c8dc2364f54bce" /><Relationship Type="http://schemas.openxmlformats.org/officeDocument/2006/relationships/image" Target="/ppt/media/image.jpeg" Id="R3638f57349a545cc" /><Relationship Type="http://schemas.openxmlformats.org/officeDocument/2006/relationships/image" Target="/ppt/media/image2.jpeg" Id="R5779eeff490742a6" /><Relationship Type="http://schemas.openxmlformats.org/officeDocument/2006/relationships/image" Target="/ppt/media/image3.jpeg" Id="R7ae0f68d38f446a8" /><Relationship Type="http://schemas.openxmlformats.org/officeDocument/2006/relationships/notesSlide" Target="/ppt/notesSlides/notesSlide5.xml" Id="Rc410e1023de342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68f2f92e614afa" /><Relationship Type="http://schemas.openxmlformats.org/officeDocument/2006/relationships/image" Target="/ppt/media/image4.png" Id="R7148797f800e4c90" /><Relationship Type="http://schemas.openxmlformats.org/officeDocument/2006/relationships/notesSlide" Target="/ppt/notesSlides/notesSlide6.xml" Id="R1d1224fdf0b04d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0c9bcdcafa4ec0" /><Relationship Type="http://schemas.openxmlformats.org/officeDocument/2006/relationships/image" Target="/ppt/media/image5.png" Id="R2513d56df1ed443b" /><Relationship Type="http://schemas.openxmlformats.org/officeDocument/2006/relationships/notesSlide" Target="/ppt/notesSlides/notesSlide7.xml" Id="Rd59a5682553441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4b536786d840f1" /><Relationship Type="http://schemas.openxmlformats.org/officeDocument/2006/relationships/notesSlide" Target="/ppt/notesSlides/notesSlide8.xml" Id="Rb8f992b570b34c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4b5a9873114140" /><Relationship Type="http://schemas.openxmlformats.org/officeDocument/2006/relationships/image" Target="/ppt/media/image6.png" Id="R0f31e7bf503d4f29" /><Relationship Type="http://schemas.openxmlformats.org/officeDocument/2006/relationships/notesSlide" Target="/ppt/notesSlides/notesSlide9.xml" Id="R71ced67bc05843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e7aabfe3544ee5" /><Relationship Type="http://schemas.openxmlformats.org/officeDocument/2006/relationships/notesSlide" Target="/ppt/notesSlides/notesSlide10.xml" Id="R1ced0fdd5fb44b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6bce6b74394929" /><Relationship Type="http://schemas.openxmlformats.org/officeDocument/2006/relationships/notesSlide" Target="/ppt/notesSlides/notesSlide11.xml" Id="R2f8df7f54c52448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6ebae2f5ff4189" /><Relationship Type="http://schemas.openxmlformats.org/officeDocument/2006/relationships/notesSlide" Target="/ppt/notesSlides/notesSlide12.xml" Id="R5381dac2d6b043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a917e8dbfa4a5b" /><Relationship Type="http://schemas.openxmlformats.org/officeDocument/2006/relationships/notesSlide" Target="/ppt/notesSlides/notesSlide13.xml" Id="Rf5cba985939d4e7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38853f7c2f4f92" /><Relationship Type="http://schemas.openxmlformats.org/officeDocument/2006/relationships/image" Target="/ppt/media/image7.png" Id="Rb8dd6015a8db40c2" /><Relationship Type="http://schemas.openxmlformats.org/officeDocument/2006/relationships/notesSlide" Target="/ppt/notesSlides/notesSlide14.xml" Id="R8bedc3d958d9405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2ea09fc1144b99" /><Relationship Type="http://schemas.openxmlformats.org/officeDocument/2006/relationships/image" Target="/ppt/media/image8.png" Id="R386a59288299457f" /><Relationship Type="http://schemas.openxmlformats.org/officeDocument/2006/relationships/notesSlide" Target="/ppt/notesSlides/notesSlide15.xml" Id="R75643f36367146f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ed4e56c0014bc3" /><Relationship Type="http://schemas.openxmlformats.org/officeDocument/2006/relationships/notesSlide" Target="/ppt/notesSlides/notesSlide16.xml" Id="R74f1c51327794b8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efe5b50ec14228" /><Relationship Type="http://schemas.openxmlformats.org/officeDocument/2006/relationships/image" Target="/ppt/media/image9.png" Id="Rfaf2552167d34f2b" /><Relationship Type="http://schemas.openxmlformats.org/officeDocument/2006/relationships/notesSlide" Target="/ppt/notesSlides/notesSlide17.xml" Id="R3e9aeb4a016f429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ca36ae88984c4d" /><Relationship Type="http://schemas.openxmlformats.org/officeDocument/2006/relationships/notesSlide" Target="/ppt/notesSlides/notesSlide18.xml" Id="Rd6c9a5a5f333450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7f4e5942d443bf" /><Relationship Type="http://schemas.openxmlformats.org/officeDocument/2006/relationships/image" Target="/ppt/media/image10.png" Id="Ra4c7ef7b0fba42b4" /><Relationship Type="http://schemas.openxmlformats.org/officeDocument/2006/relationships/notesSlide" Target="/ppt/notesSlides/notesSlide19.xml" Id="Ref6bc0bb6ea7466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3d1f1ced2040a1" /><Relationship Type="http://schemas.openxmlformats.org/officeDocument/2006/relationships/notesSlide" Target="/ppt/notesSlides/notesSlide20.xml" Id="R96d8be1cb52a4dd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dd3660eb0f4e9b" /><Relationship Type="http://schemas.openxmlformats.org/officeDocument/2006/relationships/image" Target="/ppt/media/image11.png" Id="Rf9b981d2379e41e4" /><Relationship Type="http://schemas.openxmlformats.org/officeDocument/2006/relationships/notesSlide" Target="/ppt/notesSlides/notesSlide21.xml" Id="Rff652555651c411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0e3702dfca4b4a" /><Relationship Type="http://schemas.openxmlformats.org/officeDocument/2006/relationships/notesSlide" Target="/ppt/notesSlides/notesSlide22.xml" Id="R98590c040f054fc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c52cda82db4943" /><Relationship Type="http://schemas.openxmlformats.org/officeDocument/2006/relationships/image" Target="/ppt/media/image4.jpeg" Id="R2f7d9d01d5194281" /><Relationship Type="http://schemas.openxmlformats.org/officeDocument/2006/relationships/notesSlide" Target="/ppt/notesSlides/notesSlide23.xml" Id="Re07a784b0774415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4d5023509e4fa8" /><Relationship Type="http://schemas.openxmlformats.org/officeDocument/2006/relationships/notesSlide" Target="/ppt/notesSlides/notesSlide24.xml" Id="R34c0cf10b64748b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6b2056c5284c58" /><Relationship Type="http://schemas.openxmlformats.org/officeDocument/2006/relationships/image" Target="/ppt/media/image12.png" Id="Rba9d36f36a884838" /><Relationship Type="http://schemas.openxmlformats.org/officeDocument/2006/relationships/notesSlide" Target="/ppt/notesSlides/notesSlide25.xml" Id="R2a034c5628174c0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c81e5bc8984300" /><Relationship Type="http://schemas.openxmlformats.org/officeDocument/2006/relationships/notesSlide" Target="/ppt/notesSlides/notesSlide26.xml" Id="Ra3df519fbe8049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6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EB382-32E4-444B-89F1-00088536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FFFFFF"/>
                </a:solidFill>
              </a:defRPr>
            </a:defPPr>
            <a:lvl1pPr>
              <a:buNone/>
              <a:defRPr sz="3750" b="1">
                <a:solidFill>
                  <a:srgbClr val="FFFFFF"/>
                </a:solidFill>
              </a:defRPr>
            </a:lvl1pPr>
            <a:lvl2pPr>
              <a:buNone/>
              <a:defRPr sz="3750" b="1">
                <a:solidFill>
                  <a:srgbClr val="FFFFFF"/>
                </a:solidFill>
              </a:defRPr>
            </a:lvl2pPr>
            <a:lvl3pPr>
              <a:buNone/>
              <a:defRPr sz="3750" b="1">
                <a:solidFill>
                  <a:srgbClr val="FFFFFF"/>
                </a:solidFill>
              </a:defRPr>
            </a:lvl3pPr>
            <a:lvl4pPr>
              <a:buNone/>
              <a:defRPr sz="3750" b="1">
                <a:solidFill>
                  <a:srgbClr val="FFFFFF"/>
                </a:solidFill>
              </a:defRPr>
            </a:lvl4pPr>
            <a:lvl5pPr>
              <a:buNone/>
              <a:defRPr sz="3750" b="1">
                <a:solidFill>
                  <a:srgbClr val="FFFFFF"/>
                </a:solidFill>
              </a:defRPr>
            </a:lvl5pPr>
            <a:lvl6pPr>
              <a:buNone/>
              <a:defRPr sz="3750" b="1">
                <a:solidFill>
                  <a:srgbClr val="FFFFFF"/>
                </a:solidFill>
              </a:defRPr>
            </a:lvl6pPr>
            <a:lvl7pPr>
              <a:buNone/>
              <a:defRPr sz="3750" b="1">
                <a:solidFill>
                  <a:srgbClr val="FFFFFF"/>
                </a:solidFill>
              </a:defRPr>
            </a:lvl7pPr>
            <a:lvl8pPr>
              <a:buNone/>
              <a:defRPr sz="3750" b="1">
                <a:solidFill>
                  <a:srgbClr val="FFFFFF"/>
                </a:solidFill>
              </a:defRPr>
            </a:lvl8pPr>
            <a:lvl9pPr>
              <a:buNone/>
              <a:defRPr sz="37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Skin lesion classification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A6F20-AD0C-482B-9219-22E6E3F0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DE5E4"/>
                </a:solidFill>
              </a:defRPr>
            </a:defPPr>
            <a:lvl1pPr>
              <a:buNone/>
              <a:defRPr sz="2175" b="0">
                <a:solidFill>
                  <a:srgbClr val="BDE5E4"/>
                </a:solidFill>
              </a:defRPr>
            </a:lvl1pPr>
            <a:lvl2pPr>
              <a:buNone/>
              <a:defRPr sz="2175" b="0">
                <a:solidFill>
                  <a:srgbClr val="BDE5E4"/>
                </a:solidFill>
              </a:defRPr>
            </a:lvl2pPr>
            <a:lvl3pPr>
              <a:buNone/>
              <a:defRPr sz="2175" b="0">
                <a:solidFill>
                  <a:srgbClr val="BDE5E4"/>
                </a:solidFill>
              </a:defRPr>
            </a:lvl3pPr>
            <a:lvl4pPr>
              <a:buNone/>
              <a:defRPr sz="2175" b="0">
                <a:solidFill>
                  <a:srgbClr val="BDE5E4"/>
                </a:solidFill>
              </a:defRPr>
            </a:lvl4pPr>
            <a:lvl5pPr>
              <a:buNone/>
              <a:defRPr sz="2175" b="0">
                <a:solidFill>
                  <a:srgbClr val="BDE5E4"/>
                </a:solidFill>
              </a:defRPr>
            </a:lvl5pPr>
            <a:lvl6pPr>
              <a:buNone/>
              <a:defRPr sz="2175" b="0">
                <a:solidFill>
                  <a:srgbClr val="BDE5E4"/>
                </a:solidFill>
              </a:defRPr>
            </a:lvl6pPr>
            <a:lvl7pPr>
              <a:buNone/>
              <a:defRPr sz="2175" b="0">
                <a:solidFill>
                  <a:srgbClr val="BDE5E4"/>
                </a:solidFill>
              </a:defRPr>
            </a:lvl7pPr>
            <a:lvl8pPr>
              <a:buNone/>
              <a:defRPr sz="2175" b="0">
                <a:solidFill>
                  <a:srgbClr val="BDE5E4"/>
                </a:solidFill>
              </a:defRPr>
            </a:lvl8pPr>
            <a:lvl9pPr>
              <a:buNone/>
              <a:defRPr sz="2175" b="0">
                <a:solidFill>
                  <a:srgbClr val="BDE5E4"/>
                </a:solidFill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BDE5E4"/>
                </a:solidFill>
              </a:defRPr>
            </a:pPr>
            <a:r>
              <a:rPr sz="2175" b="0">
                <a:solidFill>
                  <a:srgbClr val="BDE5E4"/>
                </a:solidFill>
              </a:rPr>
              <a:t>Project review: models, methods and findings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0B077-8DF5-47D5-9659-E55E4A83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</a:defRPr>
            </a:defPPr>
            <a:lvl1pPr>
              <a:buNone/>
              <a:defRPr sz="1500" b="0">
                <a:solidFill>
                  <a:srgbClr val="FFFFFF"/>
                </a:solidFill>
              </a:defRPr>
            </a:lvl1pPr>
            <a:lvl2pPr>
              <a:buNone/>
              <a:defRPr sz="1500" b="0">
                <a:solidFill>
                  <a:srgbClr val="FFFFFF"/>
                </a:solidFill>
              </a:defRPr>
            </a:lvl2pPr>
            <a:lvl3pPr>
              <a:buNone/>
              <a:defRPr sz="1500" b="0">
                <a:solidFill>
                  <a:srgbClr val="FFFFFF"/>
                </a:solidFill>
              </a:defRPr>
            </a:lvl3pPr>
            <a:lvl4pPr>
              <a:buNone/>
              <a:defRPr sz="1500" b="0">
                <a:solidFill>
                  <a:srgbClr val="FFFFFF"/>
                </a:solidFill>
              </a:defRPr>
            </a:lvl4pPr>
            <a:lvl5pPr>
              <a:buNone/>
              <a:defRPr sz="1500" b="0">
                <a:solidFill>
                  <a:srgbClr val="FFFFFF"/>
                </a:solidFill>
              </a:defRPr>
            </a:lvl5pPr>
            <a:lvl6pPr>
              <a:buNone/>
              <a:defRPr sz="1500" b="0">
                <a:solidFill>
                  <a:srgbClr val="FFFFFF"/>
                </a:solidFill>
              </a:defRPr>
            </a:lvl6pPr>
            <a:lvl7pPr>
              <a:buNone/>
              <a:defRPr sz="1500" b="0">
                <a:solidFill>
                  <a:srgbClr val="FFFFFF"/>
                </a:solidFill>
              </a:defRPr>
            </a:lvl7pPr>
            <a:lvl8pPr>
              <a:buNone/>
              <a:defRPr sz="1500" b="0">
                <a:solidFill>
                  <a:srgbClr val="FFFFFF"/>
                </a:solidFill>
              </a:defRPr>
            </a:lvl8pPr>
            <a:lvl9pPr>
              <a:buNone/>
              <a:defRPr sz="15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Academic research prototype</a:t>
            </a:r>
          </a:p>
        </p:txBody>
      </p:sp>
    </p:spTree>
    <p:extLst>
      <p:ext uri="{BB962C8B-B14F-4D97-AF65-F5344CB8AC3E}">
        <p14:creationId xmlns:p14="http://schemas.microsoft.com/office/powerpoint/2010/main" val="4117731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6990A1-740C-4CA5-803C-0851B79B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The problem and project goal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5E5A56-0F0D-429D-BE1F-A57C4D55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6048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Skin images contain visual patterns that can help classify seven lesion types.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67C48-414C-4705-909A-D36704A2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6048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Training data is imbalanced, and patient images raise privacy concerns.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10C3B-219F-4E1B-9170-7DD39767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6048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Our goal: compare image models and explore privacy-preserving training.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C086C-1E1C-4916-B700-136F85B6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/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9E613-0786-4A6F-9583-F8C0972752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71dd15c62441b"/>
          <a:stretch xmlns:a="http://schemas.openxmlformats.org/drawingml/2006/main"/>
        </p:blipFill>
        <p:spPr>
          <a:xfrm xmlns:a="http://schemas.openxmlformats.org/drawingml/2006/main">
            <a:off x="7096125" y="2216870"/>
            <a:ext cx="4476750" cy="251951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1241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6D7FF-7DAC-4980-87C3-29A19B06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Research that shaped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83EAD-7A93-492E-9536-7AFF3E5E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6048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PanDerm: a dermatology foundation encoder can transfer to lesion classification with a trained head.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45763-4678-4631-9711-5D3B6BF3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6048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Multi-scale CNN research motivated looking at images in multiple views.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0F15A-1BC2-4114-BD6A-E17DC5B4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6048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Published scores use different datasets, splits and metrics, so direct rankings can mislead.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840F0-B7E7-477F-9FBA-FB1E2FDF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/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865D9-2396-469B-AA8F-6A601D34A5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d20f8e0134496"/>
          <a:stretch xmlns:a="http://schemas.openxmlformats.org/drawingml/2006/main"/>
        </p:blipFill>
        <p:spPr>
          <a:xfrm xmlns:a="http://schemas.openxmlformats.org/drawingml/2006/main">
            <a:off x="7096125" y="2357438"/>
            <a:ext cx="4476750" cy="2238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2411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F42ED-89CD-47B8-8E81-57C845B9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Dataset and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94ECD-5DDC-4B08-89FD-24B204FF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6048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HAM10000: 10,015 dermoscopic images across seven diagnoses.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B43DF-256D-4B10-A645-132DEB26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28875"/>
            <a:ext cx="6048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Our internal split: 7,014 training, 1,509 validation and 1,492 test images.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293D7-142B-4DF0-8019-DA943251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76625"/>
            <a:ext cx="6048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Images of the same lesion stay together within these internal splits.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6A2CD-D660-4391-BEA1-0FDCF9A2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6048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Separate ISIC sets: 193 validation and 1,512 test images.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DD2C5-58D9-4B89-9A39-07A77DEF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/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B0359-295A-41A1-925E-919E4F2D17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03e41af5a46ad"/>
          <a:stretch xmlns:a="http://schemas.openxmlformats.org/drawingml/2006/main"/>
        </p:blipFill>
        <p:spPr>
          <a:xfrm xmlns:a="http://schemas.openxmlformats.org/drawingml/2006/main">
            <a:off x="7096125" y="2544161"/>
            <a:ext cx="4476750" cy="186492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1679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D1CCF-E0AB-49BF-A176-823BB85B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What the models see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7EC2D-F684-4151-9B30-2D22DA56BC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38f57349a545c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" y="1524000"/>
            <a:ext cx="3238500" cy="24288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2E182-BBCB-4C30-BCD0-CE9452B635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9eeff490742a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524000"/>
            <a:ext cx="3238500" cy="242887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76322-7C31-475D-9E64-900C0BA69D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e0f68d38f446a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43875" y="1524000"/>
            <a:ext cx="3238500" cy="2428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B042B-AC2C-4A1F-AE6E-E906357F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0055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0263B"/>
                </a:solidFill>
              </a:defRPr>
            </a:defPPr>
            <a:lvl1pPr>
              <a:buNone/>
              <a:defRPr sz="1950" b="1">
                <a:solidFill>
                  <a:srgbClr val="10263B"/>
                </a:solidFill>
              </a:defRPr>
            </a:lvl1pPr>
            <a:lvl2pPr>
              <a:buNone/>
              <a:defRPr sz="1950" b="1">
                <a:solidFill>
                  <a:srgbClr val="10263B"/>
                </a:solidFill>
              </a:defRPr>
            </a:lvl2pPr>
            <a:lvl3pPr>
              <a:buNone/>
              <a:defRPr sz="1950" b="1">
                <a:solidFill>
                  <a:srgbClr val="10263B"/>
                </a:solidFill>
              </a:defRPr>
            </a:lvl3pPr>
            <a:lvl4pPr>
              <a:buNone/>
              <a:defRPr sz="1950" b="1">
                <a:solidFill>
                  <a:srgbClr val="10263B"/>
                </a:solidFill>
              </a:defRPr>
            </a:lvl4pPr>
            <a:lvl5pPr>
              <a:buNone/>
              <a:defRPr sz="1950" b="1">
                <a:solidFill>
                  <a:srgbClr val="10263B"/>
                </a:solidFill>
              </a:defRPr>
            </a:lvl5pPr>
            <a:lvl6pPr>
              <a:buNone/>
              <a:defRPr sz="1950" b="1">
                <a:solidFill>
                  <a:srgbClr val="10263B"/>
                </a:solidFill>
              </a:defRPr>
            </a:lvl6pPr>
            <a:lvl7pPr>
              <a:buNone/>
              <a:defRPr sz="1950" b="1">
                <a:solidFill>
                  <a:srgbClr val="10263B"/>
                </a:solidFill>
              </a:defRPr>
            </a:lvl7pPr>
            <a:lvl8pPr>
              <a:buNone/>
              <a:defRPr sz="1950" b="1">
                <a:solidFill>
                  <a:srgbClr val="10263B"/>
                </a:solidFill>
              </a:defRPr>
            </a:lvl8pPr>
            <a:lvl9pPr>
              <a:buNone/>
              <a:defRPr sz="19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10263B"/>
                </a:solidFill>
              </a:defRPr>
            </a:pPr>
            <a:r>
              <a:rPr sz="1950" b="1">
                <a:solidFill>
                  <a:srgbClr val="10263B"/>
                </a:solidFill>
              </a:rPr>
              <a:t>Dermoscopic images vary in color, shape and texture.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8F3CD5-427D-418A-9874-58E8BA1F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0062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0263B"/>
                </a:solidFill>
              </a:defRPr>
            </a:defPPr>
            <a:lvl1pPr>
              <a:buNone/>
              <a:defRPr sz="1725" b="0">
                <a:solidFill>
                  <a:srgbClr val="10263B"/>
                </a:solidFill>
              </a:defRPr>
            </a:lvl1pPr>
            <a:lvl2pPr>
              <a:buNone/>
              <a:defRPr sz="1725" b="0">
                <a:solidFill>
                  <a:srgbClr val="10263B"/>
                </a:solidFill>
              </a:defRPr>
            </a:lvl2pPr>
            <a:lvl3pPr>
              <a:buNone/>
              <a:defRPr sz="1725" b="0">
                <a:solidFill>
                  <a:srgbClr val="10263B"/>
                </a:solidFill>
              </a:defRPr>
            </a:lvl3pPr>
            <a:lvl4pPr>
              <a:buNone/>
              <a:defRPr sz="1725" b="0">
                <a:solidFill>
                  <a:srgbClr val="10263B"/>
                </a:solidFill>
              </a:defRPr>
            </a:lvl4pPr>
            <a:lvl5pPr>
              <a:buNone/>
              <a:defRPr sz="1725" b="0">
                <a:solidFill>
                  <a:srgbClr val="10263B"/>
                </a:solidFill>
              </a:defRPr>
            </a:lvl5pPr>
            <a:lvl6pPr>
              <a:buNone/>
              <a:defRPr sz="1725" b="0">
                <a:solidFill>
                  <a:srgbClr val="10263B"/>
                </a:solidFill>
              </a:defRPr>
            </a:lvl6pPr>
            <a:lvl7pPr>
              <a:buNone/>
              <a:defRPr sz="1725" b="0">
                <a:solidFill>
                  <a:srgbClr val="10263B"/>
                </a:solidFill>
              </a:defRPr>
            </a:lvl7pPr>
            <a:lvl8pPr>
              <a:buNone/>
              <a:defRPr sz="1725" b="0">
                <a:solidFill>
                  <a:srgbClr val="10263B"/>
                </a:solidFill>
              </a:defRPr>
            </a:lvl8pPr>
            <a:lvl9pPr>
              <a:buNone/>
              <a:defRPr sz="172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10263B"/>
                </a:solidFill>
              </a:defRPr>
            </a:pPr>
            <a:r>
              <a:rPr sz="1725" b="0">
                <a:solidFill>
                  <a:srgbClr val="10263B"/>
                </a:solidFill>
              </a:rPr>
              <a:t>The model learns visual features from images, then predicts one of seven classes.</a:t>
            </a:r>
          </a:p>
        </p:txBody>
      </p:sp>
    </p:spTree>
    <p:extLst>
      <p:ext uri="{BB962C8B-B14F-4D97-AF65-F5344CB8AC3E}">
        <p14:creationId xmlns:p14="http://schemas.microsoft.com/office/powerpoint/2010/main" val="2425165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27D32-F4AB-496C-8526-7207D917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How images become model features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62DEB-7541-489E-BC04-F80D13246D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48797f800e4c90"/>
          <a:stretch xmlns:a="http://schemas.openxmlformats.org/drawingml/2006/main"/>
        </p:blipFill>
        <p:spPr>
          <a:xfrm xmlns:a="http://schemas.openxmlformats.org/drawingml/2006/main">
            <a:off x="2238375" y="1257300"/>
            <a:ext cx="7715250" cy="38576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723EF-2D6F-4DD6-8777-D397F6F8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863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63B"/>
                </a:solidFill>
              </a:defRPr>
            </a:defPPr>
            <a:lvl1pPr>
              <a:buNone/>
              <a:defRPr sz="1875" b="1">
                <a:solidFill>
                  <a:srgbClr val="10263B"/>
                </a:solidFill>
              </a:defRPr>
            </a:lvl1pPr>
            <a:lvl2pPr>
              <a:buNone/>
              <a:defRPr sz="1875" b="1">
                <a:solidFill>
                  <a:srgbClr val="10263B"/>
                </a:solidFill>
              </a:defRPr>
            </a:lvl2pPr>
            <a:lvl3pPr>
              <a:buNone/>
              <a:defRPr sz="1875" b="1">
                <a:solidFill>
                  <a:srgbClr val="10263B"/>
                </a:solidFill>
              </a:defRPr>
            </a:lvl3pPr>
            <a:lvl4pPr>
              <a:buNone/>
              <a:defRPr sz="1875" b="1">
                <a:solidFill>
                  <a:srgbClr val="10263B"/>
                </a:solidFill>
              </a:defRPr>
            </a:lvl4pPr>
            <a:lvl5pPr>
              <a:buNone/>
              <a:defRPr sz="1875" b="1">
                <a:solidFill>
                  <a:srgbClr val="10263B"/>
                </a:solidFill>
              </a:defRPr>
            </a:lvl5pPr>
            <a:lvl6pPr>
              <a:buNone/>
              <a:defRPr sz="1875" b="1">
                <a:solidFill>
                  <a:srgbClr val="10263B"/>
                </a:solidFill>
              </a:defRPr>
            </a:lvl6pPr>
            <a:lvl7pPr>
              <a:buNone/>
              <a:defRPr sz="1875" b="1">
                <a:solidFill>
                  <a:srgbClr val="10263B"/>
                </a:solidFill>
              </a:defRPr>
            </a:lvl7pPr>
            <a:lvl8pPr>
              <a:buNone/>
              <a:defRPr sz="1875" b="1">
                <a:solidFill>
                  <a:srgbClr val="10263B"/>
                </a:solidFill>
              </a:defRPr>
            </a:lvl8pPr>
            <a:lvl9pPr>
              <a:buNone/>
              <a:defRPr sz="18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0263B"/>
                </a:solidFill>
              </a:defRPr>
            </a:pPr>
            <a:r>
              <a:rPr sz="1875" b="1">
                <a:solidFill>
                  <a:srgbClr val="10263B"/>
                </a:solidFill>
              </a:rPr>
              <a:t>The encoder converts visual patterns into numerical features for a classifier.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67DE1-2171-4BEF-A1EE-E73799C7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055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B6070"/>
                </a:solidFill>
              </a:defRPr>
            </a:defPPr>
            <a:lvl1pPr>
              <a:buNone/>
              <a:defRPr sz="1275" b="0">
                <a:solidFill>
                  <a:srgbClr val="4B6070"/>
                </a:solidFill>
              </a:defRPr>
            </a:lvl1pPr>
            <a:lvl2pPr>
              <a:buNone/>
              <a:defRPr sz="1275" b="0">
                <a:solidFill>
                  <a:srgbClr val="4B6070"/>
                </a:solidFill>
              </a:defRPr>
            </a:lvl2pPr>
            <a:lvl3pPr>
              <a:buNone/>
              <a:defRPr sz="1275" b="0">
                <a:solidFill>
                  <a:srgbClr val="4B6070"/>
                </a:solidFill>
              </a:defRPr>
            </a:lvl3pPr>
            <a:lvl4pPr>
              <a:buNone/>
              <a:defRPr sz="1275" b="0">
                <a:solidFill>
                  <a:srgbClr val="4B6070"/>
                </a:solidFill>
              </a:defRPr>
            </a:lvl4pPr>
            <a:lvl5pPr>
              <a:buNone/>
              <a:defRPr sz="1275" b="0">
                <a:solidFill>
                  <a:srgbClr val="4B6070"/>
                </a:solidFill>
              </a:defRPr>
            </a:lvl5pPr>
            <a:lvl6pPr>
              <a:buNone/>
              <a:defRPr sz="1275" b="0">
                <a:solidFill>
                  <a:srgbClr val="4B6070"/>
                </a:solidFill>
              </a:defRPr>
            </a:lvl6pPr>
            <a:lvl7pPr>
              <a:buNone/>
              <a:defRPr sz="1275" b="0">
                <a:solidFill>
                  <a:srgbClr val="4B6070"/>
                </a:solidFill>
              </a:defRPr>
            </a:lvl7pPr>
            <a:lvl8pPr>
              <a:buNone/>
              <a:defRPr sz="1275" b="0">
                <a:solidFill>
                  <a:srgbClr val="4B6070"/>
                </a:solidFill>
              </a:defRPr>
            </a:lvl8pPr>
            <a:lvl9pPr>
              <a:buNone/>
              <a:defRPr sz="1275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4B6070"/>
                </a:solidFill>
              </a:defRPr>
            </a:pPr>
            <a:r>
              <a:rPr sz="1275" b="0">
                <a:solidFill>
                  <a:srgbClr val="4B6070"/>
                </a:solidFill>
              </a:rPr>
              <a:t>Conceptual illustration</a:t>
            </a:r>
          </a:p>
        </p:txBody>
      </p:sp>
    </p:spTree>
    <p:extLst>
      <p:ext uri="{BB962C8B-B14F-4D97-AF65-F5344CB8AC3E}">
        <p14:creationId xmlns:p14="http://schemas.microsoft.com/office/powerpoint/2010/main" val="4011673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4A9ED-6BCF-40A7-B15E-A53774EF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Our model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6549A-1B43-4DE8-BE30-06556C29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6048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1   Prepare images and split by lesion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246FD-63BA-44C3-8127-7662D6FD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28875"/>
            <a:ext cx="6048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2   Extract features with a pretrained image encoder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714AB-FD2E-4CB9-AB95-3521AEB9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76625"/>
            <a:ext cx="6048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3   Train and select a classifier using training and validation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CFC09-39D3-496F-9BE6-29851382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6048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4   Evaluate saved models on held-out sets and inspect class-level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2F11E-2184-4B20-8240-C9BB8166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/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E6CAE-4A00-4F39-B58D-538E4B3898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13d56df1ed443b"/>
          <a:stretch xmlns:a="http://schemas.openxmlformats.org/drawingml/2006/main"/>
        </p:blipFill>
        <p:spPr>
          <a:xfrm xmlns:a="http://schemas.openxmlformats.org/drawingml/2006/main">
            <a:off x="7096125" y="2357438"/>
            <a:ext cx="4476750" cy="2238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8742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266C10-CC81-4CF7-ACFD-B0EB48CC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Architecture: frozen feature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F1B48-F1D2-4604-9F50-A8F19879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1905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Input image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224 × 224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026B8-F7C7-48C3-AEFB-5CEC26B0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2669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6AD57-94EC-48F2-B3B0-7BD4B618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905000"/>
            <a:ext cx="1905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Pretrained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encoder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70A6F-0D06-43F9-8AEE-DA3F59D0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669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35690-7073-473C-967D-CDF33AA9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905000"/>
            <a:ext cx="1905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Feature vector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(embedding)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58974-8A69-4BC1-98D7-4502B02C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669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700E1-F66E-46ED-82CF-FD9EA81B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05000"/>
            <a:ext cx="1619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Classifier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52DEDF-ADA6-4DCF-9E0C-8DC3655C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2669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C41C1F-102B-4D97-B0D6-23327A7B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905000"/>
            <a:ext cx="1285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7 class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scores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F0C2F-C5F4-4CBF-96D9-16249125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63B"/>
                </a:solidFill>
              </a:defRPr>
            </a:defPPr>
            <a:lvl1pPr>
              <a:buNone/>
              <a:defRPr sz="1875" b="1">
                <a:solidFill>
                  <a:srgbClr val="10263B"/>
                </a:solidFill>
              </a:defRPr>
            </a:lvl1pPr>
            <a:lvl2pPr>
              <a:buNone/>
              <a:defRPr sz="1875" b="1">
                <a:solidFill>
                  <a:srgbClr val="10263B"/>
                </a:solidFill>
              </a:defRPr>
            </a:lvl2pPr>
            <a:lvl3pPr>
              <a:buNone/>
              <a:defRPr sz="1875" b="1">
                <a:solidFill>
                  <a:srgbClr val="10263B"/>
                </a:solidFill>
              </a:defRPr>
            </a:lvl3pPr>
            <a:lvl4pPr>
              <a:buNone/>
              <a:defRPr sz="1875" b="1">
                <a:solidFill>
                  <a:srgbClr val="10263B"/>
                </a:solidFill>
              </a:defRPr>
            </a:lvl4pPr>
            <a:lvl5pPr>
              <a:buNone/>
              <a:defRPr sz="1875" b="1">
                <a:solidFill>
                  <a:srgbClr val="10263B"/>
                </a:solidFill>
              </a:defRPr>
            </a:lvl5pPr>
            <a:lvl6pPr>
              <a:buNone/>
              <a:defRPr sz="1875" b="1">
                <a:solidFill>
                  <a:srgbClr val="10263B"/>
                </a:solidFill>
              </a:defRPr>
            </a:lvl6pPr>
            <a:lvl7pPr>
              <a:buNone/>
              <a:defRPr sz="1875" b="1">
                <a:solidFill>
                  <a:srgbClr val="10263B"/>
                </a:solidFill>
              </a:defRPr>
            </a:lvl7pPr>
            <a:lvl8pPr>
              <a:buNone/>
              <a:defRPr sz="1875" b="1">
                <a:solidFill>
                  <a:srgbClr val="10263B"/>
                </a:solidFill>
              </a:defRPr>
            </a:lvl8pPr>
            <a:lvl9pPr>
              <a:buNone/>
              <a:defRPr sz="18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0263B"/>
                </a:solidFill>
              </a:defRPr>
            </a:pPr>
            <a:r>
              <a:rPr sz="1875" b="1">
                <a:solidFill>
                  <a:srgbClr val="10263B"/>
                </a:solidFill>
              </a:rPr>
              <a:t>Frozen encoder: learn the image representation once.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496788-251B-4878-A80B-CF4825BF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38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buNone/>
              <a:defRPr sz="1800" b="0">
                <a:solidFill>
                  <a:srgbClr val="10263B"/>
                </a:solidFill>
              </a:defRPr>
            </a:lvl1pPr>
            <a:lvl2pPr>
              <a:buNone/>
              <a:defRPr sz="1800" b="0">
                <a:solidFill>
                  <a:srgbClr val="10263B"/>
                </a:solidFill>
              </a:defRPr>
            </a:lvl2pPr>
            <a:lvl3pPr>
              <a:buNone/>
              <a:defRPr sz="1800" b="0">
                <a:solidFill>
                  <a:srgbClr val="10263B"/>
                </a:solidFill>
              </a:defRPr>
            </a:lvl3pPr>
            <a:lvl4pPr>
              <a:buNone/>
              <a:defRPr sz="1800" b="0">
                <a:solidFill>
                  <a:srgbClr val="10263B"/>
                </a:solidFill>
              </a:defRPr>
            </a:lvl4pPr>
            <a:lvl5pPr>
              <a:buNone/>
              <a:defRPr sz="1800" b="0">
                <a:solidFill>
                  <a:srgbClr val="10263B"/>
                </a:solidFill>
              </a:defRPr>
            </a:lvl5pPr>
            <a:lvl6pPr>
              <a:buNone/>
              <a:defRPr sz="1800" b="0">
                <a:solidFill>
                  <a:srgbClr val="10263B"/>
                </a:solidFill>
              </a:defRPr>
            </a:lvl6pPr>
            <a:lvl7pPr>
              <a:buNone/>
              <a:defRPr sz="1800" b="0">
                <a:solidFill>
                  <a:srgbClr val="10263B"/>
                </a:solidFill>
              </a:defRPr>
            </a:lvl7pPr>
            <a:lvl8pPr>
              <a:buNone/>
              <a:defRPr sz="1800" b="0">
                <a:solidFill>
                  <a:srgbClr val="10263B"/>
                </a:solidFill>
              </a:defRPr>
            </a:lvl8pPr>
            <a:lvl9pPr>
              <a:buNone/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Train the head on labeled features; select settings with validation macro F1.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D9AAB-65EE-48DF-AC58-2F2FB875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86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4B6070"/>
                </a:solidFill>
              </a:defRPr>
            </a:defPPr>
            <a:lvl1pPr>
              <a:buNone/>
              <a:defRPr sz="1575" b="0">
                <a:solidFill>
                  <a:srgbClr val="4B6070"/>
                </a:solidFill>
              </a:defRPr>
            </a:lvl1pPr>
            <a:lvl2pPr>
              <a:buNone/>
              <a:defRPr sz="1575" b="0">
                <a:solidFill>
                  <a:srgbClr val="4B6070"/>
                </a:solidFill>
              </a:defRPr>
            </a:lvl2pPr>
            <a:lvl3pPr>
              <a:buNone/>
              <a:defRPr sz="1575" b="0">
                <a:solidFill>
                  <a:srgbClr val="4B6070"/>
                </a:solidFill>
              </a:defRPr>
            </a:lvl3pPr>
            <a:lvl4pPr>
              <a:buNone/>
              <a:defRPr sz="1575" b="0">
                <a:solidFill>
                  <a:srgbClr val="4B6070"/>
                </a:solidFill>
              </a:defRPr>
            </a:lvl4pPr>
            <a:lvl5pPr>
              <a:buNone/>
              <a:defRPr sz="1575" b="0">
                <a:solidFill>
                  <a:srgbClr val="4B6070"/>
                </a:solidFill>
              </a:defRPr>
            </a:lvl5pPr>
            <a:lvl6pPr>
              <a:buNone/>
              <a:defRPr sz="1575" b="0">
                <a:solidFill>
                  <a:srgbClr val="4B6070"/>
                </a:solidFill>
              </a:defRPr>
            </a:lvl6pPr>
            <a:lvl7pPr>
              <a:buNone/>
              <a:defRPr sz="1575" b="0">
                <a:solidFill>
                  <a:srgbClr val="4B6070"/>
                </a:solidFill>
              </a:defRPr>
            </a:lvl7pPr>
            <a:lvl8pPr>
              <a:buNone/>
              <a:defRPr sz="1575" b="0">
                <a:solidFill>
                  <a:srgbClr val="4B6070"/>
                </a:solidFill>
              </a:defRPr>
            </a:lvl8pPr>
            <a:lvl9pPr>
              <a:buNone/>
              <a:defRPr sz="1575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4B6070"/>
                </a:solidFill>
              </a:defRPr>
            </a:pPr>
            <a:r>
              <a:rPr sz="1575" b="0">
                <a:solidFill>
                  <a:srgbClr val="4B6070"/>
                </a:solidFill>
              </a:rPr>
              <a:t>EfficientNet: 1,280 features  |  PanDerm Base: 768  |  PanDerm Large: 1,024</a:t>
            </a:r>
          </a:p>
        </p:txBody>
      </p:sp>
    </p:spTree>
    <p:extLst>
      <p:ext uri="{BB962C8B-B14F-4D97-AF65-F5344CB8AC3E}">
        <p14:creationId xmlns:p14="http://schemas.microsoft.com/office/powerpoint/2010/main" val="11827426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F81264-DFE5-4557-B3BE-4C08878E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Relative training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4F417-3253-45D6-A15F-1F2C6F78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60483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buNone/>
              <a:defRPr sz="1800" b="0">
                <a:solidFill>
                  <a:srgbClr val="10263B"/>
                </a:solidFill>
              </a:defRPr>
            </a:lvl1pPr>
            <a:lvl2pPr>
              <a:buNone/>
              <a:defRPr sz="1800" b="0">
                <a:solidFill>
                  <a:srgbClr val="10263B"/>
                </a:solidFill>
              </a:defRPr>
            </a:lvl2pPr>
            <a:lvl3pPr>
              <a:buNone/>
              <a:defRPr sz="1800" b="0">
                <a:solidFill>
                  <a:srgbClr val="10263B"/>
                </a:solidFill>
              </a:defRPr>
            </a:lvl3pPr>
            <a:lvl4pPr>
              <a:buNone/>
              <a:defRPr sz="1800" b="0">
                <a:solidFill>
                  <a:srgbClr val="10263B"/>
                </a:solidFill>
              </a:defRPr>
            </a:lvl4pPr>
            <a:lvl5pPr>
              <a:buNone/>
              <a:defRPr sz="1800" b="0">
                <a:solidFill>
                  <a:srgbClr val="10263B"/>
                </a:solidFill>
              </a:defRPr>
            </a:lvl5pPr>
            <a:lvl6pPr>
              <a:buNone/>
              <a:defRPr sz="1800" b="0">
                <a:solidFill>
                  <a:srgbClr val="10263B"/>
                </a:solidFill>
              </a:defRPr>
            </a:lvl6pPr>
            <a:lvl7pPr>
              <a:buNone/>
              <a:defRPr sz="1800" b="0">
                <a:solidFill>
                  <a:srgbClr val="10263B"/>
                </a:solidFill>
              </a:defRPr>
            </a:lvl7pPr>
            <a:lvl8pPr>
              <a:buNone/>
              <a:defRPr sz="1800" b="0">
                <a:solidFill>
                  <a:srgbClr val="10263B"/>
                </a:solidFill>
              </a:defRPr>
            </a:lvl8pPr>
            <a:lvl9pPr>
              <a:buNone/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Early   Centralized and federated CNN prototype; EfficientNet feature baselines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7CD11-EF29-4C37-B9DA-867C3590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60483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buNone/>
              <a:defRPr sz="1800" b="0">
                <a:solidFill>
                  <a:srgbClr val="10263B"/>
                </a:solidFill>
              </a:defRPr>
            </a:lvl1pPr>
            <a:lvl2pPr>
              <a:buNone/>
              <a:defRPr sz="1800" b="0">
                <a:solidFill>
                  <a:srgbClr val="10263B"/>
                </a:solidFill>
              </a:defRPr>
            </a:lvl2pPr>
            <a:lvl3pPr>
              <a:buNone/>
              <a:defRPr sz="1800" b="0">
                <a:solidFill>
                  <a:srgbClr val="10263B"/>
                </a:solidFill>
              </a:defRPr>
            </a:lvl3pPr>
            <a:lvl4pPr>
              <a:buNone/>
              <a:defRPr sz="1800" b="0">
                <a:solidFill>
                  <a:srgbClr val="10263B"/>
                </a:solidFill>
              </a:defRPr>
            </a:lvl4pPr>
            <a:lvl5pPr>
              <a:buNone/>
              <a:defRPr sz="1800" b="0">
                <a:solidFill>
                  <a:srgbClr val="10263B"/>
                </a:solidFill>
              </a:defRPr>
            </a:lvl5pPr>
            <a:lvl6pPr>
              <a:buNone/>
              <a:defRPr sz="1800" b="0">
                <a:solidFill>
                  <a:srgbClr val="10263B"/>
                </a:solidFill>
              </a:defRPr>
            </a:lvl6pPr>
            <a:lvl7pPr>
              <a:buNone/>
              <a:defRPr sz="1800" b="0">
                <a:solidFill>
                  <a:srgbClr val="10263B"/>
                </a:solidFill>
              </a:defRPr>
            </a:lvl7pPr>
            <a:lvl8pPr>
              <a:buNone/>
              <a:defRPr sz="1800" b="0">
                <a:solidFill>
                  <a:srgbClr val="10263B"/>
                </a:solidFill>
              </a:defRPr>
            </a:lvl8pPr>
            <a:lvl9pPr>
              <a:buNone/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Next   Class balancing, multiple views and lesion-specific classifiers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B1676-7E6E-4EBE-8DBE-A4BC9405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90875"/>
            <a:ext cx="60483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buNone/>
              <a:defRPr sz="1800" b="0">
                <a:solidFill>
                  <a:srgbClr val="10263B"/>
                </a:solidFill>
              </a:defRPr>
            </a:lvl1pPr>
            <a:lvl2pPr>
              <a:buNone/>
              <a:defRPr sz="1800" b="0">
                <a:solidFill>
                  <a:srgbClr val="10263B"/>
                </a:solidFill>
              </a:defRPr>
            </a:lvl2pPr>
            <a:lvl3pPr>
              <a:buNone/>
              <a:defRPr sz="1800" b="0">
                <a:solidFill>
                  <a:srgbClr val="10263B"/>
                </a:solidFill>
              </a:defRPr>
            </a:lvl3pPr>
            <a:lvl4pPr>
              <a:buNone/>
              <a:defRPr sz="1800" b="0">
                <a:solidFill>
                  <a:srgbClr val="10263B"/>
                </a:solidFill>
              </a:defRPr>
            </a:lvl4pPr>
            <a:lvl5pPr>
              <a:buNone/>
              <a:defRPr sz="1800" b="0">
                <a:solidFill>
                  <a:srgbClr val="10263B"/>
                </a:solidFill>
              </a:defRPr>
            </a:lvl5pPr>
            <a:lvl6pPr>
              <a:buNone/>
              <a:defRPr sz="1800" b="0">
                <a:solidFill>
                  <a:srgbClr val="10263B"/>
                </a:solidFill>
              </a:defRPr>
            </a:lvl6pPr>
            <a:lvl7pPr>
              <a:buNone/>
              <a:defRPr sz="1800" b="0">
                <a:solidFill>
                  <a:srgbClr val="10263B"/>
                </a:solidFill>
              </a:defRPr>
            </a:lvl7pPr>
            <a:lvl8pPr>
              <a:buNone/>
              <a:defRPr sz="1800" b="0">
                <a:solidFill>
                  <a:srgbClr val="10263B"/>
                </a:solidFill>
              </a:defRPr>
            </a:lvl8pPr>
            <a:lvl9pPr>
              <a:buNone/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Then   Frozen PanDerm Base with linear, neural and XGBoost heads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BBA48-8BFC-4041-A97D-765BF815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60483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buNone/>
              <a:defRPr sz="1800" b="0">
                <a:solidFill>
                  <a:srgbClr val="10263B"/>
                </a:solidFill>
              </a:defRPr>
            </a:lvl1pPr>
            <a:lvl2pPr>
              <a:buNone/>
              <a:defRPr sz="1800" b="0">
                <a:solidFill>
                  <a:srgbClr val="10263B"/>
                </a:solidFill>
              </a:defRPr>
            </a:lvl2pPr>
            <a:lvl3pPr>
              <a:buNone/>
              <a:defRPr sz="1800" b="0">
                <a:solidFill>
                  <a:srgbClr val="10263B"/>
                </a:solidFill>
              </a:defRPr>
            </a:lvl3pPr>
            <a:lvl4pPr>
              <a:buNone/>
              <a:defRPr sz="1800" b="0">
                <a:solidFill>
                  <a:srgbClr val="10263B"/>
                </a:solidFill>
              </a:defRPr>
            </a:lvl4pPr>
            <a:lvl5pPr>
              <a:buNone/>
              <a:defRPr sz="1800" b="0">
                <a:solidFill>
                  <a:srgbClr val="10263B"/>
                </a:solidFill>
              </a:defRPr>
            </a:lvl5pPr>
            <a:lvl6pPr>
              <a:buNone/>
              <a:defRPr sz="1800" b="0">
                <a:solidFill>
                  <a:srgbClr val="10263B"/>
                </a:solidFill>
              </a:defRPr>
            </a:lvl6pPr>
            <a:lvl7pPr>
              <a:buNone/>
              <a:defRPr sz="1800" b="0">
                <a:solidFill>
                  <a:srgbClr val="10263B"/>
                </a:solidFill>
              </a:defRPr>
            </a:lvl7pPr>
            <a:lvl8pPr>
              <a:buNone/>
              <a:defRPr sz="1800" b="0">
                <a:solidFill>
                  <a:srgbClr val="10263B"/>
                </a:solidFill>
              </a:defRPr>
            </a:lvl8pPr>
            <a:lvl9pPr>
              <a:buNone/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Later   PanDerm Large author probe, tuned heads and capacity searches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CA636-80B6-4D0D-B20C-6CA6BAEC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00625"/>
            <a:ext cx="60483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buNone/>
              <a:defRPr sz="1800" b="0">
                <a:solidFill>
                  <a:srgbClr val="10263B"/>
                </a:solidFill>
              </a:defRPr>
            </a:lvl1pPr>
            <a:lvl2pPr>
              <a:buNone/>
              <a:defRPr sz="1800" b="0">
                <a:solidFill>
                  <a:srgbClr val="10263B"/>
                </a:solidFill>
              </a:defRPr>
            </a:lvl2pPr>
            <a:lvl3pPr>
              <a:buNone/>
              <a:defRPr sz="1800" b="0">
                <a:solidFill>
                  <a:srgbClr val="10263B"/>
                </a:solidFill>
              </a:defRPr>
            </a:lvl3pPr>
            <a:lvl4pPr>
              <a:buNone/>
              <a:defRPr sz="1800" b="0">
                <a:solidFill>
                  <a:srgbClr val="10263B"/>
                </a:solidFill>
              </a:defRPr>
            </a:lvl4pPr>
            <a:lvl5pPr>
              <a:buNone/>
              <a:defRPr sz="1800" b="0">
                <a:solidFill>
                  <a:srgbClr val="10263B"/>
                </a:solidFill>
              </a:defRPr>
            </a:lvl5pPr>
            <a:lvl6pPr>
              <a:buNone/>
              <a:defRPr sz="1800" b="0">
                <a:solidFill>
                  <a:srgbClr val="10263B"/>
                </a:solidFill>
              </a:defRPr>
            </a:lvl6pPr>
            <a:lvl7pPr>
              <a:buNone/>
              <a:defRPr sz="1800" b="0">
                <a:solidFill>
                  <a:srgbClr val="10263B"/>
                </a:solidFill>
              </a:defRPr>
            </a:lvl7pPr>
            <a:lvl8pPr>
              <a:buNone/>
              <a:defRPr sz="1800" b="0">
                <a:solidFill>
                  <a:srgbClr val="10263B"/>
                </a:solidFill>
              </a:defRPr>
            </a:lvl8pPr>
            <a:lvl9pPr>
              <a:buNone/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Recent   Fine-tuned EfficientNet and diagnostic adaptation experiments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CF71C-D0EF-41A0-87A5-732D121C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/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9CD739-D6E0-4BB7-B70E-3D99C084C4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1e7bf503d4f29"/>
          <a:stretch xmlns:a="http://schemas.openxmlformats.org/drawingml/2006/main"/>
        </p:blipFill>
        <p:spPr>
          <a:xfrm xmlns:a="http://schemas.openxmlformats.org/drawingml/2006/main">
            <a:off x="7096125" y="2357438"/>
            <a:ext cx="4476750" cy="2238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415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D5CC3-6AB6-4728-B354-7928A511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EfficientNet-B0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7217C-BDAC-4A89-A90A-90A23975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A pretrained ImageNet encoder converts each image into reusable features.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DD3EC-E331-45D9-A86A-B4661714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Compared logistic regression, a neural network and XGBoost.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A3D13-7BF5-4D7A-8DE1-50E734B6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Tested class weighting, SMOTE and multi-view image features.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5C48C-C35A-4022-85D3-69ACDF19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Also trained a separate fine-tuned EfficientNet CNN; its recorded run lasted 15 epochs.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E80F4-CAF9-412F-BB35-E644F266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1102606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08D467-EA8A-4EF8-88AE-78096AC0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EfficientNet-B0 architecture and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031EC-38F7-4053-8567-B540A77A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57162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Image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3870F-4703-4E23-ACBB-D7E6AB83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9240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73BC7-E520-45B5-9187-A697AB6C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19250"/>
            <a:ext cx="20478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CNN feature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blocks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964EB-D3C5-4387-BA6C-D3CCD44E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240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13867-1CA9-4573-AC82-95C6F4C1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19250"/>
            <a:ext cx="2095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Pooling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1,280 features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2B027-5AAB-462D-9035-99E261C7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240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671F49-45FF-4F35-BF70-C7E25FA0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214312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7-class 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66C7E-80C2-4493-A86D-AB2552CF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956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87F8C"/>
                </a:solidFill>
              </a:defRPr>
            </a:defPPr>
            <a:lvl1pPr>
              <a:buNone/>
              <a:defRPr sz="1950" b="1">
                <a:solidFill>
                  <a:srgbClr val="087F8C"/>
                </a:solidFill>
              </a:defRPr>
            </a:lvl1pPr>
            <a:lvl2pPr>
              <a:buNone/>
              <a:defRPr sz="1950" b="1">
                <a:solidFill>
                  <a:srgbClr val="087F8C"/>
                </a:solidFill>
              </a:defRPr>
            </a:lvl2pPr>
            <a:lvl3pPr>
              <a:buNone/>
              <a:defRPr sz="1950" b="1">
                <a:solidFill>
                  <a:srgbClr val="087F8C"/>
                </a:solidFill>
              </a:defRPr>
            </a:lvl3pPr>
            <a:lvl4pPr>
              <a:buNone/>
              <a:defRPr sz="1950" b="1">
                <a:solidFill>
                  <a:srgbClr val="087F8C"/>
                </a:solidFill>
              </a:defRPr>
            </a:lvl4pPr>
            <a:lvl5pPr>
              <a:buNone/>
              <a:defRPr sz="1950" b="1">
                <a:solidFill>
                  <a:srgbClr val="087F8C"/>
                </a:solidFill>
              </a:defRPr>
            </a:lvl5pPr>
            <a:lvl6pPr>
              <a:buNone/>
              <a:defRPr sz="1950" b="1">
                <a:solidFill>
                  <a:srgbClr val="087F8C"/>
                </a:solidFill>
              </a:defRPr>
            </a:lvl6pPr>
            <a:lvl7pPr>
              <a:buNone/>
              <a:defRPr sz="1950" b="1">
                <a:solidFill>
                  <a:srgbClr val="087F8C"/>
                </a:solidFill>
              </a:defRPr>
            </a:lvl7pPr>
            <a:lvl8pPr>
              <a:buNone/>
              <a:defRPr sz="1950" b="1">
                <a:solidFill>
                  <a:srgbClr val="087F8C"/>
                </a:solidFill>
              </a:defRPr>
            </a:lvl8pPr>
            <a:lvl9pPr>
              <a:buNone/>
              <a:defRPr sz="1950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087F8C"/>
                </a:solidFill>
              </a:defRPr>
            </a:pPr>
            <a:r>
              <a:rPr sz="1950" b="1">
                <a:solidFill>
                  <a:srgbClr val="087F8C"/>
                </a:solidFill>
              </a:rPr>
              <a:t>Frozen-feature runs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9EF5D2-B2F6-4859-A251-2BA0788E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7187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buNone/>
              <a:defRPr sz="1800" b="0">
                <a:solidFill>
                  <a:srgbClr val="10263B"/>
                </a:solidFill>
              </a:defRPr>
            </a:lvl1pPr>
            <a:lvl2pPr>
              <a:buNone/>
              <a:defRPr sz="1800" b="0">
                <a:solidFill>
                  <a:srgbClr val="10263B"/>
                </a:solidFill>
              </a:defRPr>
            </a:lvl2pPr>
            <a:lvl3pPr>
              <a:buNone/>
              <a:defRPr sz="1800" b="0">
                <a:solidFill>
                  <a:srgbClr val="10263B"/>
                </a:solidFill>
              </a:defRPr>
            </a:lvl3pPr>
            <a:lvl4pPr>
              <a:buNone/>
              <a:defRPr sz="1800" b="0">
                <a:solidFill>
                  <a:srgbClr val="10263B"/>
                </a:solidFill>
              </a:defRPr>
            </a:lvl4pPr>
            <a:lvl5pPr>
              <a:buNone/>
              <a:defRPr sz="1800" b="0">
                <a:solidFill>
                  <a:srgbClr val="10263B"/>
                </a:solidFill>
              </a:defRPr>
            </a:lvl5pPr>
            <a:lvl6pPr>
              <a:buNone/>
              <a:defRPr sz="1800" b="0">
                <a:solidFill>
                  <a:srgbClr val="10263B"/>
                </a:solidFill>
              </a:defRPr>
            </a:lvl6pPr>
            <a:lvl7pPr>
              <a:buNone/>
              <a:defRPr sz="1800" b="0">
                <a:solidFill>
                  <a:srgbClr val="10263B"/>
                </a:solidFill>
              </a:defRPr>
            </a:lvl7pPr>
            <a:lvl8pPr>
              <a:buNone/>
              <a:defRPr sz="1800" b="0">
                <a:solidFill>
                  <a:srgbClr val="10263B"/>
                </a:solidFill>
              </a:defRPr>
            </a:lvl8pPr>
            <a:lvl9pPr>
              <a:buNone/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Trained logistic regression, MLP or XGBoost on cached features.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0C79E7-4D18-47BB-8B52-3D0B7AFD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87F8C"/>
                </a:solidFill>
              </a:defRPr>
            </a:defPPr>
            <a:lvl1pPr>
              <a:buNone/>
              <a:defRPr sz="1950" b="1">
                <a:solidFill>
                  <a:srgbClr val="087F8C"/>
                </a:solidFill>
              </a:defRPr>
            </a:lvl1pPr>
            <a:lvl2pPr>
              <a:buNone/>
              <a:defRPr sz="1950" b="1">
                <a:solidFill>
                  <a:srgbClr val="087F8C"/>
                </a:solidFill>
              </a:defRPr>
            </a:lvl2pPr>
            <a:lvl3pPr>
              <a:buNone/>
              <a:defRPr sz="1950" b="1">
                <a:solidFill>
                  <a:srgbClr val="087F8C"/>
                </a:solidFill>
              </a:defRPr>
            </a:lvl3pPr>
            <a:lvl4pPr>
              <a:buNone/>
              <a:defRPr sz="1950" b="1">
                <a:solidFill>
                  <a:srgbClr val="087F8C"/>
                </a:solidFill>
              </a:defRPr>
            </a:lvl4pPr>
            <a:lvl5pPr>
              <a:buNone/>
              <a:defRPr sz="1950" b="1">
                <a:solidFill>
                  <a:srgbClr val="087F8C"/>
                </a:solidFill>
              </a:defRPr>
            </a:lvl5pPr>
            <a:lvl6pPr>
              <a:buNone/>
              <a:defRPr sz="1950" b="1">
                <a:solidFill>
                  <a:srgbClr val="087F8C"/>
                </a:solidFill>
              </a:defRPr>
            </a:lvl6pPr>
            <a:lvl7pPr>
              <a:buNone/>
              <a:defRPr sz="1950" b="1">
                <a:solidFill>
                  <a:srgbClr val="087F8C"/>
                </a:solidFill>
              </a:defRPr>
            </a:lvl7pPr>
            <a:lvl8pPr>
              <a:buNone/>
              <a:defRPr sz="1950" b="1">
                <a:solidFill>
                  <a:srgbClr val="087F8C"/>
                </a:solidFill>
              </a:defRPr>
            </a:lvl8pPr>
            <a:lvl9pPr>
              <a:buNone/>
              <a:defRPr sz="1950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087F8C"/>
                </a:solidFill>
              </a:defRPr>
            </a:pPr>
            <a:r>
              <a:rPr sz="1950" b="1">
                <a:solidFill>
                  <a:srgbClr val="087F8C"/>
                </a:solidFill>
              </a:rPr>
              <a:t>Fine-tuning 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902F3-5285-4526-AD56-2D555242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0062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buNone/>
              <a:defRPr sz="1800" b="0">
                <a:solidFill>
                  <a:srgbClr val="10263B"/>
                </a:solidFill>
              </a:defRPr>
            </a:lvl1pPr>
            <a:lvl2pPr>
              <a:buNone/>
              <a:defRPr sz="1800" b="0">
                <a:solidFill>
                  <a:srgbClr val="10263B"/>
                </a:solidFill>
              </a:defRPr>
            </a:lvl2pPr>
            <a:lvl3pPr>
              <a:buNone/>
              <a:defRPr sz="1800" b="0">
                <a:solidFill>
                  <a:srgbClr val="10263B"/>
                </a:solidFill>
              </a:defRPr>
            </a:lvl3pPr>
            <a:lvl4pPr>
              <a:buNone/>
              <a:defRPr sz="1800" b="0">
                <a:solidFill>
                  <a:srgbClr val="10263B"/>
                </a:solidFill>
              </a:defRPr>
            </a:lvl4pPr>
            <a:lvl5pPr>
              <a:buNone/>
              <a:defRPr sz="1800" b="0">
                <a:solidFill>
                  <a:srgbClr val="10263B"/>
                </a:solidFill>
              </a:defRPr>
            </a:lvl5pPr>
            <a:lvl6pPr>
              <a:buNone/>
              <a:defRPr sz="1800" b="0">
                <a:solidFill>
                  <a:srgbClr val="10263B"/>
                </a:solidFill>
              </a:defRPr>
            </a:lvl6pPr>
            <a:lvl7pPr>
              <a:buNone/>
              <a:defRPr sz="1800" b="0">
                <a:solidFill>
                  <a:srgbClr val="10263B"/>
                </a:solidFill>
              </a:defRPr>
            </a:lvl7pPr>
            <a:lvl8pPr>
              <a:buNone/>
              <a:defRPr sz="1800" b="0">
                <a:solidFill>
                  <a:srgbClr val="10263B"/>
                </a:solidFill>
              </a:defRPr>
            </a:lvl8pPr>
            <a:lvl9pPr>
              <a:buNone/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Updated the EfficientNet backbone and a linear head; best checkpoint was epoch 11.</a:t>
            </a:r>
          </a:p>
        </p:txBody>
      </p:sp>
    </p:spTree>
    <p:extLst>
      <p:ext uri="{BB962C8B-B14F-4D97-AF65-F5344CB8AC3E}">
        <p14:creationId xmlns:p14="http://schemas.microsoft.com/office/powerpoint/2010/main" val="8073794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60C79-264C-4F70-AB27-AAE5349D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Inside EfficientNet-B0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32BBF-29C4-4E26-BA37-05261A76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171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0263B"/>
                </a:solidFill>
              </a:defRPr>
            </a:defPPr>
            <a:lvl1pPr algn="ctr">
              <a:buNone/>
              <a:defRPr sz="1500" b="1">
                <a:solidFill>
                  <a:srgbClr val="10263B"/>
                </a:solidFill>
              </a:defRPr>
            </a:lvl1pPr>
            <a:lvl2pPr algn="ctr">
              <a:buNone/>
              <a:defRPr sz="1500" b="1">
                <a:solidFill>
                  <a:srgbClr val="10263B"/>
                </a:solidFill>
              </a:defRPr>
            </a:lvl2pPr>
            <a:lvl3pPr algn="ctr">
              <a:buNone/>
              <a:defRPr sz="1500" b="1">
                <a:solidFill>
                  <a:srgbClr val="10263B"/>
                </a:solidFill>
              </a:defRPr>
            </a:lvl3pPr>
            <a:lvl4pPr algn="ctr">
              <a:buNone/>
              <a:defRPr sz="1500" b="1">
                <a:solidFill>
                  <a:srgbClr val="10263B"/>
                </a:solidFill>
              </a:defRPr>
            </a:lvl4pPr>
            <a:lvl5pPr algn="ctr">
              <a:buNone/>
              <a:defRPr sz="1500" b="1">
                <a:solidFill>
                  <a:srgbClr val="10263B"/>
                </a:solidFill>
              </a:defRPr>
            </a:lvl5pPr>
            <a:lvl6pPr algn="ctr">
              <a:buNone/>
              <a:defRPr sz="1500" b="1">
                <a:solidFill>
                  <a:srgbClr val="10263B"/>
                </a:solidFill>
              </a:defRPr>
            </a:lvl6pPr>
            <a:lvl7pPr algn="ctr">
              <a:buNone/>
              <a:defRPr sz="1500" b="1">
                <a:solidFill>
                  <a:srgbClr val="10263B"/>
                </a:solidFill>
              </a:defRPr>
            </a:lvl7pPr>
            <a:lvl8pPr algn="ctr">
              <a:buNone/>
              <a:defRPr sz="1500" b="1">
                <a:solidFill>
                  <a:srgbClr val="10263B"/>
                </a:solidFill>
              </a:defRPr>
            </a:lvl8pPr>
            <a:lvl9pPr algn="ctr">
              <a:buNone/>
              <a:defRPr sz="150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10263B"/>
                </a:solidFill>
              </a:defRPr>
            </a:pPr>
            <a:r>
              <a:rPr sz="1500" b="1">
                <a:solidFill>
                  <a:srgbClr val="10263B"/>
                </a:solidFill>
              </a:rPr>
              <a:t>Input image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0263B"/>
                </a:solidFill>
              </a:defRPr>
            </a:pPr>
            <a:r>
              <a:rPr sz="1500" b="1">
                <a:solidFill>
                  <a:srgbClr val="10263B"/>
                </a:solidFill>
              </a:rPr>
              <a:t>224 × 224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D3237-ACCA-465F-8A72-32F7CAC1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019300"/>
            <a:ext cx="4286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6631E-C792-4577-B82F-FDCC6889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66875"/>
            <a:ext cx="171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0263B"/>
                </a:solidFill>
              </a:defRPr>
            </a:defPPr>
            <a:lvl1pPr algn="ctr">
              <a:buNone/>
              <a:defRPr sz="1500" b="1">
                <a:solidFill>
                  <a:srgbClr val="10263B"/>
                </a:solidFill>
              </a:defRPr>
            </a:lvl1pPr>
            <a:lvl2pPr algn="ctr">
              <a:buNone/>
              <a:defRPr sz="1500" b="1">
                <a:solidFill>
                  <a:srgbClr val="10263B"/>
                </a:solidFill>
              </a:defRPr>
            </a:lvl2pPr>
            <a:lvl3pPr algn="ctr">
              <a:buNone/>
              <a:defRPr sz="1500" b="1">
                <a:solidFill>
                  <a:srgbClr val="10263B"/>
                </a:solidFill>
              </a:defRPr>
            </a:lvl3pPr>
            <a:lvl4pPr algn="ctr">
              <a:buNone/>
              <a:defRPr sz="1500" b="1">
                <a:solidFill>
                  <a:srgbClr val="10263B"/>
                </a:solidFill>
              </a:defRPr>
            </a:lvl4pPr>
            <a:lvl5pPr algn="ctr">
              <a:buNone/>
              <a:defRPr sz="1500" b="1">
                <a:solidFill>
                  <a:srgbClr val="10263B"/>
                </a:solidFill>
              </a:defRPr>
            </a:lvl5pPr>
            <a:lvl6pPr algn="ctr">
              <a:buNone/>
              <a:defRPr sz="1500" b="1">
                <a:solidFill>
                  <a:srgbClr val="10263B"/>
                </a:solidFill>
              </a:defRPr>
            </a:lvl6pPr>
            <a:lvl7pPr algn="ctr">
              <a:buNone/>
              <a:defRPr sz="1500" b="1">
                <a:solidFill>
                  <a:srgbClr val="10263B"/>
                </a:solidFill>
              </a:defRPr>
            </a:lvl7pPr>
            <a:lvl8pPr algn="ctr">
              <a:buNone/>
              <a:defRPr sz="1500" b="1">
                <a:solidFill>
                  <a:srgbClr val="10263B"/>
                </a:solidFill>
              </a:defRPr>
            </a:lvl8pPr>
            <a:lvl9pPr algn="ctr">
              <a:buNone/>
              <a:defRPr sz="150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10263B"/>
                </a:solidFill>
              </a:defRPr>
            </a:pPr>
            <a:r>
              <a:rPr sz="1500" b="1">
                <a:solidFill>
                  <a:srgbClr val="10263B"/>
                </a:solidFill>
              </a:rPr>
              <a:t>Stem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0263B"/>
                </a:solidFill>
              </a:defRPr>
            </a:pPr>
            <a:r>
              <a:rPr sz="1500" b="1">
                <a:solidFill>
                  <a:srgbClr val="10263B"/>
                </a:solidFill>
              </a:rPr>
              <a:t>convolution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34DFC-545F-49E2-BC8D-47B16344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19300"/>
            <a:ext cx="4286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17224-AFF6-4224-8591-A69F76C8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666875"/>
            <a:ext cx="2143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0263B"/>
                </a:solidFill>
              </a:defRPr>
            </a:defPPr>
            <a:lvl1pPr algn="ctr">
              <a:buNone/>
              <a:defRPr sz="1500" b="1">
                <a:solidFill>
                  <a:srgbClr val="10263B"/>
                </a:solidFill>
              </a:defRPr>
            </a:lvl1pPr>
            <a:lvl2pPr algn="ctr">
              <a:buNone/>
              <a:defRPr sz="1500" b="1">
                <a:solidFill>
                  <a:srgbClr val="10263B"/>
                </a:solidFill>
              </a:defRPr>
            </a:lvl2pPr>
            <a:lvl3pPr algn="ctr">
              <a:buNone/>
              <a:defRPr sz="1500" b="1">
                <a:solidFill>
                  <a:srgbClr val="10263B"/>
                </a:solidFill>
              </a:defRPr>
            </a:lvl3pPr>
            <a:lvl4pPr algn="ctr">
              <a:buNone/>
              <a:defRPr sz="1500" b="1">
                <a:solidFill>
                  <a:srgbClr val="10263B"/>
                </a:solidFill>
              </a:defRPr>
            </a:lvl4pPr>
            <a:lvl5pPr algn="ctr">
              <a:buNone/>
              <a:defRPr sz="1500" b="1">
                <a:solidFill>
                  <a:srgbClr val="10263B"/>
                </a:solidFill>
              </a:defRPr>
            </a:lvl5pPr>
            <a:lvl6pPr algn="ctr">
              <a:buNone/>
              <a:defRPr sz="1500" b="1">
                <a:solidFill>
                  <a:srgbClr val="10263B"/>
                </a:solidFill>
              </a:defRPr>
            </a:lvl6pPr>
            <a:lvl7pPr algn="ctr">
              <a:buNone/>
              <a:defRPr sz="1500" b="1">
                <a:solidFill>
                  <a:srgbClr val="10263B"/>
                </a:solidFill>
              </a:defRPr>
            </a:lvl7pPr>
            <a:lvl8pPr algn="ctr">
              <a:buNone/>
              <a:defRPr sz="1500" b="1">
                <a:solidFill>
                  <a:srgbClr val="10263B"/>
                </a:solidFill>
              </a:defRPr>
            </a:lvl8pPr>
            <a:lvl9pPr algn="ctr">
              <a:buNone/>
              <a:defRPr sz="150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10263B"/>
                </a:solidFill>
              </a:defRPr>
            </a:pPr>
            <a:r>
              <a:rPr sz="1500" b="1">
                <a:solidFill>
                  <a:srgbClr val="10263B"/>
                </a:solidFill>
              </a:rPr>
              <a:t>Repeated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0263B"/>
                </a:solidFill>
              </a:defRPr>
            </a:pPr>
            <a:r>
              <a:rPr sz="1500" b="1">
                <a:solidFill>
                  <a:srgbClr val="10263B"/>
                </a:solidFill>
              </a:rPr>
              <a:t>MBConv blocks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97D242-8134-4FF3-B169-ECD2829D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19300"/>
            <a:ext cx="4286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7FE63-994B-4B48-8ECC-CD9EB1FC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1905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0263B"/>
                </a:solidFill>
              </a:defRPr>
            </a:defPPr>
            <a:lvl1pPr algn="ctr">
              <a:buNone/>
              <a:defRPr sz="1500" b="1">
                <a:solidFill>
                  <a:srgbClr val="10263B"/>
                </a:solidFill>
              </a:defRPr>
            </a:lvl1pPr>
            <a:lvl2pPr algn="ctr">
              <a:buNone/>
              <a:defRPr sz="1500" b="1">
                <a:solidFill>
                  <a:srgbClr val="10263B"/>
                </a:solidFill>
              </a:defRPr>
            </a:lvl2pPr>
            <a:lvl3pPr algn="ctr">
              <a:buNone/>
              <a:defRPr sz="1500" b="1">
                <a:solidFill>
                  <a:srgbClr val="10263B"/>
                </a:solidFill>
              </a:defRPr>
            </a:lvl3pPr>
            <a:lvl4pPr algn="ctr">
              <a:buNone/>
              <a:defRPr sz="1500" b="1">
                <a:solidFill>
                  <a:srgbClr val="10263B"/>
                </a:solidFill>
              </a:defRPr>
            </a:lvl4pPr>
            <a:lvl5pPr algn="ctr">
              <a:buNone/>
              <a:defRPr sz="1500" b="1">
                <a:solidFill>
                  <a:srgbClr val="10263B"/>
                </a:solidFill>
              </a:defRPr>
            </a:lvl5pPr>
            <a:lvl6pPr algn="ctr">
              <a:buNone/>
              <a:defRPr sz="1500" b="1">
                <a:solidFill>
                  <a:srgbClr val="10263B"/>
                </a:solidFill>
              </a:defRPr>
            </a:lvl6pPr>
            <a:lvl7pPr algn="ctr">
              <a:buNone/>
              <a:defRPr sz="1500" b="1">
                <a:solidFill>
                  <a:srgbClr val="10263B"/>
                </a:solidFill>
              </a:defRPr>
            </a:lvl7pPr>
            <a:lvl8pPr algn="ctr">
              <a:buNone/>
              <a:defRPr sz="1500" b="1">
                <a:solidFill>
                  <a:srgbClr val="10263B"/>
                </a:solidFill>
              </a:defRPr>
            </a:lvl8pPr>
            <a:lvl9pPr algn="ctr">
              <a:buNone/>
              <a:defRPr sz="150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10263B"/>
                </a:solidFill>
              </a:defRPr>
            </a:pPr>
            <a:r>
              <a:rPr sz="1500" b="1">
                <a:solidFill>
                  <a:srgbClr val="10263B"/>
                </a:solidFill>
              </a:rPr>
              <a:t>Pooling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0263B"/>
                </a:solidFill>
              </a:defRPr>
            </a:pPr>
            <a:r>
              <a:rPr sz="1500" b="1">
                <a:solidFill>
                  <a:srgbClr val="10263B"/>
                </a:solidFill>
              </a:rPr>
              <a:t>1,280 features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EEF0F-3D7F-41E2-8A19-66DEBA32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019300"/>
            <a:ext cx="4286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E372A2-A359-4FF7-B54E-7368E9FB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666875"/>
            <a:ext cx="12858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0263B"/>
                </a:solidFill>
              </a:defRPr>
            </a:defPPr>
            <a:lvl1pPr algn="ctr">
              <a:buNone/>
              <a:defRPr sz="1500" b="1">
                <a:solidFill>
                  <a:srgbClr val="10263B"/>
                </a:solidFill>
              </a:defRPr>
            </a:lvl1pPr>
            <a:lvl2pPr algn="ctr">
              <a:buNone/>
              <a:defRPr sz="1500" b="1">
                <a:solidFill>
                  <a:srgbClr val="10263B"/>
                </a:solidFill>
              </a:defRPr>
            </a:lvl2pPr>
            <a:lvl3pPr algn="ctr">
              <a:buNone/>
              <a:defRPr sz="1500" b="1">
                <a:solidFill>
                  <a:srgbClr val="10263B"/>
                </a:solidFill>
              </a:defRPr>
            </a:lvl3pPr>
            <a:lvl4pPr algn="ctr">
              <a:buNone/>
              <a:defRPr sz="1500" b="1">
                <a:solidFill>
                  <a:srgbClr val="10263B"/>
                </a:solidFill>
              </a:defRPr>
            </a:lvl4pPr>
            <a:lvl5pPr algn="ctr">
              <a:buNone/>
              <a:defRPr sz="1500" b="1">
                <a:solidFill>
                  <a:srgbClr val="10263B"/>
                </a:solidFill>
              </a:defRPr>
            </a:lvl5pPr>
            <a:lvl6pPr algn="ctr">
              <a:buNone/>
              <a:defRPr sz="1500" b="1">
                <a:solidFill>
                  <a:srgbClr val="10263B"/>
                </a:solidFill>
              </a:defRPr>
            </a:lvl6pPr>
            <a:lvl7pPr algn="ctr">
              <a:buNone/>
              <a:defRPr sz="1500" b="1">
                <a:solidFill>
                  <a:srgbClr val="10263B"/>
                </a:solidFill>
              </a:defRPr>
            </a:lvl7pPr>
            <a:lvl8pPr algn="ctr">
              <a:buNone/>
              <a:defRPr sz="1500" b="1">
                <a:solidFill>
                  <a:srgbClr val="10263B"/>
                </a:solidFill>
              </a:defRPr>
            </a:lvl8pPr>
            <a:lvl9pPr algn="ctr">
              <a:buNone/>
              <a:defRPr sz="150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10263B"/>
                </a:solidFill>
              </a:defRPr>
            </a:pPr>
            <a:r>
              <a:rPr sz="1500" b="1">
                <a:solidFill>
                  <a:srgbClr val="10263B"/>
                </a:solidFill>
              </a:rPr>
              <a:t>7-class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0263B"/>
                </a:solidFill>
              </a:defRPr>
            </a:pPr>
            <a:r>
              <a:rPr sz="1500" b="1">
                <a:solidFill>
                  <a:srgbClr val="10263B"/>
                </a:solidFill>
              </a:rPr>
              <a:t>head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E170C0-7B25-41F3-A832-30F80402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385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buNone/>
              <a:defRPr sz="1800" b="0">
                <a:solidFill>
                  <a:srgbClr val="10263B"/>
                </a:solidFill>
              </a:defRPr>
            </a:lvl1pPr>
            <a:lvl2pPr>
              <a:buNone/>
              <a:defRPr sz="1800" b="0">
                <a:solidFill>
                  <a:srgbClr val="10263B"/>
                </a:solidFill>
              </a:defRPr>
            </a:lvl2pPr>
            <a:lvl3pPr>
              <a:buNone/>
              <a:defRPr sz="1800" b="0">
                <a:solidFill>
                  <a:srgbClr val="10263B"/>
                </a:solidFill>
              </a:defRPr>
            </a:lvl3pPr>
            <a:lvl4pPr>
              <a:buNone/>
              <a:defRPr sz="1800" b="0">
                <a:solidFill>
                  <a:srgbClr val="10263B"/>
                </a:solidFill>
              </a:defRPr>
            </a:lvl4pPr>
            <a:lvl5pPr>
              <a:buNone/>
              <a:defRPr sz="1800" b="0">
                <a:solidFill>
                  <a:srgbClr val="10263B"/>
                </a:solidFill>
              </a:defRPr>
            </a:lvl5pPr>
            <a:lvl6pPr>
              <a:buNone/>
              <a:defRPr sz="1800" b="0">
                <a:solidFill>
                  <a:srgbClr val="10263B"/>
                </a:solidFill>
              </a:defRPr>
            </a:lvl6pPr>
            <a:lvl7pPr>
              <a:buNone/>
              <a:defRPr sz="1800" b="0">
                <a:solidFill>
                  <a:srgbClr val="10263B"/>
                </a:solidFill>
              </a:defRPr>
            </a:lvl7pPr>
            <a:lvl8pPr>
              <a:buNone/>
              <a:defRPr sz="1800" b="0">
                <a:solidFill>
                  <a:srgbClr val="10263B"/>
                </a:solidFill>
              </a:defRPr>
            </a:lvl8pPr>
            <a:lvl9pPr>
              <a:buNone/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Convolutions detect visual patterns, from edges to more complex features.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74DA66-42A4-435A-83CA-37DA8513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052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buNone/>
              <a:defRPr sz="1800" b="0">
                <a:solidFill>
                  <a:srgbClr val="10263B"/>
                </a:solidFill>
              </a:defRPr>
            </a:lvl1pPr>
            <a:lvl2pPr>
              <a:buNone/>
              <a:defRPr sz="1800" b="0">
                <a:solidFill>
                  <a:srgbClr val="10263B"/>
                </a:solidFill>
              </a:defRPr>
            </a:lvl2pPr>
            <a:lvl3pPr>
              <a:buNone/>
              <a:defRPr sz="1800" b="0">
                <a:solidFill>
                  <a:srgbClr val="10263B"/>
                </a:solidFill>
              </a:defRPr>
            </a:lvl3pPr>
            <a:lvl4pPr>
              <a:buNone/>
              <a:defRPr sz="1800" b="0">
                <a:solidFill>
                  <a:srgbClr val="10263B"/>
                </a:solidFill>
              </a:defRPr>
            </a:lvl4pPr>
            <a:lvl5pPr>
              <a:buNone/>
              <a:defRPr sz="1800" b="0">
                <a:solidFill>
                  <a:srgbClr val="10263B"/>
                </a:solidFill>
              </a:defRPr>
            </a:lvl5pPr>
            <a:lvl6pPr>
              <a:buNone/>
              <a:defRPr sz="1800" b="0">
                <a:solidFill>
                  <a:srgbClr val="10263B"/>
                </a:solidFill>
              </a:defRPr>
            </a:lvl6pPr>
            <a:lvl7pPr>
              <a:buNone/>
              <a:defRPr sz="1800" b="0">
                <a:solidFill>
                  <a:srgbClr val="10263B"/>
                </a:solidFill>
              </a:defRPr>
            </a:lvl7pPr>
            <a:lvl8pPr>
              <a:buNone/>
              <a:defRPr sz="1800" b="0">
                <a:solidFill>
                  <a:srgbClr val="10263B"/>
                </a:solidFill>
              </a:defRPr>
            </a:lvl8pPr>
            <a:lvl9pPr>
              <a:buNone/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MBConv blocks use efficient convolutions and channel attention.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768EB3-822E-4CC3-8965-44C3BDDB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buNone/>
              <a:defRPr sz="1800" b="0">
                <a:solidFill>
                  <a:srgbClr val="10263B"/>
                </a:solidFill>
              </a:defRPr>
            </a:lvl1pPr>
            <a:lvl2pPr>
              <a:buNone/>
              <a:defRPr sz="1800" b="0">
                <a:solidFill>
                  <a:srgbClr val="10263B"/>
                </a:solidFill>
              </a:defRPr>
            </a:lvl2pPr>
            <a:lvl3pPr>
              <a:buNone/>
              <a:defRPr sz="1800" b="0">
                <a:solidFill>
                  <a:srgbClr val="10263B"/>
                </a:solidFill>
              </a:defRPr>
            </a:lvl3pPr>
            <a:lvl4pPr>
              <a:buNone/>
              <a:defRPr sz="1800" b="0">
                <a:solidFill>
                  <a:srgbClr val="10263B"/>
                </a:solidFill>
              </a:defRPr>
            </a:lvl4pPr>
            <a:lvl5pPr>
              <a:buNone/>
              <a:defRPr sz="1800" b="0">
                <a:solidFill>
                  <a:srgbClr val="10263B"/>
                </a:solidFill>
              </a:defRPr>
            </a:lvl5pPr>
            <a:lvl6pPr>
              <a:buNone/>
              <a:defRPr sz="1800" b="0">
                <a:solidFill>
                  <a:srgbClr val="10263B"/>
                </a:solidFill>
              </a:defRPr>
            </a:lvl6pPr>
            <a:lvl7pPr>
              <a:buNone/>
              <a:defRPr sz="1800" b="0">
                <a:solidFill>
                  <a:srgbClr val="10263B"/>
                </a:solidFill>
              </a:defRPr>
            </a:lvl7pPr>
            <a:lvl8pPr>
              <a:buNone/>
              <a:defRPr sz="1800" b="0">
                <a:solidFill>
                  <a:srgbClr val="10263B"/>
                </a:solidFill>
              </a:defRPr>
            </a:lvl8pPr>
            <a:lvl9pPr>
              <a:buNone/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Our experiments either froze the backbone or fine-tuned its weights.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2AEE4D-B1D4-499B-8B0C-9EB3E848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721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4B6070"/>
                </a:solidFill>
              </a:defRPr>
            </a:defPPr>
            <a:lvl1pPr>
              <a:buNone/>
              <a:defRPr sz="1425" b="0">
                <a:solidFill>
                  <a:srgbClr val="4B6070"/>
                </a:solidFill>
              </a:defRPr>
            </a:lvl1pPr>
            <a:lvl2pPr>
              <a:buNone/>
              <a:defRPr sz="1425" b="0">
                <a:solidFill>
                  <a:srgbClr val="4B6070"/>
                </a:solidFill>
              </a:defRPr>
            </a:lvl2pPr>
            <a:lvl3pPr>
              <a:buNone/>
              <a:defRPr sz="1425" b="0">
                <a:solidFill>
                  <a:srgbClr val="4B6070"/>
                </a:solidFill>
              </a:defRPr>
            </a:lvl3pPr>
            <a:lvl4pPr>
              <a:buNone/>
              <a:defRPr sz="1425" b="0">
                <a:solidFill>
                  <a:srgbClr val="4B6070"/>
                </a:solidFill>
              </a:defRPr>
            </a:lvl4pPr>
            <a:lvl5pPr>
              <a:buNone/>
              <a:defRPr sz="1425" b="0">
                <a:solidFill>
                  <a:srgbClr val="4B6070"/>
                </a:solidFill>
              </a:defRPr>
            </a:lvl5pPr>
            <a:lvl6pPr>
              <a:buNone/>
              <a:defRPr sz="1425" b="0">
                <a:solidFill>
                  <a:srgbClr val="4B6070"/>
                </a:solidFill>
              </a:defRPr>
            </a:lvl6pPr>
            <a:lvl7pPr>
              <a:buNone/>
              <a:defRPr sz="1425" b="0">
                <a:solidFill>
                  <a:srgbClr val="4B6070"/>
                </a:solidFill>
              </a:defRPr>
            </a:lvl7pPr>
            <a:lvl8pPr>
              <a:buNone/>
              <a:defRPr sz="1425" b="0">
                <a:solidFill>
                  <a:srgbClr val="4B6070"/>
                </a:solidFill>
              </a:defRPr>
            </a:lvl8pPr>
            <a:lvl9pPr>
              <a:buNone/>
              <a:defRPr sz="1425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4B6070"/>
                </a:solidFill>
              </a:defRPr>
            </a:pPr>
            <a:r>
              <a:rPr sz="1425" b="0">
                <a:solidFill>
                  <a:srgbClr val="4B6070"/>
                </a:solidFill>
              </a:rPr>
              <a:t>Simplified architecture; block counts and training details omitted for clarity.</a:t>
            </a:r>
          </a:p>
        </p:txBody>
      </p:sp>
    </p:spTree>
    <p:extLst>
      <p:ext uri="{BB962C8B-B14F-4D97-AF65-F5344CB8AC3E}">
        <p14:creationId xmlns:p14="http://schemas.microsoft.com/office/powerpoint/2010/main" val="8835075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C9211-08C8-4F9D-8C95-4159FCFF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What the EfficientNet experiments showed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A6B82-6EC6-4CB7-8270-69DFE817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Original neural head: 61.6% internal test macro F1.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2576E-1B3F-4D27-A082-E10E6579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Improved multi-view linear head: 61.5% macro F1 on the official test.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4008F-89D7-4D9E-8E23-4F37CE09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SMOTE helped some heads but reduced XGBoost macro F1 in the original comparison.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091C3-F635-46A9-9FB3-B42A8855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Seven specialist classifiers did not beat the improved linear model overall.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B081C-25C9-4F1C-A41A-598B03BB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648618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8B861-05CF-4418-A139-8FE79B9E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PanDerm: why we tested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3C892-CBED-4B59-A796-EB6BE6D5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6048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PanDerm is pretrained for dermatology, while EfficientNet starts with general ImageNet features.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B4E7B-820F-4030-9E45-7DABC149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28875"/>
            <a:ext cx="6048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We froze the encoder and trained small classifiers on its image embeddings.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F5559-073D-4FB9-82E5-1E6463F3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76625"/>
            <a:ext cx="6048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Base produces 768 features per image; Large produces 1,024.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214C6-F5CB-475F-8626-B95C7A07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6048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A bare encoder cannot predict seven diagnoses without a trained readout.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4BF15-B3A4-4597-8C13-E92F26BE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/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6EE6C-8620-45E6-8708-B285970161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dd6015a8db40c2"/>
          <a:stretch xmlns:a="http://schemas.openxmlformats.org/drawingml/2006/main"/>
        </p:blipFill>
        <p:spPr>
          <a:xfrm xmlns:a="http://schemas.openxmlformats.org/drawingml/2006/main">
            <a:off x="7096125" y="2517488"/>
            <a:ext cx="4476750" cy="191827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551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0F1A6-B937-4062-8980-C666D236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Original EfficientNet comparison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B2559-BD54-4969-88DF-8A2A933D98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a59288299457f"/>
          <a:stretch xmlns:a="http://schemas.openxmlformats.org/drawingml/2006/main"/>
        </p:blipFill>
        <p:spPr>
          <a:xfrm xmlns:a="http://schemas.openxmlformats.org/drawingml/2006/main">
            <a:off x="1095375" y="1285875"/>
            <a:ext cx="9953625" cy="3619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762A3-3978-40CF-B1F4-20D7FB5F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63B"/>
                </a:solidFill>
              </a:defRPr>
            </a:defPPr>
            <a:lvl1pPr>
              <a:buNone/>
              <a:defRPr sz="1875" b="1">
                <a:solidFill>
                  <a:srgbClr val="10263B"/>
                </a:solidFill>
              </a:defRPr>
            </a:lvl1pPr>
            <a:lvl2pPr>
              <a:buNone/>
              <a:defRPr sz="1875" b="1">
                <a:solidFill>
                  <a:srgbClr val="10263B"/>
                </a:solidFill>
              </a:defRPr>
            </a:lvl2pPr>
            <a:lvl3pPr>
              <a:buNone/>
              <a:defRPr sz="1875" b="1">
                <a:solidFill>
                  <a:srgbClr val="10263B"/>
                </a:solidFill>
              </a:defRPr>
            </a:lvl3pPr>
            <a:lvl4pPr>
              <a:buNone/>
              <a:defRPr sz="1875" b="1">
                <a:solidFill>
                  <a:srgbClr val="10263B"/>
                </a:solidFill>
              </a:defRPr>
            </a:lvl4pPr>
            <a:lvl5pPr>
              <a:buNone/>
              <a:defRPr sz="1875" b="1">
                <a:solidFill>
                  <a:srgbClr val="10263B"/>
                </a:solidFill>
              </a:defRPr>
            </a:lvl5pPr>
            <a:lvl6pPr>
              <a:buNone/>
              <a:defRPr sz="1875" b="1">
                <a:solidFill>
                  <a:srgbClr val="10263B"/>
                </a:solidFill>
              </a:defRPr>
            </a:lvl6pPr>
            <a:lvl7pPr>
              <a:buNone/>
              <a:defRPr sz="1875" b="1">
                <a:solidFill>
                  <a:srgbClr val="10263B"/>
                </a:solidFill>
              </a:defRPr>
            </a:lvl7pPr>
            <a:lvl8pPr>
              <a:buNone/>
              <a:defRPr sz="1875" b="1">
                <a:solidFill>
                  <a:srgbClr val="10263B"/>
                </a:solidFill>
              </a:defRPr>
            </a:lvl8pPr>
            <a:lvl9pPr>
              <a:buNone/>
              <a:defRPr sz="18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0263B"/>
                </a:solidFill>
              </a:defRPr>
            </a:pPr>
            <a:r>
              <a:rPr sz="1875" b="1">
                <a:solidFill>
                  <a:srgbClr val="10263B"/>
                </a:solidFill>
              </a:rPr>
              <a:t>The MLP led the original comparison on internal test macro F1.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839E3-4F21-42BB-A22C-C0B4400D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673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4B6070"/>
                </a:solidFill>
              </a:defRPr>
            </a:defPPr>
            <a:lvl1pPr>
              <a:buNone/>
              <a:defRPr sz="1575" b="0">
                <a:solidFill>
                  <a:srgbClr val="4B6070"/>
                </a:solidFill>
              </a:defRPr>
            </a:lvl1pPr>
            <a:lvl2pPr>
              <a:buNone/>
              <a:defRPr sz="1575" b="0">
                <a:solidFill>
                  <a:srgbClr val="4B6070"/>
                </a:solidFill>
              </a:defRPr>
            </a:lvl2pPr>
            <a:lvl3pPr>
              <a:buNone/>
              <a:defRPr sz="1575" b="0">
                <a:solidFill>
                  <a:srgbClr val="4B6070"/>
                </a:solidFill>
              </a:defRPr>
            </a:lvl3pPr>
            <a:lvl4pPr>
              <a:buNone/>
              <a:defRPr sz="1575" b="0">
                <a:solidFill>
                  <a:srgbClr val="4B6070"/>
                </a:solidFill>
              </a:defRPr>
            </a:lvl4pPr>
            <a:lvl5pPr>
              <a:buNone/>
              <a:defRPr sz="1575" b="0">
                <a:solidFill>
                  <a:srgbClr val="4B6070"/>
                </a:solidFill>
              </a:defRPr>
            </a:lvl5pPr>
            <a:lvl6pPr>
              <a:buNone/>
              <a:defRPr sz="1575" b="0">
                <a:solidFill>
                  <a:srgbClr val="4B6070"/>
                </a:solidFill>
              </a:defRPr>
            </a:lvl6pPr>
            <a:lvl7pPr>
              <a:buNone/>
              <a:defRPr sz="1575" b="0">
                <a:solidFill>
                  <a:srgbClr val="4B6070"/>
                </a:solidFill>
              </a:defRPr>
            </a:lvl7pPr>
            <a:lvl8pPr>
              <a:buNone/>
              <a:defRPr sz="1575" b="0">
                <a:solidFill>
                  <a:srgbClr val="4B6070"/>
                </a:solidFill>
              </a:defRPr>
            </a:lvl8pPr>
            <a:lvl9pPr>
              <a:buNone/>
              <a:defRPr sz="1575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4B6070"/>
                </a:solidFill>
              </a:defRPr>
            </a:pPr>
            <a:r>
              <a:rPr sz="1575" b="0">
                <a:solidFill>
                  <a:srgbClr val="4B6070"/>
                </a:solidFill>
              </a:rPr>
              <a:t>All three heads used the same frozen features and lesion-separated split.</a:t>
            </a:r>
          </a:p>
        </p:txBody>
      </p:sp>
    </p:spTree>
    <p:extLst>
      <p:ext uri="{BB962C8B-B14F-4D97-AF65-F5344CB8AC3E}">
        <p14:creationId xmlns:p14="http://schemas.microsoft.com/office/powerpoint/2010/main" val="8571241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2B34E-A38D-47F6-BA4C-EC1B1A8C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Fine-tuned EfficientNet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57AD7-4E47-4030-A510-AAFB9656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333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0" b="1">
                <a:solidFill>
                  <a:srgbClr val="087F8C"/>
                </a:solidFill>
              </a:defRPr>
            </a:defPPr>
            <a:lvl1pPr>
              <a:buNone/>
              <a:defRPr sz="5250" b="1">
                <a:solidFill>
                  <a:srgbClr val="087F8C"/>
                </a:solidFill>
              </a:defRPr>
            </a:lvl1pPr>
            <a:lvl2pPr>
              <a:buNone/>
              <a:defRPr sz="5250" b="1">
                <a:solidFill>
                  <a:srgbClr val="087F8C"/>
                </a:solidFill>
              </a:defRPr>
            </a:lvl2pPr>
            <a:lvl3pPr>
              <a:buNone/>
              <a:defRPr sz="5250" b="1">
                <a:solidFill>
                  <a:srgbClr val="087F8C"/>
                </a:solidFill>
              </a:defRPr>
            </a:lvl3pPr>
            <a:lvl4pPr>
              <a:buNone/>
              <a:defRPr sz="5250" b="1">
                <a:solidFill>
                  <a:srgbClr val="087F8C"/>
                </a:solidFill>
              </a:defRPr>
            </a:lvl4pPr>
            <a:lvl5pPr>
              <a:buNone/>
              <a:defRPr sz="5250" b="1">
                <a:solidFill>
                  <a:srgbClr val="087F8C"/>
                </a:solidFill>
              </a:defRPr>
            </a:lvl5pPr>
            <a:lvl6pPr>
              <a:buNone/>
              <a:defRPr sz="5250" b="1">
                <a:solidFill>
                  <a:srgbClr val="087F8C"/>
                </a:solidFill>
              </a:defRPr>
            </a:lvl6pPr>
            <a:lvl7pPr>
              <a:buNone/>
              <a:defRPr sz="5250" b="1">
                <a:solidFill>
                  <a:srgbClr val="087F8C"/>
                </a:solidFill>
              </a:defRPr>
            </a:lvl7pPr>
            <a:lvl8pPr>
              <a:buNone/>
              <a:defRPr sz="5250" b="1">
                <a:solidFill>
                  <a:srgbClr val="087F8C"/>
                </a:solidFill>
              </a:defRPr>
            </a:lvl8pPr>
            <a:lvl9pPr>
              <a:buNone/>
              <a:defRPr sz="5250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buNone/>
              <a:defRPr sz="5250" b="1">
                <a:solidFill>
                  <a:srgbClr val="087F8C"/>
                </a:solidFill>
              </a:defRPr>
            </a:pPr>
            <a:r>
              <a:rPr sz="5250" b="1">
                <a:solidFill>
                  <a:srgbClr val="087F8C"/>
                </a:solidFill>
              </a:rPr>
              <a:t>71.8%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62685-E73F-4BC4-911D-FC923505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63B"/>
                </a:solidFill>
              </a:defRPr>
            </a:defPPr>
            <a:lvl1pPr>
              <a:buNone/>
              <a:defRPr sz="2025" b="1">
                <a:solidFill>
                  <a:srgbClr val="10263B"/>
                </a:solidFill>
              </a:defRPr>
            </a:lvl1pPr>
            <a:lvl2pPr>
              <a:buNone/>
              <a:defRPr sz="2025" b="1">
                <a:solidFill>
                  <a:srgbClr val="10263B"/>
                </a:solidFill>
              </a:defRPr>
            </a:lvl2pPr>
            <a:lvl3pPr>
              <a:buNone/>
              <a:defRPr sz="2025" b="1">
                <a:solidFill>
                  <a:srgbClr val="10263B"/>
                </a:solidFill>
              </a:defRPr>
            </a:lvl3pPr>
            <a:lvl4pPr>
              <a:buNone/>
              <a:defRPr sz="2025" b="1">
                <a:solidFill>
                  <a:srgbClr val="10263B"/>
                </a:solidFill>
              </a:defRPr>
            </a:lvl4pPr>
            <a:lvl5pPr>
              <a:buNone/>
              <a:defRPr sz="2025" b="1">
                <a:solidFill>
                  <a:srgbClr val="10263B"/>
                </a:solidFill>
              </a:defRPr>
            </a:lvl5pPr>
            <a:lvl6pPr>
              <a:buNone/>
              <a:defRPr sz="2025" b="1">
                <a:solidFill>
                  <a:srgbClr val="10263B"/>
                </a:solidFill>
              </a:defRPr>
            </a:lvl6pPr>
            <a:lvl7pPr>
              <a:buNone/>
              <a:defRPr sz="2025" b="1">
                <a:solidFill>
                  <a:srgbClr val="10263B"/>
                </a:solidFill>
              </a:defRPr>
            </a:lvl7pPr>
            <a:lvl8pPr>
              <a:buNone/>
              <a:defRPr sz="2025" b="1">
                <a:solidFill>
                  <a:srgbClr val="10263B"/>
                </a:solidFill>
              </a:defRPr>
            </a:lvl8pPr>
            <a:lvl9pPr>
              <a:buNone/>
              <a:defRPr sz="202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0263B"/>
                </a:solidFill>
              </a:defRPr>
            </a:pPr>
            <a:r>
              <a:rPr sz="2025" b="1">
                <a:solidFill>
                  <a:srgbClr val="10263B"/>
                </a:solidFill>
              </a:rPr>
              <a:t>macro F1 on the official 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E95AC-45C5-4EA1-8F55-3DC7E38A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838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0263B"/>
                </a:solidFill>
              </a:defRPr>
            </a:defPPr>
            <a:lvl1pPr>
              <a:buNone/>
              <a:defRPr sz="1950" b="0">
                <a:solidFill>
                  <a:srgbClr val="10263B"/>
                </a:solidFill>
              </a:defRPr>
            </a:lvl1pPr>
            <a:lvl2pPr>
              <a:buNone/>
              <a:defRPr sz="1950" b="0">
                <a:solidFill>
                  <a:srgbClr val="10263B"/>
                </a:solidFill>
              </a:defRPr>
            </a:lvl2pPr>
            <a:lvl3pPr>
              <a:buNone/>
              <a:defRPr sz="1950" b="0">
                <a:solidFill>
                  <a:srgbClr val="10263B"/>
                </a:solidFill>
              </a:defRPr>
            </a:lvl3pPr>
            <a:lvl4pPr>
              <a:buNone/>
              <a:defRPr sz="1950" b="0">
                <a:solidFill>
                  <a:srgbClr val="10263B"/>
                </a:solidFill>
              </a:defRPr>
            </a:lvl4pPr>
            <a:lvl5pPr>
              <a:buNone/>
              <a:defRPr sz="1950" b="0">
                <a:solidFill>
                  <a:srgbClr val="10263B"/>
                </a:solidFill>
              </a:defRPr>
            </a:lvl5pPr>
            <a:lvl6pPr>
              <a:buNone/>
              <a:defRPr sz="1950" b="0">
                <a:solidFill>
                  <a:srgbClr val="10263B"/>
                </a:solidFill>
              </a:defRPr>
            </a:lvl6pPr>
            <a:lvl7pPr>
              <a:buNone/>
              <a:defRPr sz="1950" b="0">
                <a:solidFill>
                  <a:srgbClr val="10263B"/>
                </a:solidFill>
              </a:defRPr>
            </a:lvl7pPr>
            <a:lvl8pPr>
              <a:buNone/>
              <a:defRPr sz="1950" b="0">
                <a:solidFill>
                  <a:srgbClr val="10263B"/>
                </a:solidFill>
              </a:defRPr>
            </a:lvl8pPr>
            <a:lvl9pPr>
              <a:buNone/>
              <a:defRPr sz="195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0263B"/>
                </a:solidFill>
              </a:defRPr>
            </a:pPr>
            <a:r>
              <a:rPr sz="1950" b="0">
                <a:solidFill>
                  <a:srgbClr val="10263B"/>
                </a:solidFill>
              </a:rPr>
              <a:t>81.6% accuracy on the same 1,512 images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1EE5A-0670-49E8-92E8-0C663891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76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buNone/>
              <a:defRPr sz="1800" b="0">
                <a:solidFill>
                  <a:srgbClr val="10263B"/>
                </a:solidFill>
              </a:defRPr>
            </a:lvl1pPr>
            <a:lvl2pPr>
              <a:buNone/>
              <a:defRPr sz="1800" b="0">
                <a:solidFill>
                  <a:srgbClr val="10263B"/>
                </a:solidFill>
              </a:defRPr>
            </a:lvl2pPr>
            <a:lvl3pPr>
              <a:buNone/>
              <a:defRPr sz="1800" b="0">
                <a:solidFill>
                  <a:srgbClr val="10263B"/>
                </a:solidFill>
              </a:defRPr>
            </a:lvl3pPr>
            <a:lvl4pPr>
              <a:buNone/>
              <a:defRPr sz="1800" b="0">
                <a:solidFill>
                  <a:srgbClr val="10263B"/>
                </a:solidFill>
              </a:defRPr>
            </a:lvl4pPr>
            <a:lvl5pPr>
              <a:buNone/>
              <a:defRPr sz="1800" b="0">
                <a:solidFill>
                  <a:srgbClr val="10263B"/>
                </a:solidFill>
              </a:defRPr>
            </a:lvl5pPr>
            <a:lvl6pPr>
              <a:buNone/>
              <a:defRPr sz="1800" b="0">
                <a:solidFill>
                  <a:srgbClr val="10263B"/>
                </a:solidFill>
              </a:defRPr>
            </a:lvl6pPr>
            <a:lvl7pPr>
              <a:buNone/>
              <a:defRPr sz="1800" b="0">
                <a:solidFill>
                  <a:srgbClr val="10263B"/>
                </a:solidFill>
              </a:defRPr>
            </a:lvl7pPr>
            <a:lvl8pPr>
              <a:buNone/>
              <a:defRPr sz="1800" b="0">
                <a:solidFill>
                  <a:srgbClr val="10263B"/>
                </a:solidFill>
              </a:defRPr>
            </a:lvl8pPr>
            <a:lvl9pPr>
              <a:buNone/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The model used the original lesion-separated training split.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8C83B-3CF1-4610-8980-103D3122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B6070"/>
                </a:solidFill>
              </a:defRPr>
            </a:defPPr>
            <a:lvl1pPr>
              <a:buNone/>
              <a:defRPr sz="1650" b="0">
                <a:solidFill>
                  <a:srgbClr val="4B6070"/>
                </a:solidFill>
              </a:defRPr>
            </a:lvl1pPr>
            <a:lvl2pPr>
              <a:buNone/>
              <a:defRPr sz="1650" b="0">
                <a:solidFill>
                  <a:srgbClr val="4B6070"/>
                </a:solidFill>
              </a:defRPr>
            </a:lvl2pPr>
            <a:lvl3pPr>
              <a:buNone/>
              <a:defRPr sz="1650" b="0">
                <a:solidFill>
                  <a:srgbClr val="4B6070"/>
                </a:solidFill>
              </a:defRPr>
            </a:lvl3pPr>
            <a:lvl4pPr>
              <a:buNone/>
              <a:defRPr sz="1650" b="0">
                <a:solidFill>
                  <a:srgbClr val="4B6070"/>
                </a:solidFill>
              </a:defRPr>
            </a:lvl4pPr>
            <a:lvl5pPr>
              <a:buNone/>
              <a:defRPr sz="1650" b="0">
                <a:solidFill>
                  <a:srgbClr val="4B6070"/>
                </a:solidFill>
              </a:defRPr>
            </a:lvl5pPr>
            <a:lvl6pPr>
              <a:buNone/>
              <a:defRPr sz="1650" b="0">
                <a:solidFill>
                  <a:srgbClr val="4B6070"/>
                </a:solidFill>
              </a:defRPr>
            </a:lvl6pPr>
            <a:lvl7pPr>
              <a:buNone/>
              <a:defRPr sz="1650" b="0">
                <a:solidFill>
                  <a:srgbClr val="4B6070"/>
                </a:solidFill>
              </a:defRPr>
            </a:lvl7pPr>
            <a:lvl8pPr>
              <a:buNone/>
              <a:defRPr sz="1650" b="0">
                <a:solidFill>
                  <a:srgbClr val="4B6070"/>
                </a:solidFill>
              </a:defRPr>
            </a:lvl8pPr>
            <a:lvl9pPr>
              <a:buNone/>
              <a:defRPr sz="16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4B6070"/>
                </a:solidFill>
              </a:defRPr>
            </a:pPr>
            <a:r>
              <a:rPr sz="1650" b="0">
                <a:solidFill>
                  <a:srgbClr val="4B6070"/>
                </a:solidFill>
              </a:rPr>
              <a:t>These test images had been examined in earlier experiments.</a:t>
            </a:r>
          </a:p>
        </p:txBody>
      </p:sp>
    </p:spTree>
    <p:extLst>
      <p:ext uri="{BB962C8B-B14F-4D97-AF65-F5344CB8AC3E}">
        <p14:creationId xmlns:p14="http://schemas.microsoft.com/office/powerpoint/2010/main" val="1789918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A3C6E-95BA-41C3-989F-5DEB9532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Reading a confusion matrix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A1075-BB39-4D89-85D3-527E99D77B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f2552167d34f2b"/>
          <a:stretch xmlns:a="http://schemas.openxmlformats.org/drawingml/2006/main"/>
        </p:blipFill>
        <p:spPr>
          <a:xfrm xmlns:a="http://schemas.openxmlformats.org/drawingml/2006/main">
            <a:off x="587375" y="1190625"/>
            <a:ext cx="5778500" cy="4953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C102E-5744-408A-9804-76404EB6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1450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63B"/>
                </a:solidFill>
              </a:defRPr>
            </a:defPPr>
            <a:lvl1pPr>
              <a:buNone/>
              <a:defRPr sz="1875" b="1">
                <a:solidFill>
                  <a:srgbClr val="10263B"/>
                </a:solidFill>
              </a:defRPr>
            </a:lvl1pPr>
            <a:lvl2pPr>
              <a:buNone/>
              <a:defRPr sz="1875" b="1">
                <a:solidFill>
                  <a:srgbClr val="10263B"/>
                </a:solidFill>
              </a:defRPr>
            </a:lvl2pPr>
            <a:lvl3pPr>
              <a:buNone/>
              <a:defRPr sz="1875" b="1">
                <a:solidFill>
                  <a:srgbClr val="10263B"/>
                </a:solidFill>
              </a:defRPr>
            </a:lvl3pPr>
            <a:lvl4pPr>
              <a:buNone/>
              <a:defRPr sz="1875" b="1">
                <a:solidFill>
                  <a:srgbClr val="10263B"/>
                </a:solidFill>
              </a:defRPr>
            </a:lvl4pPr>
            <a:lvl5pPr>
              <a:buNone/>
              <a:defRPr sz="1875" b="1">
                <a:solidFill>
                  <a:srgbClr val="10263B"/>
                </a:solidFill>
              </a:defRPr>
            </a:lvl5pPr>
            <a:lvl6pPr>
              <a:buNone/>
              <a:defRPr sz="1875" b="1">
                <a:solidFill>
                  <a:srgbClr val="10263B"/>
                </a:solidFill>
              </a:defRPr>
            </a:lvl6pPr>
            <a:lvl7pPr>
              <a:buNone/>
              <a:defRPr sz="1875" b="1">
                <a:solidFill>
                  <a:srgbClr val="10263B"/>
                </a:solidFill>
              </a:defRPr>
            </a:lvl7pPr>
            <a:lvl8pPr>
              <a:buNone/>
              <a:defRPr sz="1875" b="1">
                <a:solidFill>
                  <a:srgbClr val="10263B"/>
                </a:solidFill>
              </a:defRPr>
            </a:lvl8pPr>
            <a:lvl9pPr>
              <a:buNone/>
              <a:defRPr sz="18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0263B"/>
                </a:solidFill>
              </a:defRPr>
            </a:pPr>
            <a:r>
              <a:rPr sz="1875" b="1">
                <a:solidFill>
                  <a:srgbClr val="10263B"/>
                </a:solidFill>
              </a:rPr>
              <a:t>Rows show the actual class.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08A15-1EFB-49C4-9005-864ECAD9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336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63B"/>
                </a:solidFill>
              </a:defRPr>
            </a:defPPr>
            <a:lvl1pPr>
              <a:buNone/>
              <a:defRPr sz="1875" b="1">
                <a:solidFill>
                  <a:srgbClr val="10263B"/>
                </a:solidFill>
              </a:defRPr>
            </a:lvl1pPr>
            <a:lvl2pPr>
              <a:buNone/>
              <a:defRPr sz="1875" b="1">
                <a:solidFill>
                  <a:srgbClr val="10263B"/>
                </a:solidFill>
              </a:defRPr>
            </a:lvl2pPr>
            <a:lvl3pPr>
              <a:buNone/>
              <a:defRPr sz="1875" b="1">
                <a:solidFill>
                  <a:srgbClr val="10263B"/>
                </a:solidFill>
              </a:defRPr>
            </a:lvl3pPr>
            <a:lvl4pPr>
              <a:buNone/>
              <a:defRPr sz="1875" b="1">
                <a:solidFill>
                  <a:srgbClr val="10263B"/>
                </a:solidFill>
              </a:defRPr>
            </a:lvl4pPr>
            <a:lvl5pPr>
              <a:buNone/>
              <a:defRPr sz="1875" b="1">
                <a:solidFill>
                  <a:srgbClr val="10263B"/>
                </a:solidFill>
              </a:defRPr>
            </a:lvl5pPr>
            <a:lvl6pPr>
              <a:buNone/>
              <a:defRPr sz="1875" b="1">
                <a:solidFill>
                  <a:srgbClr val="10263B"/>
                </a:solidFill>
              </a:defRPr>
            </a:lvl6pPr>
            <a:lvl7pPr>
              <a:buNone/>
              <a:defRPr sz="1875" b="1">
                <a:solidFill>
                  <a:srgbClr val="10263B"/>
                </a:solidFill>
              </a:defRPr>
            </a:lvl7pPr>
            <a:lvl8pPr>
              <a:buNone/>
              <a:defRPr sz="1875" b="1">
                <a:solidFill>
                  <a:srgbClr val="10263B"/>
                </a:solidFill>
              </a:defRPr>
            </a:lvl8pPr>
            <a:lvl9pPr>
              <a:buNone/>
              <a:defRPr sz="18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0263B"/>
                </a:solidFill>
              </a:defRPr>
            </a:pPr>
            <a:r>
              <a:rPr sz="1875" b="1">
                <a:solidFill>
                  <a:srgbClr val="10263B"/>
                </a:solidFill>
              </a:rPr>
              <a:t>Columns show the predicted class.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F886A-0A20-41C5-8B4D-24BD46F3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432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0263B"/>
                </a:solidFill>
              </a:defRPr>
            </a:defPPr>
            <a:lvl1pPr>
              <a:buNone/>
              <a:defRPr sz="1725" b="0">
                <a:solidFill>
                  <a:srgbClr val="10263B"/>
                </a:solidFill>
              </a:defRPr>
            </a:lvl1pPr>
            <a:lvl2pPr>
              <a:buNone/>
              <a:defRPr sz="1725" b="0">
                <a:solidFill>
                  <a:srgbClr val="10263B"/>
                </a:solidFill>
              </a:defRPr>
            </a:lvl2pPr>
            <a:lvl3pPr>
              <a:buNone/>
              <a:defRPr sz="1725" b="0">
                <a:solidFill>
                  <a:srgbClr val="10263B"/>
                </a:solidFill>
              </a:defRPr>
            </a:lvl3pPr>
            <a:lvl4pPr>
              <a:buNone/>
              <a:defRPr sz="1725" b="0">
                <a:solidFill>
                  <a:srgbClr val="10263B"/>
                </a:solidFill>
              </a:defRPr>
            </a:lvl4pPr>
            <a:lvl5pPr>
              <a:buNone/>
              <a:defRPr sz="1725" b="0">
                <a:solidFill>
                  <a:srgbClr val="10263B"/>
                </a:solidFill>
              </a:defRPr>
            </a:lvl5pPr>
            <a:lvl6pPr>
              <a:buNone/>
              <a:defRPr sz="1725" b="0">
                <a:solidFill>
                  <a:srgbClr val="10263B"/>
                </a:solidFill>
              </a:defRPr>
            </a:lvl6pPr>
            <a:lvl7pPr>
              <a:buNone/>
              <a:defRPr sz="1725" b="0">
                <a:solidFill>
                  <a:srgbClr val="10263B"/>
                </a:solidFill>
              </a:defRPr>
            </a:lvl7pPr>
            <a:lvl8pPr>
              <a:buNone/>
              <a:defRPr sz="1725" b="0">
                <a:solidFill>
                  <a:srgbClr val="10263B"/>
                </a:solidFill>
              </a:defRPr>
            </a:lvl8pPr>
            <a:lvl9pPr>
              <a:buNone/>
              <a:defRPr sz="172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10263B"/>
                </a:solidFill>
              </a:defRPr>
            </a:pPr>
            <a:r>
              <a:rPr sz="1725" b="0">
                <a:solidFill>
                  <a:srgbClr val="10263B"/>
                </a:solidFill>
              </a:rPr>
              <a:t>Diagonal cells are correct predictions; off-diagonal cells show mistakes.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73C1F-64BF-4DFF-9804-323CA3D6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14875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4B6070"/>
                </a:solidFill>
              </a:defRPr>
            </a:defPPr>
            <a:lvl1pPr>
              <a:buNone/>
              <a:defRPr sz="1575" b="0">
                <a:solidFill>
                  <a:srgbClr val="4B6070"/>
                </a:solidFill>
              </a:defRPr>
            </a:lvl1pPr>
            <a:lvl2pPr>
              <a:buNone/>
              <a:defRPr sz="1575" b="0">
                <a:solidFill>
                  <a:srgbClr val="4B6070"/>
                </a:solidFill>
              </a:defRPr>
            </a:lvl2pPr>
            <a:lvl3pPr>
              <a:buNone/>
              <a:defRPr sz="1575" b="0">
                <a:solidFill>
                  <a:srgbClr val="4B6070"/>
                </a:solidFill>
              </a:defRPr>
            </a:lvl3pPr>
            <a:lvl4pPr>
              <a:buNone/>
              <a:defRPr sz="1575" b="0">
                <a:solidFill>
                  <a:srgbClr val="4B6070"/>
                </a:solidFill>
              </a:defRPr>
            </a:lvl4pPr>
            <a:lvl5pPr>
              <a:buNone/>
              <a:defRPr sz="1575" b="0">
                <a:solidFill>
                  <a:srgbClr val="4B6070"/>
                </a:solidFill>
              </a:defRPr>
            </a:lvl5pPr>
            <a:lvl6pPr>
              <a:buNone/>
              <a:defRPr sz="1575" b="0">
                <a:solidFill>
                  <a:srgbClr val="4B6070"/>
                </a:solidFill>
              </a:defRPr>
            </a:lvl6pPr>
            <a:lvl7pPr>
              <a:buNone/>
              <a:defRPr sz="1575" b="0">
                <a:solidFill>
                  <a:srgbClr val="4B6070"/>
                </a:solidFill>
              </a:defRPr>
            </a:lvl7pPr>
            <a:lvl8pPr>
              <a:buNone/>
              <a:defRPr sz="1575" b="0">
                <a:solidFill>
                  <a:srgbClr val="4B6070"/>
                </a:solidFill>
              </a:defRPr>
            </a:lvl8pPr>
            <a:lvl9pPr>
              <a:buNone/>
              <a:defRPr sz="1575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4B6070"/>
                </a:solidFill>
              </a:defRPr>
            </a:pPr>
            <a:r>
              <a:rPr sz="1575" b="0">
                <a:solidFill>
                  <a:srgbClr val="4B6070"/>
                </a:solidFill>
              </a:rPr>
              <a:t>Example: the improved linear model on the official ISIC test.</a:t>
            </a:r>
          </a:p>
        </p:txBody>
      </p:sp>
    </p:spTree>
    <p:extLst>
      <p:ext uri="{BB962C8B-B14F-4D97-AF65-F5344CB8AC3E}">
        <p14:creationId xmlns:p14="http://schemas.microsoft.com/office/powerpoint/2010/main" val="4105411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67556B-8880-4C0C-BC60-D7F13FC8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PanDerm architecture and classifier heads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4BFA7-FA24-4485-9193-F943EC50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Image patches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16 ×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6C1D8-3D5E-4BA6-889B-8AFFD762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383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36ED9-545F-482F-8883-ADA65FD4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66875"/>
            <a:ext cx="26193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Vision Transformer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PanDerm Base / Large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85E13-B80A-4ABE-9971-88B8953B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383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AEE44-E872-4123-BF1B-5A985E76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2047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Embedding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768 / 1,024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80D62F-952A-4A13-96E1-7C228F71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383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96BC39-E293-4CAE-AC65-F97FC5C3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666875"/>
            <a:ext cx="22383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Trained head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7 classes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19A4C-6563-41B0-B7BB-9F717EDB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29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63B"/>
                </a:solidFill>
              </a:defRPr>
            </a:defPPr>
            <a:lvl1pPr>
              <a:buNone/>
              <a:defRPr sz="1875" b="1">
                <a:solidFill>
                  <a:srgbClr val="10263B"/>
                </a:solidFill>
              </a:defRPr>
            </a:lvl1pPr>
            <a:lvl2pPr>
              <a:buNone/>
              <a:defRPr sz="1875" b="1">
                <a:solidFill>
                  <a:srgbClr val="10263B"/>
                </a:solidFill>
              </a:defRPr>
            </a:lvl2pPr>
            <a:lvl3pPr>
              <a:buNone/>
              <a:defRPr sz="1875" b="1">
                <a:solidFill>
                  <a:srgbClr val="10263B"/>
                </a:solidFill>
              </a:defRPr>
            </a:lvl3pPr>
            <a:lvl4pPr>
              <a:buNone/>
              <a:defRPr sz="1875" b="1">
                <a:solidFill>
                  <a:srgbClr val="10263B"/>
                </a:solidFill>
              </a:defRPr>
            </a:lvl4pPr>
            <a:lvl5pPr>
              <a:buNone/>
              <a:defRPr sz="1875" b="1">
                <a:solidFill>
                  <a:srgbClr val="10263B"/>
                </a:solidFill>
              </a:defRPr>
            </a:lvl5pPr>
            <a:lvl6pPr>
              <a:buNone/>
              <a:defRPr sz="1875" b="1">
                <a:solidFill>
                  <a:srgbClr val="10263B"/>
                </a:solidFill>
              </a:defRPr>
            </a:lvl6pPr>
            <a:lvl7pPr>
              <a:buNone/>
              <a:defRPr sz="1875" b="1">
                <a:solidFill>
                  <a:srgbClr val="10263B"/>
                </a:solidFill>
              </a:defRPr>
            </a:lvl7pPr>
            <a:lvl8pPr>
              <a:buNone/>
              <a:defRPr sz="1875" b="1">
                <a:solidFill>
                  <a:srgbClr val="10263B"/>
                </a:solidFill>
              </a:defRPr>
            </a:lvl8pPr>
            <a:lvl9pPr>
              <a:buNone/>
              <a:defRPr sz="18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0263B"/>
                </a:solidFill>
              </a:defRPr>
            </a:pPr>
            <a:r>
              <a:rPr sz="1875" b="1">
                <a:solidFill>
                  <a:srgbClr val="10263B"/>
                </a:solidFill>
              </a:rPr>
              <a:t>The transformer combines information across image patches.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B6E4E-5E67-4591-92C4-CB2C235F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buNone/>
              <a:defRPr sz="1800" b="0">
                <a:solidFill>
                  <a:srgbClr val="10263B"/>
                </a:solidFill>
              </a:defRPr>
            </a:lvl1pPr>
            <a:lvl2pPr>
              <a:buNone/>
              <a:defRPr sz="1800" b="0">
                <a:solidFill>
                  <a:srgbClr val="10263B"/>
                </a:solidFill>
              </a:defRPr>
            </a:lvl2pPr>
            <a:lvl3pPr>
              <a:buNone/>
              <a:defRPr sz="1800" b="0">
                <a:solidFill>
                  <a:srgbClr val="10263B"/>
                </a:solidFill>
              </a:defRPr>
            </a:lvl3pPr>
            <a:lvl4pPr>
              <a:buNone/>
              <a:defRPr sz="1800" b="0">
                <a:solidFill>
                  <a:srgbClr val="10263B"/>
                </a:solidFill>
              </a:defRPr>
            </a:lvl4pPr>
            <a:lvl5pPr>
              <a:buNone/>
              <a:defRPr sz="1800" b="0">
                <a:solidFill>
                  <a:srgbClr val="10263B"/>
                </a:solidFill>
              </a:defRPr>
            </a:lvl5pPr>
            <a:lvl6pPr>
              <a:buNone/>
              <a:defRPr sz="1800" b="0">
                <a:solidFill>
                  <a:srgbClr val="10263B"/>
                </a:solidFill>
              </a:defRPr>
            </a:lvl6pPr>
            <a:lvl7pPr>
              <a:buNone/>
              <a:defRPr sz="1800" b="0">
                <a:solidFill>
                  <a:srgbClr val="10263B"/>
                </a:solidFill>
              </a:defRPr>
            </a:lvl7pPr>
            <a:lvl8pPr>
              <a:buNone/>
              <a:defRPr sz="1800" b="0">
                <a:solidFill>
                  <a:srgbClr val="10263B"/>
                </a:solidFill>
              </a:defRPr>
            </a:lvl8pPr>
            <a:lvl9pPr>
              <a:buNone/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We kept the encoder frozen and compared linear, neural and XGBoost heads.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E746B-BAA0-4B2A-95E8-09CC3C63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053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buNone/>
              <a:defRPr sz="1800" b="0">
                <a:solidFill>
                  <a:srgbClr val="10263B"/>
                </a:solidFill>
              </a:defRPr>
            </a:lvl1pPr>
            <a:lvl2pPr>
              <a:buNone/>
              <a:defRPr sz="1800" b="0">
                <a:solidFill>
                  <a:srgbClr val="10263B"/>
                </a:solidFill>
              </a:defRPr>
            </a:lvl2pPr>
            <a:lvl3pPr>
              <a:buNone/>
              <a:defRPr sz="1800" b="0">
                <a:solidFill>
                  <a:srgbClr val="10263B"/>
                </a:solidFill>
              </a:defRPr>
            </a:lvl3pPr>
            <a:lvl4pPr>
              <a:buNone/>
              <a:defRPr sz="1800" b="0">
                <a:solidFill>
                  <a:srgbClr val="10263B"/>
                </a:solidFill>
              </a:defRPr>
            </a:lvl4pPr>
            <a:lvl5pPr>
              <a:buNone/>
              <a:defRPr sz="1800" b="0">
                <a:solidFill>
                  <a:srgbClr val="10263B"/>
                </a:solidFill>
              </a:defRPr>
            </a:lvl5pPr>
            <a:lvl6pPr>
              <a:buNone/>
              <a:defRPr sz="1800" b="0">
                <a:solidFill>
                  <a:srgbClr val="10263B"/>
                </a:solidFill>
              </a:defRPr>
            </a:lvl6pPr>
            <a:lvl7pPr>
              <a:buNone/>
              <a:defRPr sz="1800" b="0">
                <a:solidFill>
                  <a:srgbClr val="10263B"/>
                </a:solidFill>
              </a:defRPr>
            </a:lvl7pPr>
            <a:lvl8pPr>
              <a:buNone/>
              <a:defRPr sz="1800" b="0">
                <a:solidFill>
                  <a:srgbClr val="10263B"/>
                </a:solidFill>
              </a:defRPr>
            </a:lvl8pPr>
            <a:lvl9pPr>
              <a:buNone/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Large also used the authors’ linear-probe recipe as a reference.</a:t>
            </a:r>
          </a:p>
        </p:txBody>
      </p:sp>
    </p:spTree>
    <p:extLst>
      <p:ext uri="{BB962C8B-B14F-4D97-AF65-F5344CB8AC3E}">
        <p14:creationId xmlns:p14="http://schemas.microsoft.com/office/powerpoint/2010/main" val="14507825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90886-C85B-470F-BD70-D0B1B2C0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PanDerm Base and Large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5A67B-68F3-4705-B4BC-E8037A0F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6048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Base + neural head: 70.3% macro F1 on the 1,512-image official test.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BB027-24FC-4C98-9493-724C2AFE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28875"/>
            <a:ext cx="6048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Large + linear head: 73.8% macro F1 on the same official test.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9E188-25EC-4A52-BDDC-10D8325E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76625"/>
            <a:ext cx="6048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Large + author-style probe: 71.6% macro F1 on that official test.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A0E0D-8949-448A-A7EF-3A619E27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6048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Training splits and head selection differ, so this is not an encoder-only comparison.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53FF6-5136-4345-80CA-D2B7A3D8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/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4A53E-2962-4B0B-9764-3305BECDB8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7ef7b0fba42b4"/>
          <a:stretch xmlns:a="http://schemas.openxmlformats.org/drawingml/2006/main"/>
        </p:blipFill>
        <p:spPr>
          <a:xfrm xmlns:a="http://schemas.openxmlformats.org/drawingml/2006/main">
            <a:off x="7096125" y="2357438"/>
            <a:ext cx="4476750" cy="2238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052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32E49-2027-4A04-B021-C6B2EE10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PanDerm Large: model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16AEF-CC09-4704-A88F-A0CA5685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Author-style probe: 80.98% macro F1 on the released HAM test.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F6224-C6EC-40D6-A603-3E9F45CF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Smaller neural head (192–64): 81.73% macro F1 on the same test.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8168E-76E0-4924-925A-AED964D5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Linear head led the shown Large models on official-test macro F1: 73.80%.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AAFE0-C019-4570-AA80-8B8A838A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Wider or more complex heads did not consistently improve every test set.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9D8B4-67E5-49A0-A8F4-CA4C5686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6181751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F5430-EB38-4306-8CE0-73326CA0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Privacy-preserving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8E906-2AEB-41E1-B4E4-203D5174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6048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The federated prototype simulates separate clients that train locally.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D7066-A3D9-475C-BA7B-DC7F5F36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28875"/>
            <a:ext cx="6048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A server combines model updates into a shared model using FedAvg or FedProx.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AB98F-F728-46B2-A886-9D37B417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76625"/>
            <a:ext cx="6048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Optional differential privacy adds noise during local training.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D0045-6DF2-4FE9-98C4-C17DCA3A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6048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The feature-model results shown here are centralized and do not claim DP.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117A3-E93E-49A7-8625-785B3B31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/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89F841-7EC1-482A-8617-6DB033C302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b981d2379e41e4"/>
          <a:stretch xmlns:a="http://schemas.openxmlformats.org/drawingml/2006/main"/>
        </p:blipFill>
        <p:spPr>
          <a:xfrm xmlns:a="http://schemas.openxmlformats.org/drawingml/2006/main">
            <a:off x="7096125" y="2216870"/>
            <a:ext cx="4476750" cy="251951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48721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3C59C-3C79-4B83-B82D-54206788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Federated learning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1C433-D58E-458B-AA7D-45B9C749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21431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Client 1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local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839D1-B2C0-4CB3-8476-30E15196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21431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Client 2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local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C1E83-B370-4D34-8F54-058FE05F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14750"/>
            <a:ext cx="21431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Client 3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local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2EA86-3DEE-4F7E-B663-94B7B1A6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717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0A2CF-ACAE-4B5E-A19F-31006D0F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24125"/>
            <a:ext cx="285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Server aggregates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model updates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8E103-C135-4A71-802C-62D5E0ED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5B961E-04B1-477F-91B8-995BCA49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24125"/>
            <a:ext cx="26193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Shared global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7EED6-C957-44E3-859A-5F018475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63B"/>
                </a:solidFill>
              </a:defRPr>
            </a:defPPr>
            <a:lvl1pPr>
              <a:buNone/>
              <a:defRPr sz="1800" b="1">
                <a:solidFill>
                  <a:srgbClr val="10263B"/>
                </a:solidFill>
              </a:defRPr>
            </a:lvl1pPr>
            <a:lvl2pPr>
              <a:buNone/>
              <a:defRPr sz="1800" b="1">
                <a:solidFill>
                  <a:srgbClr val="10263B"/>
                </a:solidFill>
              </a:defRPr>
            </a:lvl2pPr>
            <a:lvl3pPr>
              <a:buNone/>
              <a:defRPr sz="1800" b="1">
                <a:solidFill>
                  <a:srgbClr val="10263B"/>
                </a:solidFill>
              </a:defRPr>
            </a:lvl3pPr>
            <a:lvl4pPr>
              <a:buNone/>
              <a:defRPr sz="1800" b="1">
                <a:solidFill>
                  <a:srgbClr val="10263B"/>
                </a:solidFill>
              </a:defRPr>
            </a:lvl4pPr>
            <a:lvl5pPr>
              <a:buNone/>
              <a:defRPr sz="1800" b="1">
                <a:solidFill>
                  <a:srgbClr val="10263B"/>
                </a:solidFill>
              </a:defRPr>
            </a:lvl5pPr>
            <a:lvl6pPr>
              <a:buNone/>
              <a:defRPr sz="1800" b="1">
                <a:solidFill>
                  <a:srgbClr val="10263B"/>
                </a:solidFill>
              </a:defRPr>
            </a:lvl6pPr>
            <a:lvl7pPr>
              <a:buNone/>
              <a:defRPr sz="1800" b="1">
                <a:solidFill>
                  <a:srgbClr val="10263B"/>
                </a:solidFill>
              </a:defRPr>
            </a:lvl7pPr>
            <a:lvl8pPr>
              <a:buNone/>
              <a:defRPr sz="1800" b="1">
                <a:solidFill>
                  <a:srgbClr val="10263B"/>
                </a:solidFill>
              </a:defRPr>
            </a:lvl8pPr>
            <a:lvl9pPr>
              <a:buNone/>
              <a:defRPr sz="180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0263B"/>
                </a:solidFill>
              </a:defRPr>
            </a:pPr>
            <a:r>
              <a:rPr sz="1800" b="1">
                <a:solidFill>
                  <a:srgbClr val="10263B"/>
                </a:solidFill>
              </a:rPr>
              <a:t>Clients train locally, then send model updates for aggregation.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369B07-E966-4B3B-8B0C-BA9FF4BF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72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0263B"/>
                </a:solidFill>
              </a:defRPr>
            </a:defPPr>
            <a:lvl1pPr>
              <a:buNone/>
              <a:defRPr sz="1650" b="0">
                <a:solidFill>
                  <a:srgbClr val="10263B"/>
                </a:solidFill>
              </a:defRPr>
            </a:lvl1pPr>
            <a:lvl2pPr>
              <a:buNone/>
              <a:defRPr sz="1650" b="0">
                <a:solidFill>
                  <a:srgbClr val="10263B"/>
                </a:solidFill>
              </a:defRPr>
            </a:lvl2pPr>
            <a:lvl3pPr>
              <a:buNone/>
              <a:defRPr sz="1650" b="0">
                <a:solidFill>
                  <a:srgbClr val="10263B"/>
                </a:solidFill>
              </a:defRPr>
            </a:lvl3pPr>
            <a:lvl4pPr>
              <a:buNone/>
              <a:defRPr sz="1650" b="0">
                <a:solidFill>
                  <a:srgbClr val="10263B"/>
                </a:solidFill>
              </a:defRPr>
            </a:lvl4pPr>
            <a:lvl5pPr>
              <a:buNone/>
              <a:defRPr sz="1650" b="0">
                <a:solidFill>
                  <a:srgbClr val="10263B"/>
                </a:solidFill>
              </a:defRPr>
            </a:lvl5pPr>
            <a:lvl6pPr>
              <a:buNone/>
              <a:defRPr sz="1650" b="0">
                <a:solidFill>
                  <a:srgbClr val="10263B"/>
                </a:solidFill>
              </a:defRPr>
            </a:lvl6pPr>
            <a:lvl7pPr>
              <a:buNone/>
              <a:defRPr sz="1650" b="0">
                <a:solidFill>
                  <a:srgbClr val="10263B"/>
                </a:solidFill>
              </a:defRPr>
            </a:lvl7pPr>
            <a:lvl8pPr>
              <a:buNone/>
              <a:defRPr sz="1650" b="0">
                <a:solidFill>
                  <a:srgbClr val="10263B"/>
                </a:solidFill>
              </a:defRPr>
            </a:lvl8pPr>
            <a:lvl9pPr>
              <a:buNone/>
              <a:defRPr sz="165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10263B"/>
                </a:solidFill>
              </a:defRPr>
            </a:pPr>
            <a:r>
              <a:rPr sz="1650" b="0">
                <a:solidFill>
                  <a:srgbClr val="10263B"/>
                </a:solidFill>
              </a:rPr>
              <a:t>Optional noise during local training provides differential privacy accounting.</a:t>
            </a:r>
          </a:p>
        </p:txBody>
      </p:sp>
    </p:spTree>
    <p:extLst>
      <p:ext uri="{BB962C8B-B14F-4D97-AF65-F5344CB8AC3E}">
        <p14:creationId xmlns:p14="http://schemas.microsoft.com/office/powerpoint/2010/main" val="178170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57AB5-1FA5-48CF-A2B7-12147C49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Research prototype interface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02E69-E2AA-4C69-A631-DA1682C545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7d9d01d5194281"/>
          <a:stretch xmlns:a="http://schemas.openxmlformats.org/drawingml/2006/main"/>
        </p:blipFill>
        <p:spPr>
          <a:xfrm xmlns:a="http://schemas.openxmlformats.org/drawingml/2006/main">
            <a:off x="943972" y="1190625"/>
            <a:ext cx="5255805" cy="4857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C61C8-02BD-42B6-9863-BC4BCBEE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19250"/>
            <a:ext cx="4333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63B"/>
                </a:solidFill>
              </a:defRPr>
            </a:defPPr>
            <a:lvl1pPr>
              <a:buNone/>
              <a:defRPr sz="1875" b="1">
                <a:solidFill>
                  <a:srgbClr val="10263B"/>
                </a:solidFill>
              </a:defRPr>
            </a:lvl1pPr>
            <a:lvl2pPr>
              <a:buNone/>
              <a:defRPr sz="1875" b="1">
                <a:solidFill>
                  <a:srgbClr val="10263B"/>
                </a:solidFill>
              </a:defRPr>
            </a:lvl2pPr>
            <a:lvl3pPr>
              <a:buNone/>
              <a:defRPr sz="1875" b="1">
                <a:solidFill>
                  <a:srgbClr val="10263B"/>
                </a:solidFill>
              </a:defRPr>
            </a:lvl3pPr>
            <a:lvl4pPr>
              <a:buNone/>
              <a:defRPr sz="1875" b="1">
                <a:solidFill>
                  <a:srgbClr val="10263B"/>
                </a:solidFill>
              </a:defRPr>
            </a:lvl4pPr>
            <a:lvl5pPr>
              <a:buNone/>
              <a:defRPr sz="1875" b="1">
                <a:solidFill>
                  <a:srgbClr val="10263B"/>
                </a:solidFill>
              </a:defRPr>
            </a:lvl5pPr>
            <a:lvl6pPr>
              <a:buNone/>
              <a:defRPr sz="1875" b="1">
                <a:solidFill>
                  <a:srgbClr val="10263B"/>
                </a:solidFill>
              </a:defRPr>
            </a:lvl6pPr>
            <a:lvl7pPr>
              <a:buNone/>
              <a:defRPr sz="1875" b="1">
                <a:solidFill>
                  <a:srgbClr val="10263B"/>
                </a:solidFill>
              </a:defRPr>
            </a:lvl7pPr>
            <a:lvl8pPr>
              <a:buNone/>
              <a:defRPr sz="1875" b="1">
                <a:solidFill>
                  <a:srgbClr val="10263B"/>
                </a:solidFill>
              </a:defRPr>
            </a:lvl8pPr>
            <a:lvl9pPr>
              <a:buNone/>
              <a:defRPr sz="18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0263B"/>
                </a:solidFill>
              </a:defRPr>
            </a:pPr>
            <a:r>
              <a:rPr sz="1875" b="1">
                <a:solidFill>
                  <a:srgbClr val="10263B"/>
                </a:solidFill>
              </a:rPr>
              <a:t>The local interface lets us inspect model comparisons and upload an image.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FD012-4F05-4BDC-860F-09A045C2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95625"/>
            <a:ext cx="4333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0263B"/>
                </a:solidFill>
              </a:defRPr>
            </a:defPPr>
            <a:lvl1pPr>
              <a:buNone/>
              <a:defRPr sz="1725" b="0">
                <a:solidFill>
                  <a:srgbClr val="10263B"/>
                </a:solidFill>
              </a:defRPr>
            </a:lvl1pPr>
            <a:lvl2pPr>
              <a:buNone/>
              <a:defRPr sz="1725" b="0">
                <a:solidFill>
                  <a:srgbClr val="10263B"/>
                </a:solidFill>
              </a:defRPr>
            </a:lvl2pPr>
            <a:lvl3pPr>
              <a:buNone/>
              <a:defRPr sz="1725" b="0">
                <a:solidFill>
                  <a:srgbClr val="10263B"/>
                </a:solidFill>
              </a:defRPr>
            </a:lvl3pPr>
            <a:lvl4pPr>
              <a:buNone/>
              <a:defRPr sz="1725" b="0">
                <a:solidFill>
                  <a:srgbClr val="10263B"/>
                </a:solidFill>
              </a:defRPr>
            </a:lvl4pPr>
            <a:lvl5pPr>
              <a:buNone/>
              <a:defRPr sz="1725" b="0">
                <a:solidFill>
                  <a:srgbClr val="10263B"/>
                </a:solidFill>
              </a:defRPr>
            </a:lvl5pPr>
            <a:lvl6pPr>
              <a:buNone/>
              <a:defRPr sz="1725" b="0">
                <a:solidFill>
                  <a:srgbClr val="10263B"/>
                </a:solidFill>
              </a:defRPr>
            </a:lvl6pPr>
            <a:lvl7pPr>
              <a:buNone/>
              <a:defRPr sz="1725" b="0">
                <a:solidFill>
                  <a:srgbClr val="10263B"/>
                </a:solidFill>
              </a:defRPr>
            </a:lvl7pPr>
            <a:lvl8pPr>
              <a:buNone/>
              <a:defRPr sz="1725" b="0">
                <a:solidFill>
                  <a:srgbClr val="10263B"/>
                </a:solidFill>
              </a:defRPr>
            </a:lvl8pPr>
            <a:lvl9pPr>
              <a:buNone/>
              <a:defRPr sz="172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10263B"/>
                </a:solidFill>
              </a:defRPr>
            </a:pPr>
            <a:r>
              <a:rPr sz="1725" b="0">
                <a:solidFill>
                  <a:srgbClr val="10263B"/>
                </a:solidFill>
              </a:rPr>
              <a:t>It supports the research workflow and displays the non-clinical warning.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2D142-78B7-4288-80E4-82639460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24375"/>
            <a:ext cx="4333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B6070"/>
                </a:solidFill>
              </a:defRPr>
            </a:defPPr>
            <a:lvl1pPr>
              <a:buNone/>
              <a:defRPr sz="1500" b="0">
                <a:solidFill>
                  <a:srgbClr val="4B6070"/>
                </a:solidFill>
              </a:defRPr>
            </a:lvl1pPr>
            <a:lvl2pPr>
              <a:buNone/>
              <a:defRPr sz="1500" b="0">
                <a:solidFill>
                  <a:srgbClr val="4B6070"/>
                </a:solidFill>
              </a:defRPr>
            </a:lvl2pPr>
            <a:lvl3pPr>
              <a:buNone/>
              <a:defRPr sz="1500" b="0">
                <a:solidFill>
                  <a:srgbClr val="4B6070"/>
                </a:solidFill>
              </a:defRPr>
            </a:lvl3pPr>
            <a:lvl4pPr>
              <a:buNone/>
              <a:defRPr sz="1500" b="0">
                <a:solidFill>
                  <a:srgbClr val="4B6070"/>
                </a:solidFill>
              </a:defRPr>
            </a:lvl4pPr>
            <a:lvl5pPr>
              <a:buNone/>
              <a:defRPr sz="1500" b="0">
                <a:solidFill>
                  <a:srgbClr val="4B6070"/>
                </a:solidFill>
              </a:defRPr>
            </a:lvl5pPr>
            <a:lvl6pPr>
              <a:buNone/>
              <a:defRPr sz="1500" b="0">
                <a:solidFill>
                  <a:srgbClr val="4B6070"/>
                </a:solidFill>
              </a:defRPr>
            </a:lvl6pPr>
            <a:lvl7pPr>
              <a:buNone/>
              <a:defRPr sz="1500" b="0">
                <a:solidFill>
                  <a:srgbClr val="4B6070"/>
                </a:solidFill>
              </a:defRPr>
            </a:lvl7pPr>
            <a:lvl8pPr>
              <a:buNone/>
              <a:defRPr sz="1500" b="0">
                <a:solidFill>
                  <a:srgbClr val="4B6070"/>
                </a:solidFill>
              </a:defRPr>
            </a:lvl8pPr>
            <a:lvl9pPr>
              <a:buNone/>
              <a:defRPr sz="150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4B6070"/>
                </a:solidFill>
              </a:defRPr>
            </a:pPr>
            <a:r>
              <a:rPr sz="1500" b="0">
                <a:solidFill>
                  <a:srgbClr val="4B6070"/>
                </a:solidFill>
              </a:rPr>
              <a:t>This screenshot shows an earlier EfficientNet interface.</a:t>
            </a:r>
          </a:p>
        </p:txBody>
      </p:sp>
    </p:spTree>
    <p:extLst>
      <p:ext uri="{BB962C8B-B14F-4D97-AF65-F5344CB8AC3E}">
        <p14:creationId xmlns:p14="http://schemas.microsoft.com/office/powerpoint/2010/main" val="86335313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438E5-C20C-4417-9901-7D55B9F0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What we learned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32F63-8C06-4406-8125-394F0AD3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Macro F1 matters because it gives rare lesion classes equal weight.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B93F5-6882-4327-8055-C227491E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PanDerm features improved the reported official-test results in our experiments.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7705C-DF2D-4DB9-940E-DF01D53B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Specialists and larger heads can overfit or improve one split while losing on another.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4CDF8-173A-46B5-A3D1-79D7CEA4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The authors’ published weighted F1 and our macro F1 measure different things.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EA549-CCD0-4E05-8FFA-0B0ADA35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40774306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4A4709-1D13-4BF0-8B6B-814A1897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Limitations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835CF-CB0A-42C3-A909-B41C98BF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6048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Repeated examination of test sets makes the comparisons exploratory.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C7073-6936-4F97-AAD8-83A23626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28875"/>
            <a:ext cx="6048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Later adaptation used former test images for training; those scores are fitting results.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4F53F-114F-43FF-BE74-5BFFAC26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76625"/>
            <a:ext cx="6048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Evaluate a locked model on a fresh, independent dataset with lesion identifiers.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DCF08-3D1B-4047-914E-EB9F64F4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6048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Test privacy and utility together before claiming a private clinical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D2B78-9C34-47FD-86B4-8334F6ED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/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BF57AD-D24B-4F3F-AA50-4AC306A830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d36f36a884838"/>
          <a:stretch xmlns:a="http://schemas.openxmlformats.org/drawingml/2006/main"/>
        </p:blipFill>
        <p:spPr>
          <a:xfrm xmlns:a="http://schemas.openxmlformats.org/drawingml/2006/main">
            <a:off x="7096125" y="2357438"/>
            <a:ext cx="4476750" cy="2238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68860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1FB3F-A977-4653-B358-2F71AA13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Project review: key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F702E-AEB0-4C42-A0E4-A14F2A44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We built an end-to-end research workflow for seven-class lesion classification.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DA6E6-574D-45C9-BBC4-6E857061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The project compared EfficientNet and PanDerm with several classifier families.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A30E5-5EC9-4683-90A6-B2A3189A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PanDerm Large with a linear head reached 73.8% macro F1 on the official test.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54229-6B17-4814-987A-D78B9D30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A fresh independent evaluation is needed before any clinical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39420-E650-4B23-914E-FDCD69D6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207367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2026-10-28T05:45:14.0380000Z</dcterms:created>
  <dcterms:modified xsi:type="dcterms:W3CDTF">2026-10-28T05:45:14.0380000Z</dcterms:modified>
</coreProperties>
</file>